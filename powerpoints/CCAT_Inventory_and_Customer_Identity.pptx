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things to cover today and they're connected. First, the inventory automation we agreed on back on the sixth is running. We put a hundred machines through it last week and I'll walk you through how it works. Second is something we ran into while working the mismatch list: we figured out how to tell whether a machine is actually on the wrong customer, using Cat's own data. That turned out to matter more than I expected, and it's what unblocks phase two. CUE: both of them land on the same scorecard, so that's where I'll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Quick word on why this matters upstairs. Trifecta is Cat's data quality score and it's strict — a customer only counts if every leg passes, including a hundred percent asset match on their priority assets. So one bad machine fails that whole customer. We're sitting around ninety-three percent on asset match and it's all maintained by hand today. Look at the CCID leg too, ninety-two point seven — that's the same CCID I'll be talking about in the second half. DNA is the other side of it: Cat flags our data problems and grades how fast we clear them, and a lot of those asset alerts come back to ownership records being wrong. CUE: the banner is the point — inventory adds grow the pool that gets matched, customer fixes repair the match rate itself. Same records, two different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Why inventory first, out of everything we could have started with? Because it's the one case with no judgment call in it. Customer's blank in NAXT, there's exactly one account it goes to, so there's nothing to get wrong about who owns it. That turns out to be the hard part everywhere else — you'll see that in a few slides. It's also where the manual work piles up. Lindsay said more than half her day is this same loop, over and over. And the backlog is real: around seven hundred machines Cat has never seen, some of them sitting there since last year. CUE: read the goal line out loud. In CCAT, subscribed, and reporting before anybody needs it — and one move left to do when it sells. That last part is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the whole thing end to end. NAXT data lands every morning. A scan picks out the machines that qualify, oldest first. Before we call Cat at all, we drop everything we already know about — machines we added before, machines already in CCAT, machines another dealer has locked up. Those cost us nothing to skip. Whatever's left gets one search each, and we save every answer whether we act on it or not. Then a dry run so I can eyeball the list before anything goes out. Then the adds themselves, each one under our inventory account with a full audit row behind it. If one fails, it's logged once and we never blindly retry it. Step seven is Lindsay doing the subscription. And then the sweep comes back around and confirms the machine landed where it should. CUE: the fifty-a-day cap is there because of step seven. The computer was never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With inventory running, we went after the wrong-customer pile. Right now that's about thirteen hundred machines where our customer number and Cat's don't match. Obvious move is to go fix all of them. Here's why that would've been wrong for hundreds of them — Amerikohl. Two completely different customer numbers, and Cat says they're the same company. Customer numbers are just accounts, and a customer picks up extras over the years — a second branch, an old number from a conversion, an account at another dealer. What actually identifies the customer is the CCID. And notice, that's the same CCID Trifecta grades us on. CUE: land the banner. The customer number is not the customer. Everything after this comes out of that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things made this work. First we made a call: multiple customer numbers under one customer are fine. Ours, several of ours, another dealer's — doesn't matter. The only test that counts is whether the CCID matches. Same CCID, nothing to fix. Different CCID, it's really wrong. And every so often Cat's own systems disagree with each other, usually after they've merged customers on their end — those we set aside for a person to look at. We don't let the automation guess. Second is where the answers come from, and this one still bugs me a little. Every response we'd ever saved from Cat already had the CCID sitting in it. We just weren't reading that field. So we got it back to day one, for free. On top of that, we keep every answer we look up, and Cat shares their customer master right into our Snowflake. Calling the API is the last thing we try now, not the first. CUE: the whole backlog cost about a hundred calls to clear. Asking the same question again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here's what the CCID test did to those thirteen hundred. Seven hundred twenty-three are genuinely on the wrong customer. That list is proven now, one machine at a time, off Cat's own data — it's ready to work whenever you tell me to go. Five hundred twenty were the Amerikohl thing, same customer with a different account number. Those are closed for good, and without the CCID check every one of them was a wrong reassignment waiting to happen. Eighty-four we still can't answer — mostly customers Cat's own master doesn't know about, plus a few where Cat contradicts itself. That eighty-four is the CCID gap everybody's been talking about, except now it's a number instead of a worry. Last row's worth a mention too: this pool more than quadrupled in a week as the sweep covered more of the fleet, and the test just scaled with it. CUE: the banner. Five hundred twenty we never have to touch, seven hundred twenty-three we can prove. And remember one bad machine fails its whole customer on Trifecta — so these are customer-level fixes, not machine-level.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where the CCID work pays off past just cleanup — it unblocks phase two. The detection half already runs. The minute a customer shows up on an inventory machine in NAXT, it lands on the dashboard. There are a hundred eighty sitting there right now, and every one of those is a manual move for Lindsay today. What stopped us on the sixth was John's question — does the buyer even have a CCID? We can answer that in Snowflake now, before we touch anything, off Cat's customer master. If the buyer checks out, the move is automatic and audited, and Cat expires the old inventory record on its own. If they don't, it goes on a list for the Customer Admin Tool instead of blowing up halfway through. CUE: until this is built and approved nothing changes — PDI email, Lindsay, about a day. This replaces that 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things to land on. One, the inventory runs keep going, fifty and fifty. At that pace the backlog's gone in about seven weeks, quicker if Lindsay ever gets help on the subscriptions. Two, and this is the real ask: let me start working the reassignment list. Seven hundred twenty-three machines, all proven, and I'd run it exactly like inventory — dry run first, slow pace, everything audited. Three, no decision needed here, just so you know: the CCID gap is a list of eighty-four now, not a mystery. That's Customer Admin Tool work. Four, give me the go-ahead to design phase two. Everything it needs already exists and a hundred eighty machines are waiting on it. CUE: end on the line at the bottom — the system sorts every machine, people decide only the ones that need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822960" y="1965960"/>
            <a:ext cx="10515600" cy="914400"/>
          </a:xfrm>
          <a:prstGeom prst="rect">
            <a:avLst/>
          </a:prstGeom>
          <a:noFill/>
          <a:ln/>
        </p:spPr>
        <p:txBody>
          <a:bodyPr wrap="square" lIns="0" tIns="0" rIns="0" bIns="0" rtlCol="0" anchor="ctr"/>
          <a:lstStyle/>
          <a:p>
            <a:pPr indent="0" marL="0">
              <a:buNone/>
            </a:pPr>
            <a:r>
              <a:rPr lang="en-US" sz="4200" b="1" dirty="0">
                <a:solidFill>
                  <a:srgbClr val="E8EEF5"/>
                </a:solidFill>
                <a:latin typeface="Calibri" pitchFamily="34" charset="0"/>
                <a:ea typeface="Calibri" pitchFamily="34" charset="-122"/>
                <a:cs typeface="Calibri" pitchFamily="34" charset="-120"/>
              </a:rPr>
              <a:t>Inventory First. Then the Right Customer.</a:t>
            </a:r>
            <a:endParaRPr lang="en-US" sz="4200" dirty="0"/>
          </a:p>
        </p:txBody>
      </p:sp>
      <p:sp>
        <p:nvSpPr>
          <p:cNvPr id="3" name="Text 1"/>
          <p:cNvSpPr/>
          <p:nvPr/>
        </p:nvSpPr>
        <p:spPr>
          <a:xfrm>
            <a:off x="822960" y="2926080"/>
            <a:ext cx="10058400" cy="548640"/>
          </a:xfrm>
          <a:prstGeom prst="rect">
            <a:avLst/>
          </a:prstGeom>
          <a:noFill/>
          <a:ln/>
        </p:spPr>
        <p:txBody>
          <a:bodyPr wrap="square" lIns="0" tIns="0" rIns="0" bIns="0" rtlCol="0" anchor="ctr"/>
          <a:lstStyle/>
          <a:p>
            <a:pPr indent="0" marL="0">
              <a:buNone/>
            </a:pPr>
            <a:r>
              <a:rPr lang="en-US" sz="2000" dirty="0">
                <a:solidFill>
                  <a:srgbClr val="9FB3C8"/>
                </a:solidFill>
                <a:latin typeface="Calibri" pitchFamily="34" charset="0"/>
                <a:ea typeface="Calibri" pitchFamily="34" charset="-122"/>
                <a:cs typeface="Calibri" pitchFamily="34" charset="-120"/>
              </a:rPr>
              <a:t>Phase one of CCAT automation is live — and the customer-identity work that makes phase two possible</a:t>
            </a:r>
            <a:endParaRPr lang="en-US" sz="2000" dirty="0"/>
          </a:p>
        </p:txBody>
      </p:sp>
      <p:sp>
        <p:nvSpPr>
          <p:cNvPr id="4" name="Shape 2"/>
          <p:cNvSpPr/>
          <p:nvPr/>
        </p:nvSpPr>
        <p:spPr>
          <a:xfrm>
            <a:off x="868680" y="3703320"/>
            <a:ext cx="182880" cy="182880"/>
          </a:xfrm>
          <a:prstGeom prst="ellipse">
            <a:avLst/>
          </a:prstGeom>
          <a:solidFill>
            <a:srgbClr val="34C759"/>
          </a:solidFill>
          <a:ln/>
        </p:spPr>
      </p:sp>
      <p:sp>
        <p:nvSpPr>
          <p:cNvPr id="5" name="Shape 3"/>
          <p:cNvSpPr/>
          <p:nvPr/>
        </p:nvSpPr>
        <p:spPr>
          <a:xfrm>
            <a:off x="1179576" y="3703320"/>
            <a:ext cx="182880" cy="182880"/>
          </a:xfrm>
          <a:prstGeom prst="ellipse">
            <a:avLst/>
          </a:prstGeom>
          <a:solidFill>
            <a:srgbClr val="4DA3FF"/>
          </a:solidFill>
          <a:ln/>
        </p:spPr>
      </p:sp>
      <p:sp>
        <p:nvSpPr>
          <p:cNvPr id="6" name="Shape 4"/>
          <p:cNvSpPr/>
          <p:nvPr/>
        </p:nvSpPr>
        <p:spPr>
          <a:xfrm>
            <a:off x="1490472" y="3703320"/>
            <a:ext cx="182880" cy="182880"/>
          </a:xfrm>
          <a:prstGeom prst="ellipse">
            <a:avLst/>
          </a:prstGeom>
          <a:solidFill>
            <a:srgbClr val="2EC4B6"/>
          </a:solidFill>
          <a:ln/>
        </p:spPr>
      </p:sp>
      <p:sp>
        <p:nvSpPr>
          <p:cNvPr id="7" name="Shape 5"/>
          <p:cNvSpPr/>
          <p:nvPr/>
        </p:nvSpPr>
        <p:spPr>
          <a:xfrm>
            <a:off x="1801368" y="3703320"/>
            <a:ext cx="182880" cy="182880"/>
          </a:xfrm>
          <a:prstGeom prst="ellipse">
            <a:avLst/>
          </a:prstGeom>
          <a:solidFill>
            <a:srgbClr val="FF9F1C"/>
          </a:solidFill>
          <a:ln/>
        </p:spPr>
      </p:sp>
      <p:sp>
        <p:nvSpPr>
          <p:cNvPr id="8" name="Text 6"/>
          <p:cNvSpPr/>
          <p:nvPr/>
        </p:nvSpPr>
        <p:spPr>
          <a:xfrm>
            <a:off x="822960" y="6126480"/>
            <a:ext cx="731520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Cleveland Brothers  ·  Data &amp; Analytics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scoreboard this feeds: Trifecta and DNA</a:t>
            </a:r>
            <a:endParaRPr lang="en-US" sz="3200" dirty="0"/>
          </a:p>
        </p:txBody>
      </p:sp>
      <p:sp>
        <p:nvSpPr>
          <p:cNvPr id="4" name="Shape 2"/>
          <p:cNvSpPr/>
          <p:nvPr/>
        </p:nvSpPr>
        <p:spPr>
          <a:xfrm>
            <a:off x="548640" y="1554480"/>
            <a:ext cx="5394960" cy="3794760"/>
          </a:xfrm>
          <a:prstGeom prst="roundRect">
            <a:avLst>
              <a:gd name="adj" fmla="val 1928"/>
            </a:avLst>
          </a:prstGeom>
          <a:solidFill>
            <a:srgbClr val="16283F"/>
          </a:solidFill>
          <a:ln w="12700">
            <a:solidFill>
              <a:srgbClr val="223650"/>
            </a:solidFill>
            <a:prstDash val="solid"/>
          </a:ln>
        </p:spPr>
      </p:sp>
      <p:sp>
        <p:nvSpPr>
          <p:cNvPr id="5" name="Text 3"/>
          <p:cNvSpPr/>
          <p:nvPr/>
        </p:nvSpPr>
        <p:spPr>
          <a:xfrm>
            <a:off x="822960" y="1783080"/>
            <a:ext cx="4754880" cy="365760"/>
          </a:xfrm>
          <a:prstGeom prst="rect">
            <a:avLst/>
          </a:prstGeom>
          <a:noFill/>
          <a:ln/>
        </p:spPr>
        <p:txBody>
          <a:bodyPr wrap="square" lIns="0" tIns="0" rIns="0" bIns="0" rtlCol="0" anchor="ctr"/>
          <a:lstStyle/>
          <a:p>
            <a:pPr indent="0" marL="0">
              <a:buNone/>
            </a:pPr>
            <a:r>
              <a:rPr lang="en-US" sz="1800" b="1" dirty="0">
                <a:solidFill>
                  <a:srgbClr val="FFC72C"/>
                </a:solidFill>
                <a:latin typeface="Calibri" pitchFamily="34" charset="0"/>
                <a:ea typeface="Calibri" pitchFamily="34" charset="-122"/>
                <a:cs typeface="Calibri" pitchFamily="34" charset="-120"/>
              </a:rPr>
              <a:t>TRIFECTA</a:t>
            </a:r>
            <a:endParaRPr lang="en-US" sz="1800" dirty="0"/>
          </a:p>
        </p:txBody>
      </p:sp>
      <p:sp>
        <p:nvSpPr>
          <p:cNvPr id="6" name="Text 4"/>
          <p:cNvSpPr/>
          <p:nvPr/>
        </p:nvSpPr>
        <p:spPr>
          <a:xfrm>
            <a:off x="822960" y="2212848"/>
            <a:ext cx="4846320" cy="105156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Caterpillar's data-quality score. A customer only counts when ALL legs pass: CCID, company data, a valid contact, and 100% asset match on priority assets.</a:t>
            </a:r>
            <a:endParaRPr lang="en-US" sz="1350" dirty="0"/>
          </a:p>
        </p:txBody>
      </p:sp>
      <p:sp>
        <p:nvSpPr>
          <p:cNvPr id="7" name="Text 5"/>
          <p:cNvSpPr/>
          <p:nvPr/>
        </p:nvSpPr>
        <p:spPr>
          <a:xfrm>
            <a:off x="822960" y="3383280"/>
            <a:ext cx="2194560" cy="640080"/>
          </a:xfrm>
          <a:prstGeom prst="rect">
            <a:avLst/>
          </a:prstGeom>
          <a:noFill/>
          <a:ln/>
        </p:spPr>
        <p:txBody>
          <a:bodyPr wrap="square" lIns="0" tIns="0" rIns="0" bIns="0" rtlCol="0" anchor="ctr"/>
          <a:lstStyle/>
          <a:p>
            <a:pPr indent="0" marL="0">
              <a:buNone/>
            </a:pPr>
            <a:r>
              <a:rPr lang="en-US" sz="4000" b="1" dirty="0">
                <a:solidFill>
                  <a:srgbClr val="FF9F1C"/>
                </a:solidFill>
                <a:latin typeface="Calibri" pitchFamily="34" charset="0"/>
                <a:ea typeface="Calibri" pitchFamily="34" charset="-122"/>
                <a:cs typeface="Calibri" pitchFamily="34" charset="-120"/>
              </a:rPr>
              <a:t>92.8%</a:t>
            </a:r>
            <a:endParaRPr lang="en-US" sz="4000" dirty="0"/>
          </a:p>
        </p:txBody>
      </p:sp>
      <p:sp>
        <p:nvSpPr>
          <p:cNvPr id="8" name="Text 6"/>
          <p:cNvSpPr/>
          <p:nvPr/>
        </p:nvSpPr>
        <p:spPr>
          <a:xfrm>
            <a:off x="3017520" y="3401568"/>
            <a:ext cx="2697480" cy="1280160"/>
          </a:xfrm>
          <a:prstGeom prst="rect">
            <a:avLst/>
          </a:prstGeom>
          <a:noFill/>
          <a:ln/>
        </p:spPr>
        <p:txBody>
          <a:bodyPr wrap="square" lIns="0" tIns="0" rIns="0" bIns="0" rtlCol="0" anchor="ctr"/>
          <a:lstStyle/>
          <a:p>
            <a:pPr indent="0" marL="0">
              <a:lnSpc>
                <a:spcPts val="1500"/>
              </a:lnSpc>
              <a:buNone/>
            </a:pPr>
            <a:r>
              <a:rPr lang="en-US" sz="1200" dirty="0">
                <a:solidFill>
                  <a:srgbClr val="9FB3C8"/>
                </a:solidFill>
                <a:latin typeface="Calibri" pitchFamily="34" charset="0"/>
                <a:ea typeface="Calibri" pitchFamily="34" charset="-122"/>
                <a:cs typeface="Calibri" pitchFamily="34" charset="-120"/>
              </a:rPr>
              <a:t>asset match (2025 baseline) — maintained by hand today. The CCID leg sits at 92.7% — the same customer identity this project now works with directly.</a:t>
            </a:r>
            <a:endParaRPr lang="en-US" sz="1200" dirty="0"/>
          </a:p>
        </p:txBody>
      </p:sp>
      <p:sp>
        <p:nvSpPr>
          <p:cNvPr id="9" name="Text 7"/>
          <p:cNvSpPr/>
          <p:nvPr/>
        </p:nvSpPr>
        <p:spPr>
          <a:xfrm>
            <a:off x="822960" y="4800600"/>
            <a:ext cx="4846320" cy="365760"/>
          </a:xfrm>
          <a:prstGeom prst="rect">
            <a:avLst/>
          </a:prstGeom>
          <a:noFill/>
          <a:ln/>
        </p:spPr>
        <p:txBody>
          <a:bodyPr wrap="square" lIns="0" tIns="0" rIns="0" bIns="0" rtlCol="0" anchor="ctr"/>
          <a:lstStyle/>
          <a:p>
            <a:pPr indent="0" marL="0">
              <a:buNone/>
            </a:pPr>
            <a:r>
              <a:rPr lang="en-US" sz="1350" b="1" dirty="0">
                <a:solidFill>
                  <a:srgbClr val="E8EEF5"/>
                </a:solidFill>
                <a:latin typeface="Calibri" pitchFamily="34" charset="0"/>
                <a:ea typeface="Calibri" pitchFamily="34" charset="-122"/>
                <a:cs typeface="Calibri" pitchFamily="34" charset="-120"/>
              </a:rPr>
              <a:t>Worth 15% of the dealer excellence scorecard</a:t>
            </a:r>
            <a:endParaRPr lang="en-US" sz="1350" dirty="0"/>
          </a:p>
        </p:txBody>
      </p:sp>
      <p:sp>
        <p:nvSpPr>
          <p:cNvPr id="10" name="Shape 8"/>
          <p:cNvSpPr/>
          <p:nvPr/>
        </p:nvSpPr>
        <p:spPr>
          <a:xfrm>
            <a:off x="6217920" y="1554480"/>
            <a:ext cx="5394960" cy="3794760"/>
          </a:xfrm>
          <a:prstGeom prst="roundRect">
            <a:avLst>
              <a:gd name="adj" fmla="val 1928"/>
            </a:avLst>
          </a:prstGeom>
          <a:solidFill>
            <a:srgbClr val="16283F"/>
          </a:solidFill>
          <a:ln w="12700">
            <a:solidFill>
              <a:srgbClr val="223650"/>
            </a:solidFill>
            <a:prstDash val="solid"/>
          </a:ln>
        </p:spPr>
      </p:sp>
      <p:sp>
        <p:nvSpPr>
          <p:cNvPr id="11" name="Text 9"/>
          <p:cNvSpPr/>
          <p:nvPr/>
        </p:nvSpPr>
        <p:spPr>
          <a:xfrm>
            <a:off x="6492240" y="1783080"/>
            <a:ext cx="4754880" cy="365760"/>
          </a:xfrm>
          <a:prstGeom prst="rect">
            <a:avLst/>
          </a:prstGeom>
          <a:noFill/>
          <a:ln/>
        </p:spPr>
        <p:txBody>
          <a:bodyPr wrap="square" lIns="0" tIns="0" rIns="0" bIns="0" rtlCol="0" anchor="ctr"/>
          <a:lstStyle/>
          <a:p>
            <a:pPr indent="0" marL="0">
              <a:buNone/>
            </a:pPr>
            <a:r>
              <a:rPr lang="en-US" sz="1800" b="1" dirty="0">
                <a:solidFill>
                  <a:srgbClr val="2EC4B6"/>
                </a:solidFill>
                <a:latin typeface="Calibri" pitchFamily="34" charset="0"/>
                <a:ea typeface="Calibri" pitchFamily="34" charset="-122"/>
                <a:cs typeface="Calibri" pitchFamily="34" charset="-120"/>
              </a:rPr>
              <a:t>DNA — DATA NOTIFICATION ALERTS</a:t>
            </a:r>
            <a:endParaRPr lang="en-US" sz="1800" dirty="0"/>
          </a:p>
        </p:txBody>
      </p:sp>
      <p:sp>
        <p:nvSpPr>
          <p:cNvPr id="12" name="Text 10"/>
          <p:cNvSpPr/>
          <p:nvPr/>
        </p:nvSpPr>
        <p:spPr>
          <a:xfrm>
            <a:off x="6492240" y="2212848"/>
            <a:ext cx="4846320" cy="118872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Caterpillar flags our prioritized data issues and grades how well we resolve them. Many asset alerts trace to the same root cause: ownership records that do not match reality.</a:t>
            </a:r>
            <a:endParaRPr lang="en-US" sz="1350" dirty="0"/>
          </a:p>
        </p:txBody>
      </p:sp>
      <p:sp>
        <p:nvSpPr>
          <p:cNvPr id="13" name="Text 11"/>
          <p:cNvSpPr/>
          <p:nvPr/>
        </p:nvSpPr>
        <p:spPr>
          <a:xfrm>
            <a:off x="6492240" y="3520440"/>
            <a:ext cx="1828800" cy="640080"/>
          </a:xfrm>
          <a:prstGeom prst="rect">
            <a:avLst/>
          </a:prstGeom>
          <a:noFill/>
          <a:ln/>
        </p:spPr>
        <p:txBody>
          <a:bodyPr wrap="square" lIns="0" tIns="0" rIns="0" bIns="0" rtlCol="0" anchor="ctr"/>
          <a:lstStyle/>
          <a:p>
            <a:pPr indent="0" marL="0">
              <a:buNone/>
            </a:pPr>
            <a:r>
              <a:rPr lang="en-US" sz="4000" b="1" dirty="0">
                <a:solidFill>
                  <a:srgbClr val="2EC4B6"/>
                </a:solidFill>
                <a:latin typeface="Calibri" pitchFamily="34" charset="0"/>
                <a:ea typeface="Calibri" pitchFamily="34" charset="-122"/>
                <a:cs typeface="Calibri" pitchFamily="34" charset="-120"/>
              </a:rPr>
              <a:t>10%</a:t>
            </a:r>
            <a:endParaRPr lang="en-US" sz="4000" dirty="0"/>
          </a:p>
        </p:txBody>
      </p:sp>
      <p:sp>
        <p:nvSpPr>
          <p:cNvPr id="14" name="Text 12"/>
          <p:cNvSpPr/>
          <p:nvPr/>
        </p:nvSpPr>
        <p:spPr>
          <a:xfrm>
            <a:off x="8412480" y="3538728"/>
            <a:ext cx="2788920" cy="1097280"/>
          </a:xfrm>
          <a:prstGeom prst="rect">
            <a:avLst/>
          </a:prstGeom>
          <a:noFill/>
          <a:ln/>
        </p:spPr>
        <p:txBody>
          <a:bodyPr wrap="square" lIns="0" tIns="0" rIns="0" bIns="0" rtlCol="0" anchor="ctr"/>
          <a:lstStyle/>
          <a:p>
            <a:pPr indent="0" marL="0">
              <a:lnSpc>
                <a:spcPts val="1600"/>
              </a:lnSpc>
              <a:buNone/>
            </a:pPr>
            <a:r>
              <a:rPr lang="en-US" sz="1250" dirty="0">
                <a:solidFill>
                  <a:srgbClr val="9FB3C8"/>
                </a:solidFill>
                <a:latin typeface="Calibri" pitchFamily="34" charset="0"/>
                <a:ea typeface="Calibri" pitchFamily="34" charset="-122"/>
                <a:cs typeface="Calibri" pitchFamily="34" charset="-120"/>
              </a:rPr>
              <a:t>of the scorecard rides on DNA resolution — prevention at the source beats resolving alerts after they fire</a:t>
            </a:r>
            <a:endParaRPr lang="en-US" sz="1250" dirty="0"/>
          </a:p>
        </p:txBody>
      </p:sp>
      <p:sp>
        <p:nvSpPr>
          <p:cNvPr id="15" name="Shape 13"/>
          <p:cNvSpPr/>
          <p:nvPr/>
        </p:nvSpPr>
        <p:spPr>
          <a:xfrm>
            <a:off x="548640" y="5577840"/>
            <a:ext cx="11064240" cy="777240"/>
          </a:xfrm>
          <a:prstGeom prst="roundRect">
            <a:avLst>
              <a:gd name="adj" fmla="val 9412"/>
            </a:avLst>
          </a:prstGeom>
          <a:solidFill>
            <a:srgbClr val="12314A"/>
          </a:solidFill>
          <a:ln w="12700">
            <a:solidFill>
              <a:srgbClr val="223650"/>
            </a:solidFill>
            <a:prstDash val="solid"/>
          </a:ln>
        </p:spPr>
      </p:sp>
      <p:sp>
        <p:nvSpPr>
          <p:cNvPr id="16" name="Text 14"/>
          <p:cNvSpPr/>
          <p:nvPr/>
        </p:nvSpPr>
        <p:spPr>
          <a:xfrm>
            <a:off x="822960" y="5742432"/>
            <a:ext cx="10561320" cy="502920"/>
          </a:xfrm>
          <a:prstGeom prst="rect">
            <a:avLst/>
          </a:prstGeom>
          <a:noFill/>
          <a:ln/>
        </p:spPr>
        <p:txBody>
          <a:bodyPr wrap="square" lIns="0" tIns="0" rIns="0" bIns="0" rtlCol="0" anchor="ctr"/>
          <a:lstStyle/>
          <a:p>
            <a:pPr indent="0" marL="0">
              <a:buNone/>
            </a:pPr>
            <a:r>
              <a:rPr lang="en-US" sz="1450" b="1" dirty="0">
                <a:solidFill>
                  <a:srgbClr val="34C759"/>
                </a:solidFill>
                <a:latin typeface="Calibri" pitchFamily="34" charset="0"/>
                <a:ea typeface="Calibri" pitchFamily="34" charset="-122"/>
                <a:cs typeface="Calibri" pitchFamily="34" charset="-120"/>
              </a:rPr>
              <a:t>Inventory adds grow the matched population.  </a:t>
            </a:r>
            <a:pPr indent="0" marL="0">
              <a:buNone/>
            </a:pPr>
            <a:r>
              <a:rPr lang="en-US" sz="1450" b="1" dirty="0">
                <a:solidFill>
                  <a:srgbClr val="FF9F1C"/>
                </a:solidFill>
                <a:latin typeface="Calibri" pitchFamily="34" charset="0"/>
                <a:ea typeface="Calibri" pitchFamily="34" charset="-122"/>
                <a:cs typeface="Calibri" pitchFamily="34" charset="-120"/>
              </a:rPr>
              <a:t>Customer fixes repair the asset-match leg.  </a:t>
            </a:r>
            <a:pPr indent="0" marL="0">
              <a:buNone/>
            </a:pPr>
            <a:r>
              <a:rPr lang="en-US" sz="1450" dirty="0">
                <a:solidFill>
                  <a:srgbClr val="E8EEF5"/>
                </a:solidFill>
                <a:latin typeface="Calibri" pitchFamily="34" charset="0"/>
                <a:ea typeface="Calibri" pitchFamily="34" charset="-122"/>
                <a:cs typeface="Calibri" pitchFamily="34" charset="-120"/>
              </a:rPr>
              <a:t>Both stand on CCAT ownership records — exactly what this work manages.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PHASE ONE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Why inventory came first</a:t>
            </a:r>
            <a:endParaRPr lang="en-US" sz="3200" dirty="0"/>
          </a:p>
        </p:txBody>
      </p:sp>
      <p:sp>
        <p:nvSpPr>
          <p:cNvPr id="4" name="Shape 2"/>
          <p:cNvSpPr/>
          <p:nvPr/>
        </p:nvSpPr>
        <p:spPr>
          <a:xfrm>
            <a:off x="548640" y="1600200"/>
            <a:ext cx="11064240" cy="932688"/>
          </a:xfrm>
          <a:prstGeom prst="roundRect">
            <a:avLst>
              <a:gd name="adj" fmla="val 7843"/>
            </a:avLst>
          </a:prstGeom>
          <a:solidFill>
            <a:srgbClr val="16283F"/>
          </a:solidFill>
          <a:ln w="12700">
            <a:solidFill>
              <a:srgbClr val="223650"/>
            </a:solidFill>
            <a:prstDash val="solid"/>
          </a:ln>
        </p:spPr>
      </p:sp>
      <p:sp>
        <p:nvSpPr>
          <p:cNvPr id="5" name="Shape 3"/>
          <p:cNvSpPr/>
          <p:nvPr/>
        </p:nvSpPr>
        <p:spPr>
          <a:xfrm>
            <a:off x="822960" y="1984248"/>
            <a:ext cx="164592" cy="164592"/>
          </a:xfrm>
          <a:prstGeom prst="ellipse">
            <a:avLst/>
          </a:prstGeom>
          <a:solidFill>
            <a:srgbClr val="34C759"/>
          </a:solidFill>
          <a:ln/>
        </p:spPr>
      </p:sp>
      <p:sp>
        <p:nvSpPr>
          <p:cNvPr id="6" name="Text 4"/>
          <p:cNvSpPr/>
          <p:nvPr/>
        </p:nvSpPr>
        <p:spPr>
          <a:xfrm>
            <a:off x="1143000" y="1728216"/>
            <a:ext cx="3291840" cy="713232"/>
          </a:xfrm>
          <a:prstGeom prst="rect">
            <a:avLst/>
          </a:prstGeom>
          <a:noFill/>
          <a:ln/>
        </p:spPr>
        <p:txBody>
          <a:bodyPr wrap="square" lIns="0" tIns="0" rIns="0" bIns="0" rtlCol="0" anchor="ctr"/>
          <a:lstStyle/>
          <a:p>
            <a:pPr indent="0" marL="0">
              <a:buNone/>
            </a:pPr>
            <a:r>
              <a:rPr lang="en-US" sz="1500" b="1" dirty="0">
                <a:solidFill>
                  <a:srgbClr val="34C759"/>
                </a:solidFill>
                <a:latin typeface="Calibri" pitchFamily="34" charset="0"/>
                <a:ea typeface="Calibri" pitchFamily="34" charset="-122"/>
                <a:cs typeface="Calibri" pitchFamily="34" charset="-120"/>
              </a:rPr>
              <a:t>It is the cleanest case</a:t>
            </a:r>
            <a:endParaRPr lang="en-US" sz="1500" dirty="0"/>
          </a:p>
        </p:txBody>
      </p:sp>
      <p:sp>
        <p:nvSpPr>
          <p:cNvPr id="7" name="Text 5"/>
          <p:cNvSpPr/>
          <p:nvPr/>
        </p:nvSpPr>
        <p:spPr>
          <a:xfrm>
            <a:off x="4572000" y="1691640"/>
            <a:ext cx="6812280" cy="786384"/>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An inventory machine has a blank customer in NAXT and belongs under exactly one well-known account (INT00495). There is no customer identity to get wrong.</a:t>
            </a:r>
            <a:endParaRPr lang="en-US" sz="1250" dirty="0"/>
          </a:p>
        </p:txBody>
      </p:sp>
      <p:sp>
        <p:nvSpPr>
          <p:cNvPr id="8" name="Shape 6"/>
          <p:cNvSpPr/>
          <p:nvPr/>
        </p:nvSpPr>
        <p:spPr>
          <a:xfrm>
            <a:off x="548640" y="2679192"/>
            <a:ext cx="11064240" cy="932688"/>
          </a:xfrm>
          <a:prstGeom prst="roundRect">
            <a:avLst>
              <a:gd name="adj" fmla="val 7843"/>
            </a:avLst>
          </a:prstGeom>
          <a:solidFill>
            <a:srgbClr val="16283F"/>
          </a:solidFill>
          <a:ln w="12700">
            <a:solidFill>
              <a:srgbClr val="223650"/>
            </a:solidFill>
            <a:prstDash val="solid"/>
          </a:ln>
        </p:spPr>
      </p:sp>
      <p:sp>
        <p:nvSpPr>
          <p:cNvPr id="9" name="Shape 7"/>
          <p:cNvSpPr/>
          <p:nvPr/>
        </p:nvSpPr>
        <p:spPr>
          <a:xfrm>
            <a:off x="822960" y="3063240"/>
            <a:ext cx="164592" cy="164592"/>
          </a:xfrm>
          <a:prstGeom prst="ellipse">
            <a:avLst/>
          </a:prstGeom>
          <a:solidFill>
            <a:srgbClr val="4DA3FF"/>
          </a:solidFill>
          <a:ln/>
        </p:spPr>
      </p:sp>
      <p:sp>
        <p:nvSpPr>
          <p:cNvPr id="10" name="Text 8"/>
          <p:cNvSpPr/>
          <p:nvPr/>
        </p:nvSpPr>
        <p:spPr>
          <a:xfrm>
            <a:off x="1143000" y="2807208"/>
            <a:ext cx="3291840" cy="713232"/>
          </a:xfrm>
          <a:prstGeom prst="rect">
            <a:avLst/>
          </a:prstGeom>
          <a:noFill/>
          <a:ln/>
        </p:spPr>
        <p:txBody>
          <a:bodyPr wrap="square" lIns="0" tIns="0" rIns="0" bIns="0" rtlCol="0" anchor="ctr"/>
          <a:lstStyle/>
          <a:p>
            <a:pPr indent="0" marL="0">
              <a:buNone/>
            </a:pPr>
            <a:r>
              <a:rPr lang="en-US" sz="1500" b="1" dirty="0">
                <a:solidFill>
                  <a:srgbClr val="4DA3FF"/>
                </a:solidFill>
                <a:latin typeface="Calibri" pitchFamily="34" charset="0"/>
                <a:ea typeface="Calibri" pitchFamily="34" charset="-122"/>
                <a:cs typeface="Calibri" pitchFamily="34" charset="-120"/>
              </a:rPr>
              <a:t>It is where the pain is</a:t>
            </a:r>
            <a:endParaRPr lang="en-US" sz="1500" dirty="0"/>
          </a:p>
        </p:txBody>
      </p:sp>
      <p:sp>
        <p:nvSpPr>
          <p:cNvPr id="11" name="Text 9"/>
          <p:cNvSpPr/>
          <p:nvPr/>
        </p:nvSpPr>
        <p:spPr>
          <a:xfrm>
            <a:off x="4572000" y="2770632"/>
            <a:ext cx="6812280" cy="786384"/>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More than half of Lindsay's churn: PDI email arrives, key the machine in by hand, subscribe it, move it when it sells — twenty minutes and two sittings per machine, 20–70 emails a day.</a:t>
            </a:r>
            <a:endParaRPr lang="en-US" sz="1250" dirty="0"/>
          </a:p>
        </p:txBody>
      </p:sp>
      <p:sp>
        <p:nvSpPr>
          <p:cNvPr id="12" name="Shape 10"/>
          <p:cNvSpPr/>
          <p:nvPr/>
        </p:nvSpPr>
        <p:spPr>
          <a:xfrm>
            <a:off x="548640" y="3758184"/>
            <a:ext cx="11064240" cy="932688"/>
          </a:xfrm>
          <a:prstGeom prst="roundRect">
            <a:avLst>
              <a:gd name="adj" fmla="val 7843"/>
            </a:avLst>
          </a:prstGeom>
          <a:solidFill>
            <a:srgbClr val="16283F"/>
          </a:solidFill>
          <a:ln w="12700">
            <a:solidFill>
              <a:srgbClr val="223650"/>
            </a:solidFill>
            <a:prstDash val="solid"/>
          </a:ln>
        </p:spPr>
      </p:sp>
      <p:sp>
        <p:nvSpPr>
          <p:cNvPr id="13" name="Shape 11"/>
          <p:cNvSpPr/>
          <p:nvPr/>
        </p:nvSpPr>
        <p:spPr>
          <a:xfrm>
            <a:off x="822960" y="4142232"/>
            <a:ext cx="164592" cy="164592"/>
          </a:xfrm>
          <a:prstGeom prst="ellipse">
            <a:avLst/>
          </a:prstGeom>
          <a:solidFill>
            <a:srgbClr val="FF9F1C"/>
          </a:solidFill>
          <a:ln/>
        </p:spPr>
      </p:sp>
      <p:sp>
        <p:nvSpPr>
          <p:cNvPr id="14" name="Text 12"/>
          <p:cNvSpPr/>
          <p:nvPr/>
        </p:nvSpPr>
        <p:spPr>
          <a:xfrm>
            <a:off x="1143000" y="3886200"/>
            <a:ext cx="3291840" cy="713232"/>
          </a:xfrm>
          <a:prstGeom prst="rect">
            <a:avLst/>
          </a:prstGeom>
          <a:noFill/>
          <a:ln/>
        </p:spPr>
        <p:txBody>
          <a:bodyPr wrap="square" lIns="0" tIns="0" rIns="0" bIns="0" rtlCol="0" anchor="ctr"/>
          <a:lstStyle/>
          <a:p>
            <a:pPr indent="0" marL="0">
              <a:buNone/>
            </a:pPr>
            <a:r>
              <a:rPr lang="en-US" sz="1500" b="1" dirty="0">
                <a:solidFill>
                  <a:srgbClr val="FF9F1C"/>
                </a:solidFill>
                <a:latin typeface="Calibri" pitchFamily="34" charset="0"/>
                <a:ea typeface="Calibri" pitchFamily="34" charset="-122"/>
                <a:cs typeface="Calibri" pitchFamily="34" charset="-120"/>
              </a:rPr>
              <a:t>The backlog was real</a:t>
            </a:r>
            <a:endParaRPr lang="en-US" sz="1500" dirty="0"/>
          </a:p>
        </p:txBody>
      </p:sp>
      <p:sp>
        <p:nvSpPr>
          <p:cNvPr id="15" name="Text 13"/>
          <p:cNvSpPr/>
          <p:nvPr/>
        </p:nvSpPr>
        <p:spPr>
          <a:xfrm>
            <a:off x="4572000" y="3849624"/>
            <a:ext cx="6812280" cy="786384"/>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~718 New machines sat in inventory with no CCAT record, some since 2025 — invisible to Caterpillar and to the scorecard the whole time.</a:t>
            </a:r>
            <a:endParaRPr lang="en-US" sz="1250" dirty="0"/>
          </a:p>
        </p:txBody>
      </p:sp>
      <p:sp>
        <p:nvSpPr>
          <p:cNvPr id="16" name="Shape 14"/>
          <p:cNvSpPr/>
          <p:nvPr/>
        </p:nvSpPr>
        <p:spPr>
          <a:xfrm>
            <a:off x="548640" y="4837176"/>
            <a:ext cx="11064240" cy="932688"/>
          </a:xfrm>
          <a:prstGeom prst="roundRect">
            <a:avLst>
              <a:gd name="adj" fmla="val 7843"/>
            </a:avLst>
          </a:prstGeom>
          <a:solidFill>
            <a:srgbClr val="16283F"/>
          </a:solidFill>
          <a:ln w="12700">
            <a:solidFill>
              <a:srgbClr val="223650"/>
            </a:solidFill>
            <a:prstDash val="solid"/>
          </a:ln>
        </p:spPr>
      </p:sp>
      <p:sp>
        <p:nvSpPr>
          <p:cNvPr id="17" name="Shape 15"/>
          <p:cNvSpPr/>
          <p:nvPr/>
        </p:nvSpPr>
        <p:spPr>
          <a:xfrm>
            <a:off x="822960" y="5221224"/>
            <a:ext cx="164592" cy="164592"/>
          </a:xfrm>
          <a:prstGeom prst="ellipse">
            <a:avLst/>
          </a:prstGeom>
          <a:solidFill>
            <a:srgbClr val="2EC4B6"/>
          </a:solidFill>
          <a:ln/>
        </p:spPr>
      </p:sp>
      <p:sp>
        <p:nvSpPr>
          <p:cNvPr id="18" name="Text 16"/>
          <p:cNvSpPr/>
          <p:nvPr/>
        </p:nvSpPr>
        <p:spPr>
          <a:xfrm>
            <a:off x="1143000" y="4965192"/>
            <a:ext cx="3291840" cy="713232"/>
          </a:xfrm>
          <a:prstGeom prst="rect">
            <a:avLst/>
          </a:prstGeom>
          <a:noFill/>
          <a:ln/>
        </p:spPr>
        <p:txBody>
          <a:bodyPr wrap="square" lIns="0" tIns="0" rIns="0" bIns="0" rtlCol="0" anchor="ctr"/>
          <a:lstStyle/>
          <a:p>
            <a:pPr indent="0" marL="0">
              <a:buNone/>
            </a:pPr>
            <a:r>
              <a:rPr lang="en-US" sz="1500" b="1" dirty="0">
                <a:solidFill>
                  <a:srgbClr val="2EC4B6"/>
                </a:solidFill>
                <a:latin typeface="Calibri" pitchFamily="34" charset="0"/>
                <a:ea typeface="Calibri" pitchFamily="34" charset="-122"/>
                <a:cs typeface="Calibri" pitchFamily="34" charset="-120"/>
              </a:rPr>
              <a:t>The goal in one line</a:t>
            </a:r>
            <a:endParaRPr lang="en-US" sz="1500" dirty="0"/>
          </a:p>
        </p:txBody>
      </p:sp>
      <p:sp>
        <p:nvSpPr>
          <p:cNvPr id="19" name="Text 17"/>
          <p:cNvSpPr/>
          <p:nvPr/>
        </p:nvSpPr>
        <p:spPr>
          <a:xfrm>
            <a:off x="4572000" y="4928616"/>
            <a:ext cx="6812280" cy="786384"/>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Every machine already in CCAT, subscribed and reporting, by the time anyone needs it. When it sells, the only remaining work is one customer move.</a:t>
            </a:r>
            <a:endParaRPr lang="en-US" sz="1250" dirty="0"/>
          </a:p>
        </p:txBody>
      </p:sp>
      <p:sp>
        <p:nvSpPr>
          <p:cNvPr id="20" name="Text 18"/>
          <p:cNvSpPr/>
          <p:nvPr/>
        </p:nvSpPr>
        <p:spPr>
          <a:xfrm>
            <a:off x="548640" y="5989320"/>
            <a:ext cx="11064240" cy="457200"/>
          </a:xfrm>
          <a:prstGeom prst="rect">
            <a:avLst/>
          </a:prstGeom>
          <a:noFill/>
          <a:ln/>
        </p:spPr>
        <p:txBody>
          <a:bodyPr wrap="square" lIns="0" tIns="0" rIns="0" bIns="0" rtlCol="0" anchor="ctr"/>
          <a:lstStyle/>
          <a:p>
            <a:pPr indent="0" marL="0">
              <a:buNone/>
            </a:pPr>
            <a:r>
              <a:rPr lang="en-US" sz="1250" i="1" dirty="0">
                <a:solidFill>
                  <a:srgbClr val="9FB3C8"/>
                </a:solidFill>
                <a:latin typeface="Calibri" pitchFamily="34" charset="0"/>
                <a:ea typeface="Calibri" pitchFamily="34" charset="-122"/>
                <a:cs typeface="Calibri" pitchFamily="34" charset="-120"/>
              </a:rPr>
              <a:t>Rules settled August 6: Cat make · active · no attachments · fleet type New only to start · Re-rent never touched · modified-date drives detection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PHASE ONE · FLOW</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Phase one flow: inventory adds (live)</a:t>
            </a:r>
            <a:endParaRPr lang="en-US" sz="3200" dirty="0"/>
          </a:p>
        </p:txBody>
      </p:sp>
      <p:sp>
        <p:nvSpPr>
          <p:cNvPr id="5" name="Shape 2"/>
          <p:cNvSpPr/>
          <p:nvPr/>
        </p:nvSpPr>
        <p:spPr>
          <a:xfrm>
            <a:off x="548640" y="1600200"/>
            <a:ext cx="2514600" cy="1417320"/>
          </a:xfrm>
          <a:prstGeom prst="roundRect">
            <a:avLst>
              <a:gd name="adj" fmla="val 5161"/>
            </a:avLst>
          </a:prstGeom>
          <a:solidFill>
            <a:srgbClr val="16283F"/>
          </a:solidFill>
          <a:ln w="12700">
            <a:solidFill>
              <a:srgbClr val="223650"/>
            </a:solidFill>
            <a:prstDash val="solid"/>
          </a:ln>
        </p:spPr>
      </p:sp>
      <p:sp>
        <p:nvSpPr>
          <p:cNvPr id="6" name="Text 3"/>
          <p:cNvSpPr/>
          <p:nvPr/>
        </p:nvSpPr>
        <p:spPr>
          <a:xfrm>
            <a:off x="67665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4DA3FF"/>
                </a:solidFill>
                <a:latin typeface="Calibri" pitchFamily="34" charset="0"/>
                <a:ea typeface="Calibri" pitchFamily="34" charset="-122"/>
                <a:cs typeface="Calibri" pitchFamily="34" charset="-120"/>
              </a:rPr>
              <a:t>1 · NAXT refresh</a:t>
            </a:r>
            <a:endParaRPr lang="en-US" sz="1250" dirty="0"/>
          </a:p>
        </p:txBody>
      </p:sp>
      <p:sp>
        <p:nvSpPr>
          <p:cNvPr id="7" name="Text 4"/>
          <p:cNvSpPr/>
          <p:nvPr/>
        </p:nvSpPr>
        <p:spPr>
          <a:xfrm>
            <a:off x="67665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Golden equipment data lands in Snowflake each morning</a:t>
            </a:r>
            <a:endParaRPr lang="en-US" sz="1000" dirty="0"/>
          </a:p>
        </p:txBody>
      </p:sp>
      <p:sp>
        <p:nvSpPr>
          <p:cNvPr id="8" name="Shape 5"/>
          <p:cNvSpPr/>
          <p:nvPr/>
        </p:nvSpPr>
        <p:spPr>
          <a:xfrm>
            <a:off x="3429000" y="1600200"/>
            <a:ext cx="2514600" cy="1417320"/>
          </a:xfrm>
          <a:prstGeom prst="roundRect">
            <a:avLst>
              <a:gd name="adj" fmla="val 5161"/>
            </a:avLst>
          </a:prstGeom>
          <a:solidFill>
            <a:srgbClr val="16283F"/>
          </a:solidFill>
          <a:ln w="12700">
            <a:solidFill>
              <a:srgbClr val="223650"/>
            </a:solidFill>
            <a:prstDash val="solid"/>
          </a:ln>
        </p:spPr>
      </p:sp>
      <p:sp>
        <p:nvSpPr>
          <p:cNvPr id="9" name="Text 6"/>
          <p:cNvSpPr/>
          <p:nvPr/>
        </p:nvSpPr>
        <p:spPr>
          <a:xfrm>
            <a:off x="355701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4DA3FF"/>
                </a:solidFill>
                <a:latin typeface="Calibri" pitchFamily="34" charset="0"/>
                <a:ea typeface="Calibri" pitchFamily="34" charset="-122"/>
                <a:cs typeface="Calibri" pitchFamily="34" charset="-120"/>
              </a:rPr>
              <a:t>2 · Candidate scan</a:t>
            </a:r>
            <a:endParaRPr lang="en-US" sz="1250" dirty="0"/>
          </a:p>
        </p:txBody>
      </p:sp>
      <p:sp>
        <p:nvSpPr>
          <p:cNvPr id="10" name="Text 7"/>
          <p:cNvSpPr/>
          <p:nvPr/>
        </p:nvSpPr>
        <p:spPr>
          <a:xfrm>
            <a:off x="355701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Blank customer · Cat make · active · New · no attachments — oldest first by modified date</a:t>
            </a:r>
            <a:endParaRPr lang="en-US" sz="1000" dirty="0"/>
          </a:p>
        </p:txBody>
      </p:sp>
      <p:sp>
        <p:nvSpPr>
          <p:cNvPr id="11" name="Shape 8"/>
          <p:cNvSpPr/>
          <p:nvPr/>
        </p:nvSpPr>
        <p:spPr>
          <a:xfrm>
            <a:off x="6309360" y="1600200"/>
            <a:ext cx="2514600" cy="1417320"/>
          </a:xfrm>
          <a:prstGeom prst="roundRect">
            <a:avLst>
              <a:gd name="adj" fmla="val 5161"/>
            </a:avLst>
          </a:prstGeom>
          <a:solidFill>
            <a:srgbClr val="16283F"/>
          </a:solidFill>
          <a:ln w="12700">
            <a:solidFill>
              <a:srgbClr val="223650"/>
            </a:solidFill>
            <a:prstDash val="solid"/>
          </a:ln>
        </p:spPr>
      </p:sp>
      <p:sp>
        <p:nvSpPr>
          <p:cNvPr id="12" name="Text 9"/>
          <p:cNvSpPr/>
          <p:nvPr/>
        </p:nvSpPr>
        <p:spPr>
          <a:xfrm>
            <a:off x="643737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2EC4B6"/>
                </a:solidFill>
                <a:latin typeface="Calibri" pitchFamily="34" charset="0"/>
                <a:ea typeface="Calibri" pitchFamily="34" charset="-122"/>
                <a:cs typeface="Calibri" pitchFamily="34" charset="-120"/>
              </a:rPr>
              <a:t>3 · Free skips</a:t>
            </a:r>
            <a:endParaRPr lang="en-US" sz="1250" dirty="0"/>
          </a:p>
        </p:txBody>
      </p:sp>
      <p:sp>
        <p:nvSpPr>
          <p:cNvPr id="13" name="Text 10"/>
          <p:cNvSpPr/>
          <p:nvPr/>
        </p:nvSpPr>
        <p:spPr>
          <a:xfrm>
            <a:off x="643737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Already added, already in CCAT, or dealer-blocked — dropped from history at zero API cost</a:t>
            </a:r>
            <a:endParaRPr lang="en-US" sz="1000" dirty="0"/>
          </a:p>
        </p:txBody>
      </p:sp>
      <p:sp>
        <p:nvSpPr>
          <p:cNvPr id="14" name="Shape 11"/>
          <p:cNvSpPr/>
          <p:nvPr/>
        </p:nvSpPr>
        <p:spPr>
          <a:xfrm>
            <a:off x="9189720" y="1600200"/>
            <a:ext cx="2514600" cy="1417320"/>
          </a:xfrm>
          <a:prstGeom prst="roundRect">
            <a:avLst>
              <a:gd name="adj" fmla="val 5161"/>
            </a:avLst>
          </a:prstGeom>
          <a:solidFill>
            <a:srgbClr val="16283F"/>
          </a:solidFill>
          <a:ln w="12700">
            <a:solidFill>
              <a:srgbClr val="223650"/>
            </a:solidFill>
            <a:prstDash val="solid"/>
          </a:ln>
        </p:spPr>
      </p:sp>
      <p:sp>
        <p:nvSpPr>
          <p:cNvPr id="15" name="Text 12"/>
          <p:cNvSpPr/>
          <p:nvPr/>
        </p:nvSpPr>
        <p:spPr>
          <a:xfrm>
            <a:off x="931773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2EC4B6"/>
                </a:solidFill>
                <a:latin typeface="Calibri" pitchFamily="34" charset="0"/>
                <a:ea typeface="Calibri" pitchFamily="34" charset="-122"/>
                <a:cs typeface="Calibri" pitchFamily="34" charset="-120"/>
              </a:rPr>
              <a:t>4 · Live CCAT search</a:t>
            </a:r>
            <a:endParaRPr lang="en-US" sz="1250" dirty="0"/>
          </a:p>
        </p:txBody>
      </p:sp>
      <p:sp>
        <p:nvSpPr>
          <p:cNvPr id="16" name="Text 13"/>
          <p:cNvSpPr/>
          <p:nvPr/>
        </p:nvSpPr>
        <p:spPr>
          <a:xfrm>
            <a:off x="931773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One API search per machine; every answer saved to history</a:t>
            </a:r>
            <a:endParaRPr lang="en-US" sz="1000" dirty="0"/>
          </a:p>
        </p:txBody>
      </p:sp>
      <p:sp>
        <p:nvSpPr>
          <p:cNvPr id="17" name="Shape 14"/>
          <p:cNvSpPr/>
          <p:nvPr/>
        </p:nvSpPr>
        <p:spPr>
          <a:xfrm>
            <a:off x="3127248" y="2194560"/>
            <a:ext cx="292608" cy="237744"/>
          </a:xfrm>
          <a:prstGeom prst="rightArrow">
            <a:avLst/>
          </a:prstGeom>
          <a:solidFill>
            <a:srgbClr val="9FB3C8"/>
          </a:solidFill>
          <a:ln/>
        </p:spPr>
      </p:sp>
      <p:sp>
        <p:nvSpPr>
          <p:cNvPr id="18" name="Shape 15"/>
          <p:cNvSpPr/>
          <p:nvPr/>
        </p:nvSpPr>
        <p:spPr>
          <a:xfrm>
            <a:off x="6007608" y="2194560"/>
            <a:ext cx="292608" cy="237744"/>
          </a:xfrm>
          <a:prstGeom prst="rightArrow">
            <a:avLst/>
          </a:prstGeom>
          <a:solidFill>
            <a:srgbClr val="9FB3C8"/>
          </a:solidFill>
          <a:ln/>
        </p:spPr>
      </p:sp>
      <p:sp>
        <p:nvSpPr>
          <p:cNvPr id="19" name="Shape 16"/>
          <p:cNvSpPr/>
          <p:nvPr/>
        </p:nvSpPr>
        <p:spPr>
          <a:xfrm>
            <a:off x="8887968" y="2194560"/>
            <a:ext cx="292608" cy="237744"/>
          </a:xfrm>
          <a:prstGeom prst="rightArrow">
            <a:avLst/>
          </a:prstGeom>
          <a:solidFill>
            <a:srgbClr val="9FB3C8"/>
          </a:solidFill>
          <a:ln/>
        </p:spPr>
      </p:sp>
      <p:sp>
        <p:nvSpPr>
          <p:cNvPr id="20" name="Shape 17"/>
          <p:cNvSpPr/>
          <p:nvPr/>
        </p:nvSpPr>
        <p:spPr>
          <a:xfrm>
            <a:off x="10314432" y="3127248"/>
            <a:ext cx="256032" cy="694944"/>
          </a:xfrm>
          <a:prstGeom prst="downArrow">
            <a:avLst/>
          </a:prstGeom>
          <a:solidFill>
            <a:srgbClr val="9FB3C8"/>
          </a:solidFill>
          <a:ln/>
        </p:spPr>
      </p:sp>
      <p:sp>
        <p:nvSpPr>
          <p:cNvPr id="21" name="Shape 18"/>
          <p:cNvSpPr/>
          <p:nvPr/>
        </p:nvSpPr>
        <p:spPr>
          <a:xfrm>
            <a:off x="9189720" y="3931920"/>
            <a:ext cx="2514600" cy="1417320"/>
          </a:xfrm>
          <a:prstGeom prst="roundRect">
            <a:avLst>
              <a:gd name="adj" fmla="val 5161"/>
            </a:avLst>
          </a:prstGeom>
          <a:solidFill>
            <a:srgbClr val="16283F"/>
          </a:solidFill>
          <a:ln w="12700">
            <a:solidFill>
              <a:srgbClr val="223650"/>
            </a:solidFill>
            <a:prstDash val="solid"/>
          </a:ln>
        </p:spPr>
      </p:sp>
      <p:sp>
        <p:nvSpPr>
          <p:cNvPr id="22" name="Text 19"/>
          <p:cNvSpPr/>
          <p:nvPr/>
        </p:nvSpPr>
        <p:spPr>
          <a:xfrm>
            <a:off x="931773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FFC72C"/>
                </a:solidFill>
                <a:latin typeface="Calibri" pitchFamily="34" charset="0"/>
                <a:ea typeface="Calibri" pitchFamily="34" charset="-122"/>
                <a:cs typeface="Calibri" pitchFamily="34" charset="-120"/>
              </a:rPr>
              <a:t>5 · Dry-run review</a:t>
            </a:r>
            <a:endParaRPr lang="en-US" sz="1250" dirty="0"/>
          </a:p>
        </p:txBody>
      </p:sp>
      <p:sp>
        <p:nvSpPr>
          <p:cNvPr id="23" name="Text 20"/>
          <p:cNvSpPr/>
          <p:nvPr/>
        </p:nvSpPr>
        <p:spPr>
          <a:xfrm>
            <a:off x="931773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The would_add list previewed — nothing sent yet</a:t>
            </a:r>
            <a:endParaRPr lang="en-US" sz="1000" dirty="0"/>
          </a:p>
        </p:txBody>
      </p:sp>
      <p:sp>
        <p:nvSpPr>
          <p:cNvPr id="24" name="Shape 21"/>
          <p:cNvSpPr/>
          <p:nvPr/>
        </p:nvSpPr>
        <p:spPr>
          <a:xfrm>
            <a:off x="6309360" y="3931920"/>
            <a:ext cx="2514600" cy="1417320"/>
          </a:xfrm>
          <a:prstGeom prst="roundRect">
            <a:avLst>
              <a:gd name="adj" fmla="val 5161"/>
            </a:avLst>
          </a:prstGeom>
          <a:solidFill>
            <a:srgbClr val="16283F"/>
          </a:solidFill>
          <a:ln w="12700">
            <a:solidFill>
              <a:srgbClr val="223650"/>
            </a:solidFill>
            <a:prstDash val="solid"/>
          </a:ln>
        </p:spPr>
      </p:sp>
      <p:sp>
        <p:nvSpPr>
          <p:cNvPr id="25" name="Text 22"/>
          <p:cNvSpPr/>
          <p:nvPr/>
        </p:nvSpPr>
        <p:spPr>
          <a:xfrm>
            <a:off x="643737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34C759"/>
                </a:solidFill>
                <a:latin typeface="Calibri" pitchFamily="34" charset="0"/>
                <a:ea typeface="Calibri" pitchFamily="34" charset="-122"/>
                <a:cs typeface="Calibri" pitchFamily="34" charset="-120"/>
              </a:rPr>
              <a:t>6 · Add to INT00495</a:t>
            </a:r>
            <a:endParaRPr lang="en-US" sz="1250" dirty="0"/>
          </a:p>
        </p:txBody>
      </p:sp>
      <p:sp>
        <p:nvSpPr>
          <p:cNvPr id="26" name="Text 23"/>
          <p:cNvSpPr/>
          <p:nvPr/>
        </p:nvSpPr>
        <p:spPr>
          <a:xfrm>
            <a:off x="643737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Executed with audit row + Cat tracking ID; failures logged once, auto-skipped after</a:t>
            </a:r>
            <a:endParaRPr lang="en-US" sz="1000" dirty="0"/>
          </a:p>
        </p:txBody>
      </p:sp>
      <p:sp>
        <p:nvSpPr>
          <p:cNvPr id="27" name="Shape 24"/>
          <p:cNvSpPr/>
          <p:nvPr/>
        </p:nvSpPr>
        <p:spPr>
          <a:xfrm>
            <a:off x="3429000" y="3931920"/>
            <a:ext cx="2514600" cy="1417320"/>
          </a:xfrm>
          <a:prstGeom prst="roundRect">
            <a:avLst>
              <a:gd name="adj" fmla="val 5161"/>
            </a:avLst>
          </a:prstGeom>
          <a:solidFill>
            <a:srgbClr val="16283F"/>
          </a:solidFill>
          <a:ln w="12700">
            <a:solidFill>
              <a:srgbClr val="223650"/>
            </a:solidFill>
            <a:prstDash val="solid"/>
          </a:ln>
        </p:spPr>
      </p:sp>
      <p:sp>
        <p:nvSpPr>
          <p:cNvPr id="28" name="Text 25"/>
          <p:cNvSpPr/>
          <p:nvPr/>
        </p:nvSpPr>
        <p:spPr>
          <a:xfrm>
            <a:off x="355701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FF9F1C"/>
                </a:solidFill>
                <a:latin typeface="Calibri" pitchFamily="34" charset="0"/>
                <a:ea typeface="Calibri" pitchFamily="34" charset="-122"/>
                <a:cs typeface="Calibri" pitchFamily="34" charset="-120"/>
              </a:rPr>
              <a:t>7 · Subscription</a:t>
            </a:r>
            <a:endParaRPr lang="en-US" sz="1250" dirty="0"/>
          </a:p>
        </p:txBody>
      </p:sp>
      <p:sp>
        <p:nvSpPr>
          <p:cNvPr id="29" name="Text 26"/>
          <p:cNvSpPr/>
          <p:nvPr/>
        </p:nvSpPr>
        <p:spPr>
          <a:xfrm>
            <a:off x="355701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Lindsay registers Product Link in the dealer portal — the manual step that sets the pace</a:t>
            </a:r>
            <a:endParaRPr lang="en-US" sz="1000" dirty="0"/>
          </a:p>
        </p:txBody>
      </p:sp>
      <p:sp>
        <p:nvSpPr>
          <p:cNvPr id="30" name="Shape 27"/>
          <p:cNvSpPr/>
          <p:nvPr/>
        </p:nvSpPr>
        <p:spPr>
          <a:xfrm>
            <a:off x="548640" y="3931920"/>
            <a:ext cx="2514600" cy="1417320"/>
          </a:xfrm>
          <a:prstGeom prst="roundRect">
            <a:avLst>
              <a:gd name="adj" fmla="val 5161"/>
            </a:avLst>
          </a:prstGeom>
          <a:solidFill>
            <a:srgbClr val="16283F"/>
          </a:solidFill>
          <a:ln w="12700">
            <a:solidFill>
              <a:srgbClr val="223650"/>
            </a:solidFill>
            <a:prstDash val="solid"/>
          </a:ln>
        </p:spPr>
      </p:sp>
      <p:sp>
        <p:nvSpPr>
          <p:cNvPr id="31" name="Text 28"/>
          <p:cNvSpPr/>
          <p:nvPr/>
        </p:nvSpPr>
        <p:spPr>
          <a:xfrm>
            <a:off x="67665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34C759"/>
                </a:solidFill>
                <a:latin typeface="Calibri" pitchFamily="34" charset="0"/>
                <a:ea typeface="Calibri" pitchFamily="34" charset="-122"/>
                <a:cs typeface="Calibri" pitchFamily="34" charset="-120"/>
              </a:rPr>
              <a:t>8 · Sweep verifies</a:t>
            </a:r>
            <a:endParaRPr lang="en-US" sz="1250" dirty="0"/>
          </a:p>
        </p:txBody>
      </p:sp>
      <p:sp>
        <p:nvSpPr>
          <p:cNvPr id="32" name="Text 29"/>
          <p:cNvSpPr/>
          <p:nvPr/>
        </p:nvSpPr>
        <p:spPr>
          <a:xfrm>
            <a:off x="67665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Machine lands DONE_INVENTORY on the dashboard — loop closed</a:t>
            </a:r>
            <a:endParaRPr lang="en-US" sz="1000" dirty="0"/>
          </a:p>
        </p:txBody>
      </p:sp>
      <p:sp>
        <p:nvSpPr>
          <p:cNvPr id="33" name="Shape 30"/>
          <p:cNvSpPr/>
          <p:nvPr/>
        </p:nvSpPr>
        <p:spPr>
          <a:xfrm>
            <a:off x="8887968" y="4526280"/>
            <a:ext cx="292608" cy="237744"/>
          </a:xfrm>
          <a:prstGeom prst="leftArrow">
            <a:avLst/>
          </a:prstGeom>
          <a:solidFill>
            <a:srgbClr val="9FB3C8"/>
          </a:solidFill>
          <a:ln/>
        </p:spPr>
      </p:sp>
      <p:sp>
        <p:nvSpPr>
          <p:cNvPr id="34" name="Shape 31"/>
          <p:cNvSpPr/>
          <p:nvPr/>
        </p:nvSpPr>
        <p:spPr>
          <a:xfrm>
            <a:off x="6007608" y="4526280"/>
            <a:ext cx="292608" cy="237744"/>
          </a:xfrm>
          <a:prstGeom prst="leftArrow">
            <a:avLst/>
          </a:prstGeom>
          <a:solidFill>
            <a:srgbClr val="9FB3C8"/>
          </a:solidFill>
          <a:ln/>
        </p:spPr>
      </p:sp>
      <p:sp>
        <p:nvSpPr>
          <p:cNvPr id="35" name="Shape 32"/>
          <p:cNvSpPr/>
          <p:nvPr/>
        </p:nvSpPr>
        <p:spPr>
          <a:xfrm>
            <a:off x="3127248" y="4526280"/>
            <a:ext cx="292608" cy="237744"/>
          </a:xfrm>
          <a:prstGeom prst="leftArrow">
            <a:avLst/>
          </a:prstGeom>
          <a:solidFill>
            <a:srgbClr val="9FB3C8"/>
          </a:solidFill>
          <a:ln/>
        </p:spPr>
      </p:sp>
      <p:sp>
        <p:nvSpPr>
          <p:cNvPr id="36" name="Shape 33"/>
          <p:cNvSpPr/>
          <p:nvPr/>
        </p:nvSpPr>
        <p:spPr>
          <a:xfrm>
            <a:off x="548640" y="5623560"/>
            <a:ext cx="11064240" cy="822960"/>
          </a:xfrm>
          <a:prstGeom prst="roundRect">
            <a:avLst>
              <a:gd name="adj" fmla="val 8889"/>
            </a:avLst>
          </a:prstGeom>
          <a:solidFill>
            <a:srgbClr val="12314A"/>
          </a:solidFill>
          <a:ln w="12700">
            <a:solidFill>
              <a:srgbClr val="223650"/>
            </a:solidFill>
            <a:prstDash val="solid"/>
          </a:ln>
        </p:spPr>
      </p:sp>
      <p:sp>
        <p:nvSpPr>
          <p:cNvPr id="37" name="Text 34"/>
          <p:cNvSpPr/>
          <p:nvPr/>
        </p:nvSpPr>
        <p:spPr>
          <a:xfrm>
            <a:off x="822960" y="5779008"/>
            <a:ext cx="10561320" cy="548640"/>
          </a:xfrm>
          <a:prstGeom prst="rect">
            <a:avLst/>
          </a:prstGeom>
          <a:noFill/>
          <a:ln/>
        </p:spPr>
        <p:txBody>
          <a:bodyPr wrap="square" lIns="0" tIns="0" rIns="0" bIns="0" rtlCol="0" anchor="ctr"/>
          <a:lstStyle/>
          <a:p>
            <a:pPr indent="0" marL="0">
              <a:buNone/>
            </a:pPr>
            <a:r>
              <a:rPr lang="en-US" sz="1400" b="1" dirty="0">
                <a:solidFill>
                  <a:srgbClr val="34C759"/>
                </a:solidFill>
                <a:latin typeface="Calibri" pitchFamily="34" charset="0"/>
                <a:ea typeface="Calibri" pitchFamily="34" charset="-122"/>
                <a:cs typeface="Calibri" pitchFamily="34" charset="-120"/>
              </a:rPr>
              <a:t>Week one:  </a:t>
            </a:r>
            <a:pPr indent="0" marL="0">
              <a:buNone/>
            </a:pPr>
            <a:r>
              <a:rPr lang="en-US" sz="1400" dirty="0">
                <a:solidFill>
                  <a:srgbClr val="E8EEF5"/>
                </a:solidFill>
                <a:latin typeface="Calibri" pitchFamily="34" charset="0"/>
                <a:ea typeface="Calibri" pitchFamily="34" charset="-122"/>
                <a:cs typeface="Calibri" pitchFamily="34" charset="-120"/>
              </a:rPr>
              <a:t>100 machines through this pipe (50 Monday + 50 Wednesday), 39 subscriptions registered, zero surprises — capped on purpose: step 7 is a person.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CUSTOMER IDENTITY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Then the harder question: is the customer wrong?</a:t>
            </a:r>
            <a:endParaRPr lang="en-US" sz="3200" dirty="0"/>
          </a:p>
        </p:txBody>
      </p:sp>
      <p:sp>
        <p:nvSpPr>
          <p:cNvPr id="4" name="Shape 2"/>
          <p:cNvSpPr/>
          <p:nvPr/>
        </p:nvSpPr>
        <p:spPr>
          <a:xfrm>
            <a:off x="548640" y="1554480"/>
            <a:ext cx="5394960" cy="4023360"/>
          </a:xfrm>
          <a:prstGeom prst="roundRect">
            <a:avLst>
              <a:gd name="adj" fmla="val 1818"/>
            </a:avLst>
          </a:prstGeom>
          <a:solidFill>
            <a:srgbClr val="16283F"/>
          </a:solidFill>
          <a:ln w="12700">
            <a:solidFill>
              <a:srgbClr val="223650"/>
            </a:solidFill>
            <a:prstDash val="solid"/>
          </a:ln>
        </p:spPr>
      </p:sp>
      <p:sp>
        <p:nvSpPr>
          <p:cNvPr id="5" name="Text 3"/>
          <p:cNvSpPr/>
          <p:nvPr/>
        </p:nvSpPr>
        <p:spPr>
          <a:xfrm>
            <a:off x="822960" y="1783080"/>
            <a:ext cx="4754880" cy="365760"/>
          </a:xfrm>
          <a:prstGeom prst="rect">
            <a:avLst/>
          </a:prstGeom>
          <a:noFill/>
          <a:ln/>
        </p:spPr>
        <p:txBody>
          <a:bodyPr wrap="square" lIns="0" tIns="0" rIns="0" bIns="0" rtlCol="0" anchor="ctr"/>
          <a:lstStyle/>
          <a:p>
            <a:pPr indent="0" marL="0">
              <a:buNone/>
            </a:pPr>
            <a:r>
              <a:rPr lang="en-US" sz="1700" b="1" dirty="0">
                <a:solidFill>
                  <a:srgbClr val="FF5A5F"/>
                </a:solidFill>
                <a:latin typeface="Calibri" pitchFamily="34" charset="0"/>
                <a:ea typeface="Calibri" pitchFamily="34" charset="-122"/>
                <a:cs typeface="Calibri" pitchFamily="34" charset="-120"/>
              </a:rPr>
              <a:t>What the data said</a:t>
            </a:r>
            <a:endParaRPr lang="en-US" sz="1700" dirty="0"/>
          </a:p>
        </p:txBody>
      </p:sp>
      <p:sp>
        <p:nvSpPr>
          <p:cNvPr id="6" name="Text 4"/>
          <p:cNvSpPr/>
          <p:nvPr/>
        </p:nvSpPr>
        <p:spPr>
          <a:xfrm>
            <a:off x="822960" y="2240280"/>
            <a:ext cx="2834640" cy="822960"/>
          </a:xfrm>
          <a:prstGeom prst="rect">
            <a:avLst/>
          </a:prstGeom>
          <a:noFill/>
          <a:ln/>
        </p:spPr>
        <p:txBody>
          <a:bodyPr wrap="square" lIns="0" tIns="0" rIns="0" bIns="0" rtlCol="0" anchor="ctr"/>
          <a:lstStyle/>
          <a:p>
            <a:pPr indent="0" marL="0">
              <a:buNone/>
            </a:pPr>
            <a:r>
              <a:rPr lang="en-US" sz="5400" b="1" dirty="0">
                <a:solidFill>
                  <a:srgbClr val="FF5A5F"/>
                </a:solidFill>
                <a:latin typeface="Calibri" pitchFamily="34" charset="0"/>
                <a:ea typeface="Calibri" pitchFamily="34" charset="-122"/>
                <a:cs typeface="Calibri" pitchFamily="34" charset="-120"/>
              </a:rPr>
              <a:t>1,327</a:t>
            </a:r>
            <a:endParaRPr lang="en-US" sz="5400" dirty="0"/>
          </a:p>
        </p:txBody>
      </p:sp>
      <p:sp>
        <p:nvSpPr>
          <p:cNvPr id="7" name="Text 5"/>
          <p:cNvSpPr/>
          <p:nvPr/>
        </p:nvSpPr>
        <p:spPr>
          <a:xfrm>
            <a:off x="3520440" y="2331720"/>
            <a:ext cx="2240280" cy="1188720"/>
          </a:xfrm>
          <a:prstGeom prst="rect">
            <a:avLst/>
          </a:prstGeom>
          <a:noFill/>
          <a:ln/>
        </p:spPr>
        <p:txBody>
          <a:bodyPr wrap="square" lIns="0" tIns="0" rIns="0" bIns="0" rtlCol="0" anchor="ctr"/>
          <a:lstStyle/>
          <a:p>
            <a:pPr indent="0" marL="0">
              <a:lnSpc>
                <a:spcPts val="1700"/>
              </a:lnSpc>
              <a:buNone/>
            </a:pPr>
            <a:r>
              <a:rPr lang="en-US" sz="1300" dirty="0">
                <a:solidFill>
                  <a:srgbClr val="E8EEF5"/>
                </a:solidFill>
                <a:latin typeface="Calibri" pitchFamily="34" charset="0"/>
                <a:ea typeface="Calibri" pitchFamily="34" charset="-122"/>
                <a:cs typeface="Calibri" pitchFamily="34" charset="-120"/>
              </a:rPr>
              <a:t>machines where the customer number on our CCAT record differs from the customer number in NAXT.</a:t>
            </a:r>
            <a:endParaRPr lang="en-US" sz="1300" dirty="0"/>
          </a:p>
        </p:txBody>
      </p:sp>
      <p:sp>
        <p:nvSpPr>
          <p:cNvPr id="8" name="Text 6"/>
          <p:cNvSpPr/>
          <p:nvPr/>
        </p:nvSpPr>
        <p:spPr>
          <a:xfrm>
            <a:off x="822960" y="3749040"/>
            <a:ext cx="4846320" cy="1463040"/>
          </a:xfrm>
          <a:prstGeom prst="rect">
            <a:avLst/>
          </a:prstGeom>
          <a:noFill/>
          <a:ln/>
        </p:spPr>
        <p:txBody>
          <a:bodyPr wrap="square" lIns="0" tIns="0" rIns="0" bIns="0" rtlCol="0" anchor="ctr"/>
          <a:lstStyle/>
          <a:p>
            <a:pPr indent="0" marL="0">
              <a:lnSpc>
                <a:spcPts val="2000"/>
              </a:lnSpc>
              <a:buNone/>
            </a:pPr>
            <a:r>
              <a:rPr lang="en-US" sz="1450" b="1" dirty="0">
                <a:solidFill>
                  <a:srgbClr val="FFC72C"/>
                </a:solidFill>
                <a:latin typeface="Calibri" pitchFamily="34" charset="0"/>
                <a:ea typeface="Calibri" pitchFamily="34" charset="-122"/>
                <a:cs typeface="Calibri" pitchFamily="34" charset="-120"/>
              </a:rPr>
              <a:t>Reassigning all 1,327 would be the obvious move — and for hundreds of them, it would be wrong.</a:t>
            </a:r>
            <a:endParaRPr lang="en-US" sz="1450" dirty="0"/>
          </a:p>
        </p:txBody>
      </p:sp>
      <p:sp>
        <p:nvSpPr>
          <p:cNvPr id="9" name="Shape 7"/>
          <p:cNvSpPr/>
          <p:nvPr/>
        </p:nvSpPr>
        <p:spPr>
          <a:xfrm>
            <a:off x="6217920" y="1554480"/>
            <a:ext cx="5394960" cy="4023360"/>
          </a:xfrm>
          <a:prstGeom prst="roundRect">
            <a:avLst>
              <a:gd name="adj" fmla="val 1818"/>
            </a:avLst>
          </a:prstGeom>
          <a:solidFill>
            <a:srgbClr val="16283F"/>
          </a:solidFill>
          <a:ln w="12700">
            <a:solidFill>
              <a:srgbClr val="223650"/>
            </a:solidFill>
            <a:prstDash val="solid"/>
          </a:ln>
        </p:spPr>
      </p:sp>
      <p:sp>
        <p:nvSpPr>
          <p:cNvPr id="10" name="Text 8"/>
          <p:cNvSpPr/>
          <p:nvPr/>
        </p:nvSpPr>
        <p:spPr>
          <a:xfrm>
            <a:off x="6492240" y="1783080"/>
            <a:ext cx="4754880" cy="365760"/>
          </a:xfrm>
          <a:prstGeom prst="rect">
            <a:avLst/>
          </a:prstGeom>
          <a:noFill/>
          <a:ln/>
        </p:spPr>
        <p:txBody>
          <a:bodyPr wrap="square" lIns="0" tIns="0" rIns="0" bIns="0" rtlCol="0" anchor="ctr"/>
          <a:lstStyle/>
          <a:p>
            <a:pPr indent="0" marL="0">
              <a:buNone/>
            </a:pPr>
            <a:r>
              <a:rPr lang="en-US" sz="1700" b="1" dirty="0">
                <a:solidFill>
                  <a:srgbClr val="2EC4B6"/>
                </a:solidFill>
                <a:latin typeface="Calibri" pitchFamily="34" charset="0"/>
                <a:ea typeface="Calibri" pitchFamily="34" charset="-122"/>
                <a:cs typeface="Calibri" pitchFamily="34" charset="-120"/>
              </a:rPr>
              <a:t>The catch: AMERIKOHL</a:t>
            </a:r>
            <a:endParaRPr lang="en-US" sz="1700" dirty="0"/>
          </a:p>
        </p:txBody>
      </p:sp>
      <p:sp>
        <p:nvSpPr>
          <p:cNvPr id="11" name="Text 9"/>
          <p:cNvSpPr/>
          <p:nvPr/>
        </p:nvSpPr>
        <p:spPr>
          <a:xfrm>
            <a:off x="6492240" y="2240280"/>
            <a:ext cx="4846320" cy="3108960"/>
          </a:xfrm>
          <a:prstGeom prst="rect">
            <a:avLst/>
          </a:prstGeom>
          <a:noFill/>
          <a:ln/>
        </p:spPr>
        <p:txBody>
          <a:bodyPr wrap="square" lIns="0" tIns="0" rIns="0" bIns="0" rtlCol="0" anchor="ctr"/>
          <a:lstStyle/>
          <a:p>
            <a:pPr indent="0" marL="0">
              <a:lnSpc>
                <a:spcPts val="1700"/>
              </a:lnSpc>
              <a:spcAft>
                <a:spcPts val="400"/>
              </a:spcAft>
              <a:buNone/>
            </a:pPr>
            <a:r>
              <a:rPr lang="en-US" sz="1300" dirty="0">
                <a:solidFill>
                  <a:srgbClr val="E8EEF5"/>
                </a:solidFill>
                <a:latin typeface="Calibri" pitchFamily="34" charset="0"/>
                <a:ea typeface="Calibri" pitchFamily="34" charset="-122"/>
                <a:cs typeface="Calibri" pitchFamily="34" charset="-120"/>
              </a:rPr>
              <a:t>C00025828   →  AMERIKOHL MINING INC</a:t>
            </a:r>
            <a:endParaRPr lang="en-US" sz="1300" dirty="0"/>
          </a:p>
          <a:p>
            <a:pPr indent="0" marL="0">
              <a:lnSpc>
                <a:spcPts val="1700"/>
              </a:lnSpc>
              <a:spcAft>
                <a:spcPts val="1000"/>
              </a:spcAft>
              <a:buNone/>
            </a:pPr>
            <a:r>
              <a:rPr lang="en-US" sz="1300" dirty="0">
                <a:solidFill>
                  <a:srgbClr val="E8EEF5"/>
                </a:solidFill>
                <a:latin typeface="Calibri" pitchFamily="34" charset="0"/>
                <a:ea typeface="Calibri" pitchFamily="34" charset="-122"/>
                <a:cs typeface="Calibri" pitchFamily="34" charset="-120"/>
              </a:rPr>
              <a:t>C0B094893   →  AMERIKOHL MINING INC</a:t>
            </a:r>
            <a:endParaRPr lang="en-US" sz="1300" dirty="0"/>
          </a:p>
          <a:p>
            <a:pPr indent="0" marL="0">
              <a:lnSpc>
                <a:spcPts val="1700"/>
              </a:lnSpc>
              <a:spcAft>
                <a:spcPts val="1000"/>
              </a:spcAft>
              <a:buNone/>
            </a:pPr>
            <a:r>
              <a:rPr lang="en-US" sz="1300" b="1" dirty="0">
                <a:solidFill>
                  <a:srgbClr val="FFC72C"/>
                </a:solidFill>
                <a:latin typeface="Calibri" pitchFamily="34" charset="0"/>
                <a:ea typeface="Calibri" pitchFamily="34" charset="-122"/>
                <a:cs typeface="Calibri" pitchFamily="34" charset="-120"/>
              </a:rPr>
              <a:t>Two different customer numbers. One real customer.</a:t>
            </a:r>
            <a:endParaRPr lang="en-US" sz="1300" dirty="0"/>
          </a:p>
          <a:p>
            <a:pPr indent="0" marL="0">
              <a:lnSpc>
                <a:spcPts val="1700"/>
              </a:lnSpc>
              <a:buNone/>
            </a:pPr>
            <a:r>
              <a:rPr lang="en-US" sz="1300" dirty="0">
                <a:solidFill>
                  <a:srgbClr val="E8EEF5"/>
                </a:solidFill>
                <a:latin typeface="Calibri" pitchFamily="34" charset="0"/>
                <a:ea typeface="Calibri" pitchFamily="34" charset="-122"/>
                <a:cs typeface="Calibri" pitchFamily="34" charset="-120"/>
              </a:rPr>
              <a:t>A customer number (DCN) is an account — and one customer picks up several over the years: a second branch account, a legacy number, an account at another dealer entirely.</a:t>
            </a:r>
            <a:endParaRPr lang="en-US" sz="1300" dirty="0"/>
          </a:p>
        </p:txBody>
      </p:sp>
      <p:sp>
        <p:nvSpPr>
          <p:cNvPr id="12" name="Shape 10"/>
          <p:cNvSpPr/>
          <p:nvPr/>
        </p:nvSpPr>
        <p:spPr>
          <a:xfrm>
            <a:off x="548640" y="5760720"/>
            <a:ext cx="11064240" cy="685800"/>
          </a:xfrm>
          <a:prstGeom prst="roundRect">
            <a:avLst>
              <a:gd name="adj" fmla="val 10667"/>
            </a:avLst>
          </a:prstGeom>
          <a:solidFill>
            <a:srgbClr val="12314A"/>
          </a:solidFill>
          <a:ln w="12700">
            <a:solidFill>
              <a:srgbClr val="223650"/>
            </a:solidFill>
            <a:prstDash val="solid"/>
          </a:ln>
        </p:spPr>
      </p:sp>
      <p:sp>
        <p:nvSpPr>
          <p:cNvPr id="13" name="Text 11"/>
          <p:cNvSpPr/>
          <p:nvPr/>
        </p:nvSpPr>
        <p:spPr>
          <a:xfrm>
            <a:off x="822960" y="5888736"/>
            <a:ext cx="10561320" cy="457200"/>
          </a:xfrm>
          <a:prstGeom prst="rect">
            <a:avLst/>
          </a:prstGeom>
          <a:noFill/>
          <a:ln/>
        </p:spPr>
        <p:txBody>
          <a:bodyPr wrap="square" lIns="0" tIns="0" rIns="0" bIns="0" rtlCol="0" anchor="ctr"/>
          <a:lstStyle/>
          <a:p>
            <a:pPr indent="0" marL="0">
              <a:buNone/>
            </a:pPr>
            <a:r>
              <a:rPr lang="en-US" sz="1450" b="1" dirty="0">
                <a:solidFill>
                  <a:srgbClr val="FFC72C"/>
                </a:solidFill>
                <a:latin typeface="Calibri" pitchFamily="34" charset="0"/>
                <a:ea typeface="Calibri" pitchFamily="34" charset="-122"/>
                <a:cs typeface="Calibri" pitchFamily="34" charset="-120"/>
              </a:rPr>
              <a:t>The account number is not the customer.  </a:t>
            </a:r>
            <a:pPr indent="0" marL="0">
              <a:buNone/>
            </a:pPr>
            <a:r>
              <a:rPr lang="en-US" sz="1450" dirty="0">
                <a:solidFill>
                  <a:srgbClr val="E8EEF5"/>
                </a:solidFill>
                <a:latin typeface="Calibri" pitchFamily="34" charset="0"/>
                <a:ea typeface="Calibri" pitchFamily="34" charset="-122"/>
                <a:cs typeface="Calibri" pitchFamily="34" charset="-120"/>
              </a:rPr>
              <a:t>Caterpillar's CCID — the customer identity Trifecta itself grades — is the ground truth of “who.”</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CUSTOMER IDENTITY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rule we set, and where the answers come from</a:t>
            </a:r>
            <a:endParaRPr lang="en-US" sz="3200" dirty="0"/>
          </a:p>
        </p:txBody>
      </p:sp>
      <p:sp>
        <p:nvSpPr>
          <p:cNvPr id="4" name="Shape 2"/>
          <p:cNvSpPr/>
          <p:nvPr/>
        </p:nvSpPr>
        <p:spPr>
          <a:xfrm>
            <a:off x="548640" y="1554480"/>
            <a:ext cx="5394960" cy="4206240"/>
          </a:xfrm>
          <a:prstGeom prst="roundRect">
            <a:avLst>
              <a:gd name="adj" fmla="val 1739"/>
            </a:avLst>
          </a:prstGeom>
          <a:solidFill>
            <a:srgbClr val="16283F"/>
          </a:solidFill>
          <a:ln w="12700">
            <a:solidFill>
              <a:srgbClr val="223650"/>
            </a:solidFill>
            <a:prstDash val="solid"/>
          </a:ln>
        </p:spPr>
      </p:sp>
      <p:sp>
        <p:nvSpPr>
          <p:cNvPr id="5" name="Text 3"/>
          <p:cNvSpPr/>
          <p:nvPr/>
        </p:nvSpPr>
        <p:spPr>
          <a:xfrm>
            <a:off x="822960" y="1783080"/>
            <a:ext cx="4754880" cy="365760"/>
          </a:xfrm>
          <a:prstGeom prst="rect">
            <a:avLst/>
          </a:prstGeom>
          <a:noFill/>
          <a:ln/>
        </p:spPr>
        <p:txBody>
          <a:bodyPr wrap="square" lIns="0" tIns="0" rIns="0" bIns="0" rtlCol="0" anchor="ctr"/>
          <a:lstStyle/>
          <a:p>
            <a:pPr indent="0" marL="0">
              <a:buNone/>
            </a:pPr>
            <a:r>
              <a:rPr lang="en-US" sz="1700" b="1" dirty="0">
                <a:solidFill>
                  <a:srgbClr val="FFC72C"/>
                </a:solidFill>
                <a:latin typeface="Calibri" pitchFamily="34" charset="0"/>
                <a:ea typeface="Calibri" pitchFamily="34" charset="-122"/>
                <a:cs typeface="Calibri" pitchFamily="34" charset="-120"/>
              </a:rPr>
              <a:t>The policy (Aug 11)</a:t>
            </a:r>
            <a:endParaRPr lang="en-US" sz="1700" dirty="0"/>
          </a:p>
        </p:txBody>
      </p:sp>
      <p:sp>
        <p:nvSpPr>
          <p:cNvPr id="6" name="Text 4"/>
          <p:cNvSpPr/>
          <p:nvPr/>
        </p:nvSpPr>
        <p:spPr>
          <a:xfrm>
            <a:off x="822960" y="2240280"/>
            <a:ext cx="4846320" cy="3383280"/>
          </a:xfrm>
          <a:prstGeom prst="rect">
            <a:avLst/>
          </a:prstGeom>
          <a:noFill/>
          <a:ln/>
        </p:spPr>
        <p:txBody>
          <a:bodyPr wrap="square" lIns="0" tIns="0" rIns="0" bIns="0" rtlCol="0" anchor="ctr"/>
          <a:lstStyle/>
          <a:p>
            <a:pPr indent="0" marL="0">
              <a:lnSpc>
                <a:spcPts val="1800"/>
              </a:lnSpc>
              <a:spcAft>
                <a:spcPts val="800"/>
              </a:spcAft>
              <a:buNone/>
            </a:pPr>
            <a:r>
              <a:rPr lang="en-US" sz="1350" dirty="0">
                <a:solidFill>
                  <a:srgbClr val="E8EEF5"/>
                </a:solidFill>
                <a:latin typeface="Calibri" pitchFamily="34" charset="0"/>
                <a:ea typeface="Calibri" pitchFamily="34" charset="-122"/>
                <a:cs typeface="Calibri" pitchFamily="34" charset="-120"/>
              </a:rPr>
              <a:t>Multiple account numbers per customer are allowed — ours, multiples of ours, other dealers'.</a:t>
            </a:r>
            <a:endParaRPr lang="en-US" sz="1350" dirty="0"/>
          </a:p>
          <a:p>
            <a:pPr indent="0" marL="0">
              <a:lnSpc>
                <a:spcPts val="1800"/>
              </a:lnSpc>
              <a:spcAft>
                <a:spcPts val="800"/>
              </a:spcAft>
              <a:buNone/>
            </a:pPr>
            <a:r>
              <a:rPr lang="en-US" sz="1350" b="1" dirty="0">
                <a:solidFill>
                  <a:srgbClr val="E8EEF5"/>
                </a:solidFill>
                <a:latin typeface="Calibri" pitchFamily="34" charset="0"/>
                <a:ea typeface="Calibri" pitchFamily="34" charset="-122"/>
                <a:cs typeface="Calibri" pitchFamily="34" charset="-120"/>
              </a:rPr>
              <a:t>CCID equality is the ONLY customer-correctness test.</a:t>
            </a:r>
            <a:endParaRPr lang="en-US" sz="1350" dirty="0"/>
          </a:p>
          <a:p>
            <a:pPr indent="0" marL="0">
              <a:lnSpc>
                <a:spcPts val="1800"/>
              </a:lnSpc>
              <a:spcAft>
                <a:spcPts val="400"/>
              </a:spcAft>
              <a:buNone/>
            </a:pPr>
            <a:r>
              <a:rPr lang="en-US" sz="1350" dirty="0">
                <a:solidFill>
                  <a:srgbClr val="34C759"/>
                </a:solidFill>
                <a:latin typeface="Calibri" pitchFamily="34" charset="0"/>
                <a:ea typeface="Calibri" pitchFamily="34" charset="-122"/>
                <a:cs typeface="Calibri" pitchFamily="34" charset="-120"/>
              </a:rPr>
              <a:t>Same CCID, different account → nothing to fix.</a:t>
            </a:r>
            <a:endParaRPr lang="en-US" sz="1350" dirty="0"/>
          </a:p>
          <a:p>
            <a:pPr indent="0" marL="0">
              <a:lnSpc>
                <a:spcPts val="1800"/>
              </a:lnSpc>
              <a:spcAft>
                <a:spcPts val="400"/>
              </a:spcAft>
              <a:buNone/>
            </a:pPr>
            <a:r>
              <a:rPr lang="en-US" sz="1350" dirty="0">
                <a:solidFill>
                  <a:srgbClr val="FF5A5F"/>
                </a:solidFill>
                <a:latin typeface="Calibri" pitchFamily="34" charset="0"/>
                <a:ea typeface="Calibri" pitchFamily="34" charset="-122"/>
                <a:cs typeface="Calibri" pitchFamily="34" charset="-120"/>
              </a:rPr>
              <a:t>Different CCID → truly the wrong customer.</a:t>
            </a:r>
            <a:endParaRPr lang="en-US" sz="1350" dirty="0"/>
          </a:p>
          <a:p>
            <a:pPr indent="0" marL="0">
              <a:lnSpc>
                <a:spcPts val="1800"/>
              </a:lnSpc>
              <a:buNone/>
            </a:pPr>
            <a:r>
              <a:rPr lang="en-US" sz="1350" dirty="0">
                <a:solidFill>
                  <a:srgbClr val="FF9F1C"/>
                </a:solidFill>
                <a:latin typeface="Calibri" pitchFamily="34" charset="0"/>
                <a:ea typeface="Calibri" pitchFamily="34" charset="-122"/>
                <a:cs typeface="Calibri" pitchFamily="34" charset="-120"/>
              </a:rPr>
              <a:t>Cat's own systems disagree → a person looks, never automation.</a:t>
            </a:r>
            <a:endParaRPr lang="en-US" sz="1350" dirty="0"/>
          </a:p>
        </p:txBody>
      </p:sp>
      <p:sp>
        <p:nvSpPr>
          <p:cNvPr id="7" name="Shape 5"/>
          <p:cNvSpPr/>
          <p:nvPr/>
        </p:nvSpPr>
        <p:spPr>
          <a:xfrm>
            <a:off x="6217920" y="1554480"/>
            <a:ext cx="5394960" cy="4206240"/>
          </a:xfrm>
          <a:prstGeom prst="roundRect">
            <a:avLst>
              <a:gd name="adj" fmla="val 1739"/>
            </a:avLst>
          </a:prstGeom>
          <a:solidFill>
            <a:srgbClr val="16283F"/>
          </a:solidFill>
          <a:ln w="12700">
            <a:solidFill>
              <a:srgbClr val="223650"/>
            </a:solidFill>
            <a:prstDash val="solid"/>
          </a:ln>
        </p:spPr>
      </p:sp>
      <p:sp>
        <p:nvSpPr>
          <p:cNvPr id="8" name="Text 6"/>
          <p:cNvSpPr/>
          <p:nvPr/>
        </p:nvSpPr>
        <p:spPr>
          <a:xfrm>
            <a:off x="6492240" y="1783080"/>
            <a:ext cx="4754880" cy="365760"/>
          </a:xfrm>
          <a:prstGeom prst="rect">
            <a:avLst/>
          </a:prstGeom>
          <a:noFill/>
          <a:ln/>
        </p:spPr>
        <p:txBody>
          <a:bodyPr wrap="square" lIns="0" tIns="0" rIns="0" bIns="0" rtlCol="0" anchor="ctr"/>
          <a:lstStyle/>
          <a:p>
            <a:pPr indent="0" marL="0">
              <a:buNone/>
            </a:pPr>
            <a:r>
              <a:rPr lang="en-US" sz="1700" b="1" dirty="0">
                <a:solidFill>
                  <a:srgbClr val="2EC4B6"/>
                </a:solidFill>
                <a:latin typeface="Calibri" pitchFamily="34" charset="0"/>
                <a:ea typeface="Calibri" pitchFamily="34" charset="-122"/>
                <a:cs typeface="Calibri" pitchFamily="34" charset="-120"/>
              </a:rPr>
              <a:t>Four sources, cheapest first</a:t>
            </a:r>
            <a:endParaRPr lang="en-US" sz="1700" dirty="0"/>
          </a:p>
        </p:txBody>
      </p:sp>
      <p:sp>
        <p:nvSpPr>
          <p:cNvPr id="9" name="Text 7"/>
          <p:cNvSpPr/>
          <p:nvPr/>
        </p:nvSpPr>
        <p:spPr>
          <a:xfrm>
            <a:off x="6492240" y="2240280"/>
            <a:ext cx="4846320" cy="3383280"/>
          </a:xfrm>
          <a:prstGeom prst="rect">
            <a:avLst/>
          </a:prstGeom>
          <a:noFill/>
          <a:ln/>
        </p:spPr>
        <p:txBody>
          <a:bodyPr wrap="square" lIns="0" tIns="0" rIns="0" bIns="0" rtlCol="0" anchor="ctr"/>
          <a:lstStyle/>
          <a:p>
            <a:pPr indent="0" marL="0">
              <a:lnSpc>
                <a:spcPts val="1700"/>
              </a:lnSpc>
              <a:spcAft>
                <a:spcPts val="700"/>
              </a:spcAft>
              <a:buNone/>
            </a:pPr>
            <a:r>
              <a:rPr lang="en-US" sz="1300" dirty="0">
                <a:solidFill>
                  <a:srgbClr val="E8EEF5"/>
                </a:solidFill>
                <a:latin typeface="Calibri" pitchFamily="34" charset="0"/>
                <a:ea typeface="Calibri" pitchFamily="34" charset="-122"/>
                <a:cs typeface="Calibri" pitchFamily="34" charset="-120"/>
              </a:rPr>
              <a:t>1 · Our observation history — every Cat API answer we ever stored already carried the CCID. Free, retroactive.</a:t>
            </a:r>
            <a:endParaRPr lang="en-US" sz="1300" dirty="0"/>
          </a:p>
          <a:p>
            <a:pPr indent="0" marL="0">
              <a:lnSpc>
                <a:spcPts val="1700"/>
              </a:lnSpc>
              <a:spcAft>
                <a:spcPts val="700"/>
              </a:spcAft>
              <a:buNone/>
            </a:pPr>
            <a:r>
              <a:rPr lang="en-US" sz="1300" dirty="0">
                <a:solidFill>
                  <a:srgbClr val="E8EEF5"/>
                </a:solidFill>
                <a:latin typeface="Calibri" pitchFamily="34" charset="0"/>
                <a:ea typeface="Calibri" pitchFamily="34" charset="-122"/>
                <a:cs typeface="Calibri" pitchFamily="34" charset="-120"/>
              </a:rPr>
              <a:t>2 · The crosswalk table — every answer any lookup ever produced, kept forever. One API call becomes permanent knowledge.</a:t>
            </a:r>
            <a:endParaRPr lang="en-US" sz="1300" dirty="0"/>
          </a:p>
          <a:p>
            <a:pPr indent="0" marL="0">
              <a:lnSpc>
                <a:spcPts val="1700"/>
              </a:lnSpc>
              <a:spcAft>
                <a:spcPts val="700"/>
              </a:spcAft>
              <a:buNone/>
            </a:pPr>
            <a:r>
              <a:rPr lang="en-US" sz="1300" dirty="0">
                <a:solidFill>
                  <a:srgbClr val="E8EEF5"/>
                </a:solidFill>
                <a:latin typeface="Calibri" pitchFamily="34" charset="0"/>
                <a:ea typeface="Calibri" pitchFamily="34" charset="-122"/>
                <a:cs typeface="Calibri" pitchFamily="34" charset="-120"/>
              </a:rPr>
              <a:t>3 · Cat's customer master, shared into Snowflake — resolves customers who own zero equipment. Refreshed by Cat, not by us.</a:t>
            </a:r>
            <a:endParaRPr lang="en-US" sz="1300" dirty="0"/>
          </a:p>
          <a:p>
            <a:pPr indent="0" marL="0">
              <a:lnSpc>
                <a:spcPts val="1700"/>
              </a:lnSpc>
              <a:buNone/>
            </a:pPr>
            <a:r>
              <a:rPr lang="en-US" sz="1300" dirty="0">
                <a:solidFill>
                  <a:srgbClr val="E8EEF5"/>
                </a:solidFill>
                <a:latin typeface="Calibri" pitchFamily="34" charset="0"/>
                <a:ea typeface="Calibri" pitchFamily="34" charset="-122"/>
                <a:cs typeface="Calibri" pitchFamily="34" charset="-120"/>
              </a:rPr>
              <a:t>4 · The Cat API — last resort, for genuinely new customers only.</a:t>
            </a:r>
            <a:endParaRPr lang="en-US" sz="1300" dirty="0"/>
          </a:p>
        </p:txBody>
      </p:sp>
      <p:sp>
        <p:nvSpPr>
          <p:cNvPr id="10" name="Shape 8"/>
          <p:cNvSpPr/>
          <p:nvPr/>
        </p:nvSpPr>
        <p:spPr>
          <a:xfrm>
            <a:off x="548640" y="5943600"/>
            <a:ext cx="11064240" cy="548640"/>
          </a:xfrm>
          <a:prstGeom prst="roundRect">
            <a:avLst>
              <a:gd name="adj" fmla="val 13333"/>
            </a:avLst>
          </a:prstGeom>
          <a:solidFill>
            <a:srgbClr val="12314A"/>
          </a:solidFill>
          <a:ln w="12700">
            <a:solidFill>
              <a:srgbClr val="223650"/>
            </a:solidFill>
            <a:prstDash val="solid"/>
          </a:ln>
        </p:spPr>
      </p:sp>
      <p:sp>
        <p:nvSpPr>
          <p:cNvPr id="11" name="Text 9"/>
          <p:cNvSpPr/>
          <p:nvPr/>
        </p:nvSpPr>
        <p:spPr>
          <a:xfrm>
            <a:off x="822960" y="6035040"/>
            <a:ext cx="10561320" cy="384048"/>
          </a:xfrm>
          <a:prstGeom prst="rect">
            <a:avLst/>
          </a:prstGeom>
          <a:noFill/>
          <a:ln/>
        </p:spPr>
        <p:txBody>
          <a:bodyPr wrap="square" lIns="0" tIns="0" rIns="0" bIns="0" rtlCol="0" anchor="ctr"/>
          <a:lstStyle/>
          <a:p>
            <a:pPr indent="0" marL="0">
              <a:buNone/>
            </a:pPr>
            <a:r>
              <a:rPr lang="en-US" sz="1350" b="1" dirty="0">
                <a:solidFill>
                  <a:srgbClr val="FFC72C"/>
                </a:solidFill>
                <a:latin typeface="Calibri" pitchFamily="34" charset="0"/>
                <a:ea typeface="Calibri" pitchFamily="34" charset="-122"/>
                <a:cs typeface="Calibri" pitchFamily="34" charset="-120"/>
              </a:rPr>
              <a:t>The system gets cheaper the longer it runs:  </a:t>
            </a:r>
            <a:pPr indent="0" marL="0">
              <a:buNone/>
            </a:pPr>
            <a:r>
              <a:rPr lang="en-US" sz="1350" dirty="0">
                <a:solidFill>
                  <a:srgbClr val="E8EEF5"/>
                </a:solidFill>
                <a:latin typeface="Calibri" pitchFamily="34" charset="0"/>
                <a:ea typeface="Calibri" pitchFamily="34" charset="-122"/>
                <a:cs typeface="Calibri" pitchFamily="34" charset="-120"/>
              </a:rPr>
              <a:t>every sweep, lookup, and Cat refresh widens the free layers. ~100 API calls resolved the entire backlog.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CUSTOMER IDENTITY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1,327 “wrong customers” — what they really are</a:t>
            </a:r>
            <a:endParaRPr lang="en-US" sz="3200" dirty="0"/>
          </a:p>
        </p:txBody>
      </p:sp>
      <p:sp>
        <p:nvSpPr>
          <p:cNvPr id="4" name="Shape 2"/>
          <p:cNvSpPr/>
          <p:nvPr/>
        </p:nvSpPr>
        <p:spPr>
          <a:xfrm>
            <a:off x="548640" y="1600200"/>
            <a:ext cx="11064240" cy="896112"/>
          </a:xfrm>
          <a:prstGeom prst="roundRect">
            <a:avLst>
              <a:gd name="adj" fmla="val 8163"/>
            </a:avLst>
          </a:prstGeom>
          <a:solidFill>
            <a:srgbClr val="16283F"/>
          </a:solidFill>
          <a:ln w="12700">
            <a:solidFill>
              <a:srgbClr val="223650"/>
            </a:solidFill>
            <a:prstDash val="solid"/>
          </a:ln>
        </p:spPr>
      </p:sp>
      <p:sp>
        <p:nvSpPr>
          <p:cNvPr id="5" name="Text 3"/>
          <p:cNvSpPr/>
          <p:nvPr/>
        </p:nvSpPr>
        <p:spPr>
          <a:xfrm>
            <a:off x="822960" y="1673352"/>
            <a:ext cx="1371600" cy="749808"/>
          </a:xfrm>
          <a:prstGeom prst="rect">
            <a:avLst/>
          </a:prstGeom>
          <a:noFill/>
          <a:ln/>
        </p:spPr>
        <p:txBody>
          <a:bodyPr wrap="square" lIns="0" tIns="0" rIns="0" bIns="0" rtlCol="0" anchor="ctr"/>
          <a:lstStyle/>
          <a:p>
            <a:pPr indent="0" marL="0">
              <a:buNone/>
            </a:pPr>
            <a:r>
              <a:rPr lang="en-US" sz="3400" b="1" dirty="0">
                <a:solidFill>
                  <a:srgbClr val="FF5A5F"/>
                </a:solidFill>
                <a:latin typeface="Calibri" pitchFamily="34" charset="0"/>
                <a:ea typeface="Calibri" pitchFamily="34" charset="-122"/>
                <a:cs typeface="Calibri" pitchFamily="34" charset="-120"/>
              </a:rPr>
              <a:t>723</a:t>
            </a:r>
            <a:endParaRPr lang="en-US" sz="3400" dirty="0"/>
          </a:p>
        </p:txBody>
      </p:sp>
      <p:sp>
        <p:nvSpPr>
          <p:cNvPr id="6" name="Text 4"/>
          <p:cNvSpPr/>
          <p:nvPr/>
        </p:nvSpPr>
        <p:spPr>
          <a:xfrm>
            <a:off x="2286000" y="1728216"/>
            <a:ext cx="3566160" cy="640080"/>
          </a:xfrm>
          <a:prstGeom prst="rect">
            <a:avLst/>
          </a:prstGeom>
          <a:noFill/>
          <a:ln/>
        </p:spPr>
        <p:txBody>
          <a:bodyPr wrap="square" lIns="0" tIns="0" rIns="0" bIns="0" rtlCol="0" anchor="ctr"/>
          <a:lstStyle/>
          <a:p>
            <a:pPr indent="0" marL="0">
              <a:buNone/>
            </a:pPr>
            <a:r>
              <a:rPr lang="en-US" sz="1450" b="1" dirty="0">
                <a:solidFill>
                  <a:srgbClr val="FF5A5F"/>
                </a:solidFill>
                <a:latin typeface="Calibri" pitchFamily="34" charset="0"/>
                <a:ea typeface="Calibri" pitchFamily="34" charset="-122"/>
                <a:cs typeface="Calibri" pitchFamily="34" charset="-120"/>
              </a:rPr>
              <a:t>Truly wrong customer</a:t>
            </a:r>
            <a:endParaRPr lang="en-US" sz="1450" dirty="0"/>
          </a:p>
        </p:txBody>
      </p:sp>
      <p:sp>
        <p:nvSpPr>
          <p:cNvPr id="7" name="Text 5"/>
          <p:cNvSpPr/>
          <p:nvPr/>
        </p:nvSpPr>
        <p:spPr>
          <a:xfrm>
            <a:off x="5943600" y="1691640"/>
            <a:ext cx="5440680" cy="713232"/>
          </a:xfrm>
          <a:prstGeom prst="rect">
            <a:avLst/>
          </a:prstGeom>
          <a:noFill/>
          <a:ln/>
        </p:spPr>
        <p:txBody>
          <a:bodyPr wrap="square" lIns="0" tIns="0" rIns="0" bIns="0" rtlCol="0" anchor="ctr"/>
          <a:lstStyle/>
          <a:p>
            <a:pPr indent="0" marL="0">
              <a:lnSpc>
                <a:spcPts val="1500"/>
              </a:lnSpc>
              <a:buNone/>
            </a:pPr>
            <a:r>
              <a:rPr lang="en-US" sz="1200" dirty="0">
                <a:solidFill>
                  <a:srgbClr val="E8EEF5"/>
                </a:solidFill>
                <a:latin typeface="Calibri" pitchFamily="34" charset="0"/>
                <a:ea typeface="Calibri" pitchFamily="34" charset="-122"/>
                <a:cs typeface="Calibri" pitchFamily="34" charset="-120"/>
              </a:rPr>
              <a:t>CCIDs genuinely differ — a validated, CCID-proven reassignment worklist, awaiting this group's go-ahead</a:t>
            </a:r>
            <a:endParaRPr lang="en-US" sz="1200" dirty="0"/>
          </a:p>
        </p:txBody>
      </p:sp>
      <p:sp>
        <p:nvSpPr>
          <p:cNvPr id="8" name="Shape 6"/>
          <p:cNvSpPr/>
          <p:nvPr/>
        </p:nvSpPr>
        <p:spPr>
          <a:xfrm>
            <a:off x="548640" y="2642616"/>
            <a:ext cx="11064240" cy="896112"/>
          </a:xfrm>
          <a:prstGeom prst="roundRect">
            <a:avLst>
              <a:gd name="adj" fmla="val 8163"/>
            </a:avLst>
          </a:prstGeom>
          <a:solidFill>
            <a:srgbClr val="16283F"/>
          </a:solidFill>
          <a:ln w="12700">
            <a:solidFill>
              <a:srgbClr val="223650"/>
            </a:solidFill>
            <a:prstDash val="solid"/>
          </a:ln>
        </p:spPr>
      </p:sp>
      <p:sp>
        <p:nvSpPr>
          <p:cNvPr id="9" name="Text 7"/>
          <p:cNvSpPr/>
          <p:nvPr/>
        </p:nvSpPr>
        <p:spPr>
          <a:xfrm>
            <a:off x="822960" y="2715768"/>
            <a:ext cx="1371600" cy="749808"/>
          </a:xfrm>
          <a:prstGeom prst="rect">
            <a:avLst/>
          </a:prstGeom>
          <a:noFill/>
          <a:ln/>
        </p:spPr>
        <p:txBody>
          <a:bodyPr wrap="square" lIns="0" tIns="0" rIns="0" bIns="0" rtlCol="0" anchor="ctr"/>
          <a:lstStyle/>
          <a:p>
            <a:pPr indent="0" marL="0">
              <a:buNone/>
            </a:pPr>
            <a:r>
              <a:rPr lang="en-US" sz="3400" b="1" dirty="0">
                <a:solidFill>
                  <a:srgbClr val="34C759"/>
                </a:solidFill>
                <a:latin typeface="Calibri" pitchFamily="34" charset="0"/>
                <a:ea typeface="Calibri" pitchFamily="34" charset="-122"/>
                <a:cs typeface="Calibri" pitchFamily="34" charset="-120"/>
              </a:rPr>
              <a:t>520</a:t>
            </a:r>
            <a:endParaRPr lang="en-US" sz="3400" dirty="0"/>
          </a:p>
        </p:txBody>
      </p:sp>
      <p:sp>
        <p:nvSpPr>
          <p:cNvPr id="10" name="Text 8"/>
          <p:cNvSpPr/>
          <p:nvPr/>
        </p:nvSpPr>
        <p:spPr>
          <a:xfrm>
            <a:off x="2286000" y="2770632"/>
            <a:ext cx="3566160" cy="640080"/>
          </a:xfrm>
          <a:prstGeom prst="rect">
            <a:avLst/>
          </a:prstGeom>
          <a:noFill/>
          <a:ln/>
        </p:spPr>
        <p:txBody>
          <a:bodyPr wrap="square" lIns="0" tIns="0" rIns="0" bIns="0" rtlCol="0" anchor="ctr"/>
          <a:lstStyle/>
          <a:p>
            <a:pPr indent="0" marL="0">
              <a:buNone/>
            </a:pPr>
            <a:r>
              <a:rPr lang="en-US" sz="1450" b="1" dirty="0">
                <a:solidFill>
                  <a:srgbClr val="34C759"/>
                </a:solidFill>
                <a:latin typeface="Calibri" pitchFamily="34" charset="0"/>
                <a:ea typeface="Calibri" pitchFamily="34" charset="-122"/>
                <a:cs typeface="Calibri" pitchFamily="34" charset="-120"/>
              </a:rPr>
              <a:t>Same customer, different account</a:t>
            </a:r>
            <a:endParaRPr lang="en-US" sz="1450" dirty="0"/>
          </a:p>
        </p:txBody>
      </p:sp>
      <p:sp>
        <p:nvSpPr>
          <p:cNvPr id="11" name="Text 9"/>
          <p:cNvSpPr/>
          <p:nvPr/>
        </p:nvSpPr>
        <p:spPr>
          <a:xfrm>
            <a:off x="5943600" y="2734056"/>
            <a:ext cx="5440680" cy="713232"/>
          </a:xfrm>
          <a:prstGeom prst="rect">
            <a:avLst/>
          </a:prstGeom>
          <a:noFill/>
          <a:ln/>
        </p:spPr>
        <p:txBody>
          <a:bodyPr wrap="square" lIns="0" tIns="0" rIns="0" bIns="0" rtlCol="0" anchor="ctr"/>
          <a:lstStyle/>
          <a:p>
            <a:pPr indent="0" marL="0">
              <a:lnSpc>
                <a:spcPts val="1500"/>
              </a:lnSpc>
              <a:buNone/>
            </a:pPr>
            <a:r>
              <a:rPr lang="en-US" sz="1200" dirty="0">
                <a:solidFill>
                  <a:srgbClr val="E8EEF5"/>
                </a:solidFill>
                <a:latin typeface="Calibri" pitchFamily="34" charset="0"/>
                <a:ea typeface="Calibri" pitchFamily="34" charset="-122"/>
                <a:cs typeface="Calibri" pitchFamily="34" charset="-120"/>
              </a:rPr>
              <a:t>CCID matches — the AMERIKOHL pattern. Correct by policy. No action, forever.</a:t>
            </a:r>
            <a:endParaRPr lang="en-US" sz="1200" dirty="0"/>
          </a:p>
        </p:txBody>
      </p:sp>
      <p:sp>
        <p:nvSpPr>
          <p:cNvPr id="12" name="Shape 10"/>
          <p:cNvSpPr/>
          <p:nvPr/>
        </p:nvSpPr>
        <p:spPr>
          <a:xfrm>
            <a:off x="548640" y="3685032"/>
            <a:ext cx="11064240" cy="896112"/>
          </a:xfrm>
          <a:prstGeom prst="roundRect">
            <a:avLst>
              <a:gd name="adj" fmla="val 8163"/>
            </a:avLst>
          </a:prstGeom>
          <a:solidFill>
            <a:srgbClr val="16283F"/>
          </a:solidFill>
          <a:ln w="12700">
            <a:solidFill>
              <a:srgbClr val="223650"/>
            </a:solidFill>
            <a:prstDash val="solid"/>
          </a:ln>
        </p:spPr>
      </p:sp>
      <p:sp>
        <p:nvSpPr>
          <p:cNvPr id="13" name="Text 11"/>
          <p:cNvSpPr/>
          <p:nvPr/>
        </p:nvSpPr>
        <p:spPr>
          <a:xfrm>
            <a:off x="822960" y="3758184"/>
            <a:ext cx="1371600" cy="749808"/>
          </a:xfrm>
          <a:prstGeom prst="rect">
            <a:avLst/>
          </a:prstGeom>
          <a:noFill/>
          <a:ln/>
        </p:spPr>
        <p:txBody>
          <a:bodyPr wrap="square" lIns="0" tIns="0" rIns="0" bIns="0" rtlCol="0" anchor="ctr"/>
          <a:lstStyle/>
          <a:p>
            <a:pPr indent="0" marL="0">
              <a:buNone/>
            </a:pPr>
            <a:r>
              <a:rPr lang="en-US" sz="3400" b="1" dirty="0">
                <a:solidFill>
                  <a:srgbClr val="FF9F1C"/>
                </a:solidFill>
                <a:latin typeface="Calibri" pitchFamily="34" charset="0"/>
                <a:ea typeface="Calibri" pitchFamily="34" charset="-122"/>
                <a:cs typeface="Calibri" pitchFamily="34" charset="-120"/>
              </a:rPr>
              <a:t>84</a:t>
            </a:r>
            <a:endParaRPr lang="en-US" sz="3400" dirty="0"/>
          </a:p>
        </p:txBody>
      </p:sp>
      <p:sp>
        <p:nvSpPr>
          <p:cNvPr id="14" name="Text 12"/>
          <p:cNvSpPr/>
          <p:nvPr/>
        </p:nvSpPr>
        <p:spPr>
          <a:xfrm>
            <a:off x="2286000" y="3813048"/>
            <a:ext cx="3566160" cy="640080"/>
          </a:xfrm>
          <a:prstGeom prst="rect">
            <a:avLst/>
          </a:prstGeom>
          <a:noFill/>
          <a:ln/>
        </p:spPr>
        <p:txBody>
          <a:bodyPr wrap="square" lIns="0" tIns="0" rIns="0" bIns="0" rtlCol="0" anchor="ctr"/>
          <a:lstStyle/>
          <a:p>
            <a:pPr indent="0" marL="0">
              <a:buNone/>
            </a:pPr>
            <a:r>
              <a:rPr lang="en-US" sz="1450" b="1" dirty="0">
                <a:solidFill>
                  <a:srgbClr val="FF9F1C"/>
                </a:solidFill>
                <a:latin typeface="Calibri" pitchFamily="34" charset="0"/>
                <a:ea typeface="Calibri" pitchFamily="34" charset="-122"/>
                <a:cs typeface="Calibri" pitchFamily="34" charset="-120"/>
              </a:rPr>
              <a:t>Genuinely unresolved</a:t>
            </a:r>
            <a:endParaRPr lang="en-US" sz="1450" dirty="0"/>
          </a:p>
        </p:txBody>
      </p:sp>
      <p:sp>
        <p:nvSpPr>
          <p:cNvPr id="15" name="Text 13"/>
          <p:cNvSpPr/>
          <p:nvPr/>
        </p:nvSpPr>
        <p:spPr>
          <a:xfrm>
            <a:off x="5943600" y="3776472"/>
            <a:ext cx="5440680" cy="713232"/>
          </a:xfrm>
          <a:prstGeom prst="rect">
            <a:avLst/>
          </a:prstGeom>
          <a:noFill/>
          <a:ln/>
        </p:spPr>
        <p:txBody>
          <a:bodyPr wrap="square" lIns="0" tIns="0" rIns="0" bIns="0" rtlCol="0" anchor="ctr"/>
          <a:lstStyle/>
          <a:p>
            <a:pPr indent="0" marL="0">
              <a:lnSpc>
                <a:spcPts val="1500"/>
              </a:lnSpc>
              <a:buNone/>
            </a:pPr>
            <a:r>
              <a:rPr lang="en-US" sz="1200" dirty="0">
                <a:solidFill>
                  <a:srgbClr val="E8EEF5"/>
                </a:solidFill>
                <a:latin typeface="Calibri" pitchFamily="34" charset="0"/>
                <a:ea typeface="Calibri" pitchFamily="34" charset="-122"/>
                <a:cs typeface="Calibri" pitchFamily="34" charset="-120"/>
              </a:rPr>
              <a:t>Customers unknown to Cat's own customer master — the real CCID gap, now countable — plus a handful where Cat's systems disagree; quarantined for humans</a:t>
            </a:r>
            <a:endParaRPr lang="en-US" sz="1200" dirty="0"/>
          </a:p>
        </p:txBody>
      </p:sp>
      <p:sp>
        <p:nvSpPr>
          <p:cNvPr id="16" name="Shape 14"/>
          <p:cNvSpPr/>
          <p:nvPr/>
        </p:nvSpPr>
        <p:spPr>
          <a:xfrm>
            <a:off x="548640" y="4727448"/>
            <a:ext cx="11064240" cy="896112"/>
          </a:xfrm>
          <a:prstGeom prst="roundRect">
            <a:avLst>
              <a:gd name="adj" fmla="val 8163"/>
            </a:avLst>
          </a:prstGeom>
          <a:solidFill>
            <a:srgbClr val="16283F"/>
          </a:solidFill>
          <a:ln w="12700">
            <a:solidFill>
              <a:srgbClr val="223650"/>
            </a:solidFill>
            <a:prstDash val="solid"/>
          </a:ln>
        </p:spPr>
      </p:sp>
      <p:sp>
        <p:nvSpPr>
          <p:cNvPr id="17" name="Text 15"/>
          <p:cNvSpPr/>
          <p:nvPr/>
        </p:nvSpPr>
        <p:spPr>
          <a:xfrm>
            <a:off x="822960" y="4800600"/>
            <a:ext cx="1371600" cy="749808"/>
          </a:xfrm>
          <a:prstGeom prst="rect">
            <a:avLst/>
          </a:prstGeom>
          <a:noFill/>
          <a:ln/>
        </p:spPr>
        <p:txBody>
          <a:bodyPr wrap="square" lIns="0" tIns="0" rIns="0" bIns="0" rtlCol="0" anchor="ctr"/>
          <a:lstStyle/>
          <a:p>
            <a:pPr indent="0" marL="0">
              <a:buNone/>
            </a:pPr>
            <a:r>
              <a:rPr lang="en-US" sz="3400" b="1" dirty="0">
                <a:solidFill>
                  <a:srgbClr val="4DA3FF"/>
                </a:solidFill>
                <a:latin typeface="Calibri" pitchFamily="34" charset="0"/>
                <a:ea typeface="Calibri" pitchFamily="34" charset="-122"/>
                <a:cs typeface="Calibri" pitchFamily="34" charset="-120"/>
              </a:rPr>
              <a:t>4.5×</a:t>
            </a:r>
            <a:endParaRPr lang="en-US" sz="3400" dirty="0"/>
          </a:p>
        </p:txBody>
      </p:sp>
      <p:sp>
        <p:nvSpPr>
          <p:cNvPr id="18" name="Text 16"/>
          <p:cNvSpPr/>
          <p:nvPr/>
        </p:nvSpPr>
        <p:spPr>
          <a:xfrm>
            <a:off x="2286000" y="4855464"/>
            <a:ext cx="3566160" cy="640080"/>
          </a:xfrm>
          <a:prstGeom prst="rect">
            <a:avLst/>
          </a:prstGeom>
          <a:noFill/>
          <a:ln/>
        </p:spPr>
        <p:txBody>
          <a:bodyPr wrap="square" lIns="0" tIns="0" rIns="0" bIns="0" rtlCol="0" anchor="ctr"/>
          <a:lstStyle/>
          <a:p>
            <a:pPr indent="0" marL="0">
              <a:buNone/>
            </a:pPr>
            <a:r>
              <a:rPr lang="en-US" sz="1450" b="1" dirty="0">
                <a:solidFill>
                  <a:srgbClr val="4DA3FF"/>
                </a:solidFill>
                <a:latin typeface="Calibri" pitchFamily="34" charset="0"/>
                <a:ea typeface="Calibri" pitchFamily="34" charset="-122"/>
                <a:cs typeface="Calibri" pitchFamily="34" charset="-120"/>
              </a:rPr>
              <a:t>The pool grew with coverage</a:t>
            </a:r>
            <a:endParaRPr lang="en-US" sz="1450" dirty="0"/>
          </a:p>
        </p:txBody>
      </p:sp>
      <p:sp>
        <p:nvSpPr>
          <p:cNvPr id="19" name="Text 17"/>
          <p:cNvSpPr/>
          <p:nvPr/>
        </p:nvSpPr>
        <p:spPr>
          <a:xfrm>
            <a:off x="5943600" y="4818888"/>
            <a:ext cx="5440680" cy="713232"/>
          </a:xfrm>
          <a:prstGeom prst="rect">
            <a:avLst/>
          </a:prstGeom>
          <a:noFill/>
          <a:ln/>
        </p:spPr>
        <p:txBody>
          <a:bodyPr wrap="square" lIns="0" tIns="0" rIns="0" bIns="0" rtlCol="0" anchor="ctr"/>
          <a:lstStyle/>
          <a:p>
            <a:pPr indent="0" marL="0">
              <a:lnSpc>
                <a:spcPts val="1500"/>
              </a:lnSpc>
              <a:buNone/>
            </a:pPr>
            <a:r>
              <a:rPr lang="en-US" sz="1200" dirty="0">
                <a:solidFill>
                  <a:srgbClr val="E8EEF5"/>
                </a:solidFill>
                <a:latin typeface="Calibri" pitchFamily="34" charset="0"/>
                <a:ea typeface="Calibri" pitchFamily="34" charset="-122"/>
                <a:cs typeface="Calibri" pitchFamily="34" charset="-120"/>
              </a:rPr>
              <a:t>294 machines when the CCID test first ran (Aug 11) → 1,327 as the sweep widened across the fleet — same test, same discipline, at scale</a:t>
            </a:r>
            <a:endParaRPr lang="en-US" sz="1200" dirty="0"/>
          </a:p>
        </p:txBody>
      </p:sp>
      <p:sp>
        <p:nvSpPr>
          <p:cNvPr id="20" name="Shape 18"/>
          <p:cNvSpPr/>
          <p:nvPr/>
        </p:nvSpPr>
        <p:spPr>
          <a:xfrm>
            <a:off x="548640" y="5852160"/>
            <a:ext cx="11064240" cy="640080"/>
          </a:xfrm>
          <a:prstGeom prst="roundRect">
            <a:avLst>
              <a:gd name="adj" fmla="val 11429"/>
            </a:avLst>
          </a:prstGeom>
          <a:solidFill>
            <a:srgbClr val="12314A"/>
          </a:solidFill>
          <a:ln w="12700">
            <a:solidFill>
              <a:srgbClr val="223650"/>
            </a:solidFill>
            <a:prstDash val="solid"/>
          </a:ln>
        </p:spPr>
      </p:sp>
      <p:sp>
        <p:nvSpPr>
          <p:cNvPr id="21" name="Text 19"/>
          <p:cNvSpPr/>
          <p:nvPr/>
        </p:nvSpPr>
        <p:spPr>
          <a:xfrm>
            <a:off x="822960" y="5971032"/>
            <a:ext cx="10561320" cy="438912"/>
          </a:xfrm>
          <a:prstGeom prst="rect">
            <a:avLst/>
          </a:prstGeom>
          <a:noFill/>
          <a:ln/>
        </p:spPr>
        <p:txBody>
          <a:bodyPr wrap="square" lIns="0" tIns="0" rIns="0" bIns="0" rtlCol="0" anchor="ctr"/>
          <a:lstStyle/>
          <a:p>
            <a:pPr indent="0" marL="0">
              <a:buNone/>
            </a:pPr>
            <a:r>
              <a:rPr lang="en-US" sz="1400" b="1" dirty="0">
                <a:solidFill>
                  <a:srgbClr val="FFC72C"/>
                </a:solidFill>
                <a:latin typeface="Calibri" pitchFamily="34" charset="0"/>
                <a:ea typeface="Calibri" pitchFamily="34" charset="-122"/>
                <a:cs typeface="Calibri" pitchFamily="34" charset="-120"/>
              </a:rPr>
              <a:t>520 false alarms cleared forever.  </a:t>
            </a:r>
            <a:pPr indent="0" marL="0">
              <a:buNone/>
            </a:pPr>
            <a:r>
              <a:rPr lang="en-US" sz="1400" dirty="0">
                <a:solidFill>
                  <a:srgbClr val="E8EEF5"/>
                </a:solidFill>
                <a:latin typeface="Calibri" pitchFamily="34" charset="0"/>
                <a:ea typeface="Calibri" pitchFamily="34" charset="-122"/>
                <a:cs typeface="Calibri" pitchFamily="34" charset="-120"/>
              </a:rPr>
              <a:t>And the 723 that are real are proven machine by machine, not suspected. Each fix can flip a whole customer back to Trifecta-valid.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WHAT'S NEXT · FLOW</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Phase two flow: sold machine → its buyer (designed)</a:t>
            </a:r>
            <a:endParaRPr lang="en-US" sz="3200" dirty="0"/>
          </a:p>
        </p:txBody>
      </p:sp>
      <p:sp>
        <p:nvSpPr>
          <p:cNvPr id="5" name="Shape 2"/>
          <p:cNvSpPr/>
          <p:nvPr/>
        </p:nvSpPr>
        <p:spPr>
          <a:xfrm>
            <a:off x="548640" y="2377440"/>
            <a:ext cx="2468880" cy="1554480"/>
          </a:xfrm>
          <a:prstGeom prst="roundRect">
            <a:avLst>
              <a:gd name="adj" fmla="val 4706"/>
            </a:avLst>
          </a:prstGeom>
          <a:solidFill>
            <a:srgbClr val="16283F"/>
          </a:solidFill>
          <a:ln w="12700">
            <a:solidFill>
              <a:srgbClr val="223650"/>
            </a:solidFill>
            <a:prstDash val="solid"/>
          </a:ln>
        </p:spPr>
      </p:sp>
      <p:sp>
        <p:nvSpPr>
          <p:cNvPr id="6" name="Text 3"/>
          <p:cNvSpPr/>
          <p:nvPr/>
        </p:nvSpPr>
        <p:spPr>
          <a:xfrm>
            <a:off x="694944" y="2487168"/>
            <a:ext cx="2176272" cy="502920"/>
          </a:xfrm>
          <a:prstGeom prst="rect">
            <a:avLst/>
          </a:prstGeom>
          <a:noFill/>
          <a:ln/>
        </p:spPr>
        <p:txBody>
          <a:bodyPr wrap="square" lIns="0" tIns="0" rIns="0" bIns="0" rtlCol="0" anchor="ctr"/>
          <a:lstStyle/>
          <a:p>
            <a:pPr indent="0" marL="0">
              <a:lnSpc>
                <a:spcPts val="1500"/>
              </a:lnSpc>
              <a:buNone/>
            </a:pPr>
            <a:r>
              <a:rPr lang="en-US" sz="1300" b="1" dirty="0">
                <a:solidFill>
                  <a:srgbClr val="4DA3FF"/>
                </a:solidFill>
                <a:latin typeface="Calibri" pitchFamily="34" charset="0"/>
                <a:ea typeface="Calibri" pitchFamily="34" charset="-122"/>
                <a:cs typeface="Calibri" pitchFamily="34" charset="-120"/>
              </a:rPr>
              <a:t>1 · Machine sells</a:t>
            </a:r>
            <a:endParaRPr lang="en-US" sz="1300" dirty="0"/>
          </a:p>
        </p:txBody>
      </p:sp>
      <p:sp>
        <p:nvSpPr>
          <p:cNvPr id="7" name="Text 4"/>
          <p:cNvSpPr/>
          <p:nvPr/>
        </p:nvSpPr>
        <p:spPr>
          <a:xfrm>
            <a:off x="694944" y="2999232"/>
            <a:ext cx="2176272" cy="82296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A customer number appears on an inventory machine in NAXT</a:t>
            </a:r>
            <a:endParaRPr lang="en-US" sz="1050" dirty="0"/>
          </a:p>
        </p:txBody>
      </p:sp>
      <p:sp>
        <p:nvSpPr>
          <p:cNvPr id="8" name="Shape 5"/>
          <p:cNvSpPr/>
          <p:nvPr/>
        </p:nvSpPr>
        <p:spPr>
          <a:xfrm>
            <a:off x="3429000" y="2377440"/>
            <a:ext cx="2468880" cy="1554480"/>
          </a:xfrm>
          <a:prstGeom prst="roundRect">
            <a:avLst>
              <a:gd name="adj" fmla="val 4706"/>
            </a:avLst>
          </a:prstGeom>
          <a:solidFill>
            <a:srgbClr val="16283F"/>
          </a:solidFill>
          <a:ln w="12700">
            <a:solidFill>
              <a:srgbClr val="223650"/>
            </a:solidFill>
            <a:prstDash val="solid"/>
          </a:ln>
        </p:spPr>
      </p:sp>
      <p:sp>
        <p:nvSpPr>
          <p:cNvPr id="9" name="Text 6"/>
          <p:cNvSpPr/>
          <p:nvPr/>
        </p:nvSpPr>
        <p:spPr>
          <a:xfrm>
            <a:off x="3575304" y="2487168"/>
            <a:ext cx="2176272" cy="502920"/>
          </a:xfrm>
          <a:prstGeom prst="rect">
            <a:avLst/>
          </a:prstGeom>
          <a:noFill/>
          <a:ln/>
        </p:spPr>
        <p:txBody>
          <a:bodyPr wrap="square" lIns="0" tIns="0" rIns="0" bIns="0" rtlCol="0" anchor="ctr"/>
          <a:lstStyle/>
          <a:p>
            <a:pPr indent="0" marL="0">
              <a:lnSpc>
                <a:spcPts val="1500"/>
              </a:lnSpc>
              <a:buNone/>
            </a:pPr>
            <a:r>
              <a:rPr lang="en-US" sz="1300" b="1" dirty="0">
                <a:solidFill>
                  <a:srgbClr val="FFC72C"/>
                </a:solidFill>
                <a:latin typeface="Calibri" pitchFamily="34" charset="0"/>
                <a:ea typeface="Calibri" pitchFamily="34" charset="-122"/>
                <a:cs typeface="Calibri" pitchFamily="34" charset="-120"/>
              </a:rPr>
              <a:t>2 · Dashboard flags it</a:t>
            </a:r>
            <a:endParaRPr lang="en-US" sz="1300" dirty="0"/>
          </a:p>
        </p:txBody>
      </p:sp>
      <p:sp>
        <p:nvSpPr>
          <p:cNvPr id="10" name="Text 7"/>
          <p:cNvSpPr/>
          <p:nvPr/>
        </p:nvSpPr>
        <p:spPr>
          <a:xfrm>
            <a:off x="3575304" y="2999232"/>
            <a:ext cx="2176272" cy="82296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P3_INV_TO_CUSTOMER — caught by the daily sweep. 180 machines on this list today</a:t>
            </a:r>
            <a:endParaRPr lang="en-US" sz="1050" dirty="0"/>
          </a:p>
        </p:txBody>
      </p:sp>
      <p:sp>
        <p:nvSpPr>
          <p:cNvPr id="11" name="Shape 8"/>
          <p:cNvSpPr/>
          <p:nvPr/>
        </p:nvSpPr>
        <p:spPr>
          <a:xfrm>
            <a:off x="6309360" y="2377440"/>
            <a:ext cx="2468880" cy="1554480"/>
          </a:xfrm>
          <a:prstGeom prst="roundRect">
            <a:avLst>
              <a:gd name="adj" fmla="val 4706"/>
            </a:avLst>
          </a:prstGeom>
          <a:solidFill>
            <a:srgbClr val="16283F"/>
          </a:solidFill>
          <a:ln w="12700">
            <a:solidFill>
              <a:srgbClr val="223650"/>
            </a:solidFill>
            <a:prstDash val="solid"/>
          </a:ln>
        </p:spPr>
      </p:sp>
      <p:sp>
        <p:nvSpPr>
          <p:cNvPr id="12" name="Text 9"/>
          <p:cNvSpPr/>
          <p:nvPr/>
        </p:nvSpPr>
        <p:spPr>
          <a:xfrm>
            <a:off x="6455664" y="2487168"/>
            <a:ext cx="2176272" cy="502920"/>
          </a:xfrm>
          <a:prstGeom prst="rect">
            <a:avLst/>
          </a:prstGeom>
          <a:noFill/>
          <a:ln/>
        </p:spPr>
        <p:txBody>
          <a:bodyPr wrap="square" lIns="0" tIns="0" rIns="0" bIns="0" rtlCol="0" anchor="ctr"/>
          <a:lstStyle/>
          <a:p>
            <a:pPr indent="0" marL="0">
              <a:lnSpc>
                <a:spcPts val="1500"/>
              </a:lnSpc>
              <a:buNone/>
            </a:pPr>
            <a:r>
              <a:rPr lang="en-US" sz="1300" b="1" dirty="0">
                <a:solidFill>
                  <a:srgbClr val="2EC4B6"/>
                </a:solidFill>
                <a:latin typeface="Calibri" pitchFamily="34" charset="0"/>
                <a:ea typeface="Calibri" pitchFamily="34" charset="-122"/>
                <a:cs typeface="Calibri" pitchFamily="34" charset="-120"/>
              </a:rPr>
              <a:t>3 · CCID check</a:t>
            </a:r>
            <a:endParaRPr lang="en-US" sz="1300" dirty="0"/>
          </a:p>
        </p:txBody>
      </p:sp>
      <p:sp>
        <p:nvSpPr>
          <p:cNvPr id="13" name="Text 10"/>
          <p:cNvSpPr/>
          <p:nvPr/>
        </p:nvSpPr>
        <p:spPr>
          <a:xfrm>
            <a:off x="6455664" y="2999232"/>
            <a:ext cx="2176272" cy="82296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Cat's customer master, shared into Snowflake, answers: does the buyer resolve to a CCID?</a:t>
            </a:r>
            <a:endParaRPr lang="en-US" sz="1050" dirty="0"/>
          </a:p>
        </p:txBody>
      </p:sp>
      <p:sp>
        <p:nvSpPr>
          <p:cNvPr id="14" name="Shape 11"/>
          <p:cNvSpPr/>
          <p:nvPr/>
        </p:nvSpPr>
        <p:spPr>
          <a:xfrm>
            <a:off x="3127248" y="3035808"/>
            <a:ext cx="292608" cy="237744"/>
          </a:xfrm>
          <a:prstGeom prst="rightArrow">
            <a:avLst/>
          </a:prstGeom>
          <a:solidFill>
            <a:srgbClr val="9FB3C8"/>
          </a:solidFill>
          <a:ln/>
        </p:spPr>
      </p:sp>
      <p:sp>
        <p:nvSpPr>
          <p:cNvPr id="15" name="Shape 12"/>
          <p:cNvSpPr/>
          <p:nvPr/>
        </p:nvSpPr>
        <p:spPr>
          <a:xfrm>
            <a:off x="6007608" y="3035808"/>
            <a:ext cx="292608" cy="237744"/>
          </a:xfrm>
          <a:prstGeom prst="rightArrow">
            <a:avLst/>
          </a:prstGeom>
          <a:solidFill>
            <a:srgbClr val="9FB3C8"/>
          </a:solidFill>
          <a:ln/>
        </p:spPr>
      </p:sp>
      <p:sp>
        <p:nvSpPr>
          <p:cNvPr id="16" name="Shape 13"/>
          <p:cNvSpPr/>
          <p:nvPr/>
        </p:nvSpPr>
        <p:spPr>
          <a:xfrm flipV="1">
            <a:off x="8851392" y="2487168"/>
            <a:ext cx="457200" cy="566928"/>
          </a:xfrm>
          <a:prstGeom prst="line">
            <a:avLst/>
          </a:prstGeom>
          <a:noFill/>
          <a:ln w="28575">
            <a:solidFill>
              <a:srgbClr val="34C759"/>
            </a:solidFill>
            <a:prstDash val="solid"/>
            <a:tailEnd type="triangle"/>
          </a:ln>
        </p:spPr>
      </p:sp>
      <p:sp>
        <p:nvSpPr>
          <p:cNvPr id="17" name="Shape 14"/>
          <p:cNvSpPr/>
          <p:nvPr/>
        </p:nvSpPr>
        <p:spPr>
          <a:xfrm>
            <a:off x="8851392" y="3246120"/>
            <a:ext cx="457200" cy="1371600"/>
          </a:xfrm>
          <a:prstGeom prst="line">
            <a:avLst/>
          </a:prstGeom>
          <a:noFill/>
          <a:ln w="28575">
            <a:solidFill>
              <a:srgbClr val="FF9F1C"/>
            </a:solidFill>
            <a:prstDash val="solid"/>
            <a:tailEnd type="triangle"/>
          </a:ln>
        </p:spPr>
      </p:sp>
      <p:sp>
        <p:nvSpPr>
          <p:cNvPr id="18" name="Text 15"/>
          <p:cNvSpPr/>
          <p:nvPr/>
        </p:nvSpPr>
        <p:spPr>
          <a:xfrm>
            <a:off x="8613648" y="2084832"/>
            <a:ext cx="1188720" cy="274320"/>
          </a:xfrm>
          <a:prstGeom prst="rect">
            <a:avLst/>
          </a:prstGeom>
          <a:noFill/>
          <a:ln/>
        </p:spPr>
        <p:txBody>
          <a:bodyPr wrap="square" lIns="0" tIns="0" rIns="0" bIns="0" rtlCol="0" anchor="ctr"/>
          <a:lstStyle/>
          <a:p>
            <a:pPr indent="0" marL="0">
              <a:buNone/>
            </a:pPr>
            <a:r>
              <a:rPr lang="en-US" sz="1000" b="1" dirty="0">
                <a:solidFill>
                  <a:srgbClr val="34C759"/>
                </a:solidFill>
                <a:latin typeface="Calibri" pitchFamily="34" charset="0"/>
                <a:ea typeface="Calibri" pitchFamily="34" charset="-122"/>
                <a:cs typeface="Calibri" pitchFamily="34" charset="-120"/>
              </a:rPr>
              <a:t>CCID exists</a:t>
            </a:r>
            <a:endParaRPr lang="en-US" sz="1000" dirty="0"/>
          </a:p>
        </p:txBody>
      </p:sp>
      <p:sp>
        <p:nvSpPr>
          <p:cNvPr id="19" name="Text 16"/>
          <p:cNvSpPr/>
          <p:nvPr/>
        </p:nvSpPr>
        <p:spPr>
          <a:xfrm>
            <a:off x="8686800" y="4069080"/>
            <a:ext cx="1005840" cy="274320"/>
          </a:xfrm>
          <a:prstGeom prst="rect">
            <a:avLst/>
          </a:prstGeom>
          <a:noFill/>
          <a:ln/>
        </p:spPr>
        <p:txBody>
          <a:bodyPr wrap="square" lIns="0" tIns="0" rIns="0" bIns="0" rtlCol="0" anchor="ctr"/>
          <a:lstStyle/>
          <a:p>
            <a:pPr indent="0" marL="0">
              <a:buNone/>
            </a:pPr>
            <a:r>
              <a:rPr lang="en-US" sz="1000" b="1" dirty="0">
                <a:solidFill>
                  <a:srgbClr val="FF9F1C"/>
                </a:solidFill>
                <a:latin typeface="Calibri" pitchFamily="34" charset="0"/>
                <a:ea typeface="Calibri" pitchFamily="34" charset="-122"/>
                <a:cs typeface="Calibri" pitchFamily="34" charset="-120"/>
              </a:rPr>
              <a:t>no CCID</a:t>
            </a:r>
            <a:endParaRPr lang="en-US" sz="1000" dirty="0"/>
          </a:p>
        </p:txBody>
      </p:sp>
      <p:sp>
        <p:nvSpPr>
          <p:cNvPr id="20" name="Shape 17"/>
          <p:cNvSpPr/>
          <p:nvPr/>
        </p:nvSpPr>
        <p:spPr>
          <a:xfrm>
            <a:off x="9372600" y="1645920"/>
            <a:ext cx="2286000" cy="1874520"/>
          </a:xfrm>
          <a:prstGeom prst="roundRect">
            <a:avLst>
              <a:gd name="adj" fmla="val 3902"/>
            </a:avLst>
          </a:prstGeom>
          <a:solidFill>
            <a:srgbClr val="16283F"/>
          </a:solidFill>
          <a:ln w="12700">
            <a:solidFill>
              <a:srgbClr val="223650"/>
            </a:solidFill>
            <a:prstDash val="solid"/>
          </a:ln>
        </p:spPr>
      </p:sp>
      <p:sp>
        <p:nvSpPr>
          <p:cNvPr id="21" name="Text 18"/>
          <p:cNvSpPr/>
          <p:nvPr/>
        </p:nvSpPr>
        <p:spPr>
          <a:xfrm>
            <a:off x="9518904" y="1755648"/>
            <a:ext cx="1993392" cy="502920"/>
          </a:xfrm>
          <a:prstGeom prst="rect">
            <a:avLst/>
          </a:prstGeom>
          <a:noFill/>
          <a:ln/>
        </p:spPr>
        <p:txBody>
          <a:bodyPr wrap="square" lIns="0" tIns="0" rIns="0" bIns="0" rtlCol="0" anchor="ctr"/>
          <a:lstStyle/>
          <a:p>
            <a:pPr indent="0" marL="0">
              <a:lnSpc>
                <a:spcPts val="1500"/>
              </a:lnSpc>
              <a:buNone/>
            </a:pPr>
            <a:r>
              <a:rPr lang="en-US" sz="1300" b="1" dirty="0">
                <a:solidFill>
                  <a:srgbClr val="34C759"/>
                </a:solidFill>
                <a:latin typeface="Calibri" pitchFamily="34" charset="0"/>
                <a:ea typeface="Calibri" pitchFamily="34" charset="-122"/>
                <a:cs typeface="Calibri" pitchFamily="34" charset="-120"/>
              </a:rPr>
              <a:t>4a · Automated move</a:t>
            </a:r>
            <a:endParaRPr lang="en-US" sz="1300" dirty="0"/>
          </a:p>
        </p:txBody>
      </p:sp>
      <p:sp>
        <p:nvSpPr>
          <p:cNvPr id="22" name="Text 19"/>
          <p:cNvSpPr/>
          <p:nvPr/>
        </p:nvSpPr>
        <p:spPr>
          <a:xfrm>
            <a:off x="9518904" y="2267712"/>
            <a:ext cx="1993392" cy="114300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Reassign INT00495 → the buyer's account. Old record auto-expires. One audit row, one API call.</a:t>
            </a:r>
            <a:endParaRPr lang="en-US" sz="1050" dirty="0"/>
          </a:p>
        </p:txBody>
      </p:sp>
      <p:sp>
        <p:nvSpPr>
          <p:cNvPr id="23" name="Shape 20"/>
          <p:cNvSpPr/>
          <p:nvPr/>
        </p:nvSpPr>
        <p:spPr>
          <a:xfrm>
            <a:off x="9372600" y="3977640"/>
            <a:ext cx="2286000" cy="1874520"/>
          </a:xfrm>
          <a:prstGeom prst="roundRect">
            <a:avLst>
              <a:gd name="adj" fmla="val 3902"/>
            </a:avLst>
          </a:prstGeom>
          <a:solidFill>
            <a:srgbClr val="16283F"/>
          </a:solidFill>
          <a:ln w="12700">
            <a:solidFill>
              <a:srgbClr val="223650"/>
            </a:solidFill>
            <a:prstDash val="solid"/>
          </a:ln>
        </p:spPr>
      </p:sp>
      <p:sp>
        <p:nvSpPr>
          <p:cNvPr id="24" name="Text 21"/>
          <p:cNvSpPr/>
          <p:nvPr/>
        </p:nvSpPr>
        <p:spPr>
          <a:xfrm>
            <a:off x="9518904" y="4087368"/>
            <a:ext cx="1993392" cy="502920"/>
          </a:xfrm>
          <a:prstGeom prst="rect">
            <a:avLst/>
          </a:prstGeom>
          <a:noFill/>
          <a:ln/>
        </p:spPr>
        <p:txBody>
          <a:bodyPr wrap="square" lIns="0" tIns="0" rIns="0" bIns="0" rtlCol="0" anchor="ctr"/>
          <a:lstStyle/>
          <a:p>
            <a:pPr indent="0" marL="0">
              <a:lnSpc>
                <a:spcPts val="1500"/>
              </a:lnSpc>
              <a:buNone/>
            </a:pPr>
            <a:r>
              <a:rPr lang="en-US" sz="1300" b="1" dirty="0">
                <a:solidFill>
                  <a:srgbClr val="FF9F1C"/>
                </a:solidFill>
                <a:latin typeface="Calibri" pitchFamily="34" charset="0"/>
                <a:ea typeface="Calibri" pitchFamily="34" charset="-122"/>
                <a:cs typeface="Calibri" pitchFamily="34" charset="-120"/>
              </a:rPr>
              <a:t>4b · Human queue</a:t>
            </a:r>
            <a:endParaRPr lang="en-US" sz="1300" dirty="0"/>
          </a:p>
        </p:txBody>
      </p:sp>
      <p:sp>
        <p:nvSpPr>
          <p:cNvPr id="25" name="Text 22"/>
          <p:cNvSpPr/>
          <p:nvPr/>
        </p:nvSpPr>
        <p:spPr>
          <a:xfrm>
            <a:off x="9518904" y="4599432"/>
            <a:ext cx="1993392" cy="114300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Customer Admin Tool creates the CCID first — then the move retries. No mid-flight failures.</a:t>
            </a:r>
            <a:endParaRPr lang="en-US" sz="1050" dirty="0"/>
          </a:p>
        </p:txBody>
      </p:sp>
      <p:sp>
        <p:nvSpPr>
          <p:cNvPr id="26" name="Shape 23"/>
          <p:cNvSpPr/>
          <p:nvPr/>
        </p:nvSpPr>
        <p:spPr>
          <a:xfrm>
            <a:off x="548640" y="5989320"/>
            <a:ext cx="8503920" cy="685800"/>
          </a:xfrm>
          <a:prstGeom prst="roundRect">
            <a:avLst>
              <a:gd name="adj" fmla="val 10667"/>
            </a:avLst>
          </a:prstGeom>
          <a:solidFill>
            <a:srgbClr val="12314A"/>
          </a:solidFill>
          <a:ln w="12700">
            <a:solidFill>
              <a:srgbClr val="223650"/>
            </a:solidFill>
            <a:prstDash val="solid"/>
          </a:ln>
        </p:spPr>
      </p:sp>
      <p:sp>
        <p:nvSpPr>
          <p:cNvPr id="27" name="Text 24"/>
          <p:cNvSpPr/>
          <p:nvPr/>
        </p:nvSpPr>
        <p:spPr>
          <a:xfrm>
            <a:off x="777240" y="6108192"/>
            <a:ext cx="8138160" cy="457200"/>
          </a:xfrm>
          <a:prstGeom prst="rect">
            <a:avLst/>
          </a:prstGeom>
          <a:noFill/>
          <a:ln/>
        </p:spPr>
        <p:txBody>
          <a:bodyPr wrap="square" lIns="0" tIns="0" rIns="0" bIns="0" rtlCol="0" anchor="ctr"/>
          <a:lstStyle/>
          <a:p>
            <a:pPr indent="0" marL="0">
              <a:buNone/>
            </a:pPr>
            <a:r>
              <a:rPr lang="en-US" sz="1250" b="1" dirty="0">
                <a:solidFill>
                  <a:srgbClr val="FFC72C"/>
                </a:solidFill>
                <a:latin typeface="Calibri" pitchFamily="34" charset="0"/>
                <a:ea typeface="Calibri" pitchFamily="34" charset="-122"/>
                <a:cs typeface="Calibri" pitchFamily="34" charset="-120"/>
              </a:rPr>
              <a:t>Until built &amp; approved:  </a:t>
            </a:r>
            <a:pPr indent="0" marL="0">
              <a:buNone/>
            </a:pPr>
            <a:r>
              <a:rPr lang="en-US" sz="1250" dirty="0">
                <a:solidFill>
                  <a:srgbClr val="E8EEF5"/>
                </a:solidFill>
                <a:latin typeface="Calibri" pitchFamily="34" charset="0"/>
                <a:ea typeface="Calibri" pitchFamily="34" charset="-122"/>
                <a:cs typeface="Calibri" pitchFamily="34" charset="-120"/>
              </a:rPr>
              <a:t>PDI email → Lindsay moves the machine by hand (~24 h). This flow replaces exactly that step.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DECISIONS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Where this leaves us</a:t>
            </a:r>
            <a:endParaRPr lang="en-US" sz="3200" dirty="0"/>
          </a:p>
        </p:txBody>
      </p:sp>
      <p:sp>
        <p:nvSpPr>
          <p:cNvPr id="4" name="Shape 2"/>
          <p:cNvSpPr/>
          <p:nvPr/>
        </p:nvSpPr>
        <p:spPr>
          <a:xfrm>
            <a:off x="548640" y="1600200"/>
            <a:ext cx="11064240" cy="896112"/>
          </a:xfrm>
          <a:prstGeom prst="roundRect">
            <a:avLst>
              <a:gd name="adj" fmla="val 8163"/>
            </a:avLst>
          </a:prstGeom>
          <a:solidFill>
            <a:srgbClr val="16283F"/>
          </a:solidFill>
          <a:ln w="12700">
            <a:solidFill>
              <a:srgbClr val="223650"/>
            </a:solidFill>
            <a:prstDash val="solid"/>
          </a:ln>
        </p:spPr>
      </p:sp>
      <p:sp>
        <p:nvSpPr>
          <p:cNvPr id="5" name="Shape 3"/>
          <p:cNvSpPr/>
          <p:nvPr/>
        </p:nvSpPr>
        <p:spPr>
          <a:xfrm>
            <a:off x="822960" y="1965960"/>
            <a:ext cx="164592" cy="164592"/>
          </a:xfrm>
          <a:prstGeom prst="ellipse">
            <a:avLst/>
          </a:prstGeom>
          <a:solidFill>
            <a:srgbClr val="34C759"/>
          </a:solidFill>
          <a:ln/>
        </p:spPr>
      </p:sp>
      <p:sp>
        <p:nvSpPr>
          <p:cNvPr id="6" name="Text 4"/>
          <p:cNvSpPr/>
          <p:nvPr/>
        </p:nvSpPr>
        <p:spPr>
          <a:xfrm>
            <a:off x="1143000" y="1728216"/>
            <a:ext cx="3566160" cy="640080"/>
          </a:xfrm>
          <a:prstGeom prst="rect">
            <a:avLst/>
          </a:prstGeom>
          <a:noFill/>
          <a:ln/>
        </p:spPr>
        <p:txBody>
          <a:bodyPr wrap="square" lIns="0" tIns="0" rIns="0" bIns="0" rtlCol="0" anchor="ctr"/>
          <a:lstStyle/>
          <a:p>
            <a:pPr indent="0" marL="0">
              <a:buNone/>
            </a:pPr>
            <a:r>
              <a:rPr lang="en-US" sz="1450" b="1" dirty="0">
                <a:solidFill>
                  <a:srgbClr val="34C759"/>
                </a:solidFill>
                <a:latin typeface="Calibri" pitchFamily="34" charset="0"/>
                <a:ea typeface="Calibri" pitchFamily="34" charset="-122"/>
                <a:cs typeface="Calibri" pitchFamily="34" charset="-120"/>
              </a:rPr>
              <a:t>Keep the inventory cadence</a:t>
            </a:r>
            <a:endParaRPr lang="en-US" sz="1450" dirty="0"/>
          </a:p>
        </p:txBody>
      </p:sp>
      <p:sp>
        <p:nvSpPr>
          <p:cNvPr id="7" name="Text 5"/>
          <p:cNvSpPr/>
          <p:nvPr/>
        </p:nvSpPr>
        <p:spPr>
          <a:xfrm>
            <a:off x="4846320" y="1691640"/>
            <a:ext cx="6537960" cy="713232"/>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50 Monday + 50 Wednesday continues; the ~718 backlog clears in roughly 7 weeks at this pace — or faster if subscription bandwidth allows</a:t>
            </a:r>
            <a:endParaRPr lang="en-US" sz="1250" dirty="0"/>
          </a:p>
        </p:txBody>
      </p:sp>
      <p:sp>
        <p:nvSpPr>
          <p:cNvPr id="8" name="Shape 6"/>
          <p:cNvSpPr/>
          <p:nvPr/>
        </p:nvSpPr>
        <p:spPr>
          <a:xfrm>
            <a:off x="548640" y="2642616"/>
            <a:ext cx="11064240" cy="896112"/>
          </a:xfrm>
          <a:prstGeom prst="roundRect">
            <a:avLst>
              <a:gd name="adj" fmla="val 8163"/>
            </a:avLst>
          </a:prstGeom>
          <a:solidFill>
            <a:srgbClr val="16283F"/>
          </a:solidFill>
          <a:ln w="12700">
            <a:solidFill>
              <a:srgbClr val="223650"/>
            </a:solidFill>
            <a:prstDash val="solid"/>
          </a:ln>
        </p:spPr>
      </p:sp>
      <p:sp>
        <p:nvSpPr>
          <p:cNvPr id="9" name="Shape 7"/>
          <p:cNvSpPr/>
          <p:nvPr/>
        </p:nvSpPr>
        <p:spPr>
          <a:xfrm>
            <a:off x="822960" y="3008376"/>
            <a:ext cx="164592" cy="164592"/>
          </a:xfrm>
          <a:prstGeom prst="ellipse">
            <a:avLst/>
          </a:prstGeom>
          <a:solidFill>
            <a:srgbClr val="FF5A5F"/>
          </a:solidFill>
          <a:ln/>
        </p:spPr>
      </p:sp>
      <p:sp>
        <p:nvSpPr>
          <p:cNvPr id="10" name="Text 8"/>
          <p:cNvSpPr/>
          <p:nvPr/>
        </p:nvSpPr>
        <p:spPr>
          <a:xfrm>
            <a:off x="1143000" y="2770632"/>
            <a:ext cx="3566160" cy="640080"/>
          </a:xfrm>
          <a:prstGeom prst="rect">
            <a:avLst/>
          </a:prstGeom>
          <a:noFill/>
          <a:ln/>
        </p:spPr>
        <p:txBody>
          <a:bodyPr wrap="square" lIns="0" tIns="0" rIns="0" bIns="0" rtlCol="0" anchor="ctr"/>
          <a:lstStyle/>
          <a:p>
            <a:pPr indent="0" marL="0">
              <a:buNone/>
            </a:pPr>
            <a:r>
              <a:rPr lang="en-US" sz="1450" b="1" dirty="0">
                <a:solidFill>
                  <a:srgbClr val="FF5A5F"/>
                </a:solidFill>
                <a:latin typeface="Calibri" pitchFamily="34" charset="0"/>
                <a:ea typeface="Calibri" pitchFamily="34" charset="-122"/>
                <a:cs typeface="Calibri" pitchFamily="34" charset="-120"/>
              </a:rPr>
              <a:t>Approve the reassignment lane</a:t>
            </a:r>
            <a:endParaRPr lang="en-US" sz="1450" dirty="0"/>
          </a:p>
        </p:txBody>
      </p:sp>
      <p:sp>
        <p:nvSpPr>
          <p:cNvPr id="11" name="Text 9"/>
          <p:cNvSpPr/>
          <p:nvPr/>
        </p:nvSpPr>
        <p:spPr>
          <a:xfrm>
            <a:off x="4846320" y="2734056"/>
            <a:ext cx="6537960" cy="713232"/>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723 CCID-proven wrong-customer machines, ready to work through the audited procedure — dry-run first, reviewed pace, same discipline as inventory</a:t>
            </a:r>
            <a:endParaRPr lang="en-US" sz="1250" dirty="0"/>
          </a:p>
        </p:txBody>
      </p:sp>
      <p:sp>
        <p:nvSpPr>
          <p:cNvPr id="12" name="Shape 10"/>
          <p:cNvSpPr/>
          <p:nvPr/>
        </p:nvSpPr>
        <p:spPr>
          <a:xfrm>
            <a:off x="548640" y="3685032"/>
            <a:ext cx="11064240" cy="896112"/>
          </a:xfrm>
          <a:prstGeom prst="roundRect">
            <a:avLst>
              <a:gd name="adj" fmla="val 8163"/>
            </a:avLst>
          </a:prstGeom>
          <a:solidFill>
            <a:srgbClr val="16283F"/>
          </a:solidFill>
          <a:ln w="12700">
            <a:solidFill>
              <a:srgbClr val="223650"/>
            </a:solidFill>
            <a:prstDash val="solid"/>
          </a:ln>
        </p:spPr>
      </p:sp>
      <p:sp>
        <p:nvSpPr>
          <p:cNvPr id="13" name="Shape 11"/>
          <p:cNvSpPr/>
          <p:nvPr/>
        </p:nvSpPr>
        <p:spPr>
          <a:xfrm>
            <a:off x="822960" y="4050792"/>
            <a:ext cx="164592" cy="164592"/>
          </a:xfrm>
          <a:prstGeom prst="ellipse">
            <a:avLst/>
          </a:prstGeom>
          <a:solidFill>
            <a:srgbClr val="FF9F1C"/>
          </a:solidFill>
          <a:ln/>
        </p:spPr>
      </p:sp>
      <p:sp>
        <p:nvSpPr>
          <p:cNvPr id="14" name="Text 12"/>
          <p:cNvSpPr/>
          <p:nvPr/>
        </p:nvSpPr>
        <p:spPr>
          <a:xfrm>
            <a:off x="1143000" y="3813048"/>
            <a:ext cx="3566160" cy="640080"/>
          </a:xfrm>
          <a:prstGeom prst="rect">
            <a:avLst/>
          </a:prstGeom>
          <a:noFill/>
          <a:ln/>
        </p:spPr>
        <p:txBody>
          <a:bodyPr wrap="square" lIns="0" tIns="0" rIns="0" bIns="0" rtlCol="0" anchor="ctr"/>
          <a:lstStyle/>
          <a:p>
            <a:pPr indent="0" marL="0">
              <a:buNone/>
            </a:pPr>
            <a:r>
              <a:rPr lang="en-US" sz="1450" b="1" dirty="0">
                <a:solidFill>
                  <a:srgbClr val="FF9F1C"/>
                </a:solidFill>
                <a:latin typeface="Calibri" pitchFamily="34" charset="0"/>
                <a:ea typeface="Calibri" pitchFamily="34" charset="-122"/>
                <a:cs typeface="Calibri" pitchFamily="34" charset="-120"/>
              </a:rPr>
              <a:t>The CCID gap is now a list, not a mystery</a:t>
            </a:r>
            <a:endParaRPr lang="en-US" sz="1450" dirty="0"/>
          </a:p>
        </p:txBody>
      </p:sp>
      <p:sp>
        <p:nvSpPr>
          <p:cNvPr id="15" name="Text 13"/>
          <p:cNvSpPr/>
          <p:nvPr/>
        </p:nvSpPr>
        <p:spPr>
          <a:xfrm>
            <a:off x="4846320" y="3776472"/>
            <a:ext cx="6537960" cy="713232"/>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84 machines whose customers are unknown to Cat's own master — named and counted; Customer Admin Tool work, and the exact customers phase two would stumble on</a:t>
            </a:r>
            <a:endParaRPr lang="en-US" sz="1250" dirty="0"/>
          </a:p>
        </p:txBody>
      </p:sp>
      <p:sp>
        <p:nvSpPr>
          <p:cNvPr id="16" name="Shape 14"/>
          <p:cNvSpPr/>
          <p:nvPr/>
        </p:nvSpPr>
        <p:spPr>
          <a:xfrm>
            <a:off x="548640" y="4727448"/>
            <a:ext cx="11064240" cy="896112"/>
          </a:xfrm>
          <a:prstGeom prst="roundRect">
            <a:avLst>
              <a:gd name="adj" fmla="val 8163"/>
            </a:avLst>
          </a:prstGeom>
          <a:solidFill>
            <a:srgbClr val="16283F"/>
          </a:solidFill>
          <a:ln w="12700">
            <a:solidFill>
              <a:srgbClr val="223650"/>
            </a:solidFill>
            <a:prstDash val="solid"/>
          </a:ln>
        </p:spPr>
      </p:sp>
      <p:sp>
        <p:nvSpPr>
          <p:cNvPr id="17" name="Shape 15"/>
          <p:cNvSpPr/>
          <p:nvPr/>
        </p:nvSpPr>
        <p:spPr>
          <a:xfrm>
            <a:off x="822960" y="5093208"/>
            <a:ext cx="164592" cy="164592"/>
          </a:xfrm>
          <a:prstGeom prst="ellipse">
            <a:avLst/>
          </a:prstGeom>
          <a:solidFill>
            <a:srgbClr val="4DA3FF"/>
          </a:solidFill>
          <a:ln/>
        </p:spPr>
      </p:sp>
      <p:sp>
        <p:nvSpPr>
          <p:cNvPr id="18" name="Text 16"/>
          <p:cNvSpPr/>
          <p:nvPr/>
        </p:nvSpPr>
        <p:spPr>
          <a:xfrm>
            <a:off x="1143000" y="4855464"/>
            <a:ext cx="3566160" cy="640080"/>
          </a:xfrm>
          <a:prstGeom prst="rect">
            <a:avLst/>
          </a:prstGeom>
          <a:noFill/>
          <a:ln/>
        </p:spPr>
        <p:txBody>
          <a:bodyPr wrap="square" lIns="0" tIns="0" rIns="0" bIns="0" rtlCol="0" anchor="ctr"/>
          <a:lstStyle/>
          <a:p>
            <a:pPr indent="0" marL="0">
              <a:buNone/>
            </a:pPr>
            <a:r>
              <a:rPr lang="en-US" sz="1450" b="1" dirty="0">
                <a:solidFill>
                  <a:srgbClr val="4DA3FF"/>
                </a:solidFill>
                <a:latin typeface="Calibri" pitchFamily="34" charset="0"/>
                <a:ea typeface="Calibri" pitchFamily="34" charset="-122"/>
                <a:cs typeface="Calibri" pitchFamily="34" charset="-120"/>
              </a:rPr>
              <a:t>Green-light phase two design</a:t>
            </a:r>
            <a:endParaRPr lang="en-US" sz="1450" dirty="0"/>
          </a:p>
        </p:txBody>
      </p:sp>
      <p:sp>
        <p:nvSpPr>
          <p:cNvPr id="19" name="Text 17"/>
          <p:cNvSpPr/>
          <p:nvPr/>
        </p:nvSpPr>
        <p:spPr>
          <a:xfrm>
            <a:off x="4846320" y="4818888"/>
            <a:ext cx="6537960" cy="713232"/>
          </a:xfrm>
          <a:prstGeom prst="rect">
            <a:avLst/>
          </a:prstGeom>
          <a:noFill/>
          <a:ln/>
        </p:spPr>
        <p:txBody>
          <a:bodyPr wrap="square" lIns="0" tIns="0" rIns="0" bIns="0" rtlCol="0" anchor="ctr"/>
          <a:lstStyle/>
          <a:p>
            <a:pPr indent="0" marL="0">
              <a:lnSpc>
                <a:spcPts val="1600"/>
              </a:lnSpc>
              <a:buNone/>
            </a:pPr>
            <a:r>
              <a:rPr lang="en-US" sz="1250" dirty="0">
                <a:solidFill>
                  <a:srgbClr val="E8EEF5"/>
                </a:solidFill>
                <a:latin typeface="Calibri" pitchFamily="34" charset="0"/>
                <a:ea typeface="Calibri" pitchFamily="34" charset="-122"/>
                <a:cs typeface="Calibri" pitchFamily="34" charset="-120"/>
              </a:rPr>
              <a:t>Detection runs, the CCID check exists, 180 machines are waiting — the build replaces a manual step Lindsay does today</a:t>
            </a:r>
            <a:endParaRPr lang="en-US" sz="1250" dirty="0"/>
          </a:p>
        </p:txBody>
      </p:sp>
      <p:sp>
        <p:nvSpPr>
          <p:cNvPr id="20" name="Text 18"/>
          <p:cNvSpPr/>
          <p:nvPr/>
        </p:nvSpPr>
        <p:spPr>
          <a:xfrm>
            <a:off x="548640" y="5943600"/>
            <a:ext cx="11064240" cy="457200"/>
          </a:xfrm>
          <a:prstGeom prst="rect">
            <a:avLst/>
          </a:prstGeom>
          <a:noFill/>
          <a:ln/>
        </p:spPr>
        <p:txBody>
          <a:bodyPr wrap="square" lIns="0" tIns="0" rIns="0" bIns="0" rtlCol="0" anchor="ctr"/>
          <a:lstStyle/>
          <a:p>
            <a:pPr algn="ctr" indent="0" marL="0">
              <a:buNone/>
            </a:pPr>
            <a:r>
              <a:rPr lang="en-US" sz="1600" b="1" dirty="0">
                <a:solidFill>
                  <a:srgbClr val="FFC72C"/>
                </a:solidFill>
                <a:latin typeface="Calibri" pitchFamily="34" charset="0"/>
                <a:ea typeface="Calibri" pitchFamily="34" charset="-122"/>
                <a:cs typeface="Calibri" pitchFamily="34" charset="-120"/>
              </a:rPr>
              <a:t>The system sorts every machine. People decide only the ones that need judgment.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2026-08-14T16:16:40Z</dcterms:created>
  <dcterms:modified xsi:type="dcterms:W3CDTF">2026-08-14T16:16:40Z</dcterms:modified>
</cp:coreProperties>
</file>