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3462" autoAdjust="0"/>
  </p:normalViewPr>
  <p:slideViewPr>
    <p:cSldViewPr snapToGrid="0" snapToObjects="1">
      <p:cViewPr varScale="1">
        <p:scale>
          <a:sx n="103" d="100"/>
          <a:sy n="103" d="100"/>
        </p:scale>
        <p:origin x="876" y="114"/>
      </p:cViewPr>
      <p:guideLst/>
    </p:cSldViewPr>
  </p:slideViewPr>
  <p:notesTextViewPr>
    <p:cViewPr>
      <p:scale>
        <a:sx n="1" d="1"/>
        <a:sy n="1" d="1"/>
      </p:scale>
      <p:origin x="0" y="-2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711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Good morning. This is about a problem every dealer has: our equipment records and Caterpillar's official ownership registry, CCAT, drift apart. Machines missing, machines on the wrong customer, machines another dealer still claims. What I'll show you is the system we built inside Snowflake, which we already own, that finds every one of those differences, fixes the safe ones automatically, routes the risky ones to people, and keeps permanent proof of everything. CUE: The six dots are the six outcomes a machine can have. They'll come back on slide 5.</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Before the how, the why. Caterpillar grades us on two things that both come down to data quality. Trifecta is their combined score across customer, contact, and equipment: and it is strict: a customer only counts when every leg passes, including one hundred percent asset match on priority assets. Our asset match sits around ninety-three percent, it is the leg our governance team is actively focused on, and today it is maintained by hand. DNA is the alerting side: Caterpillar flags our data issues and grades how well we resolve them. Together that is a quarter of the dealer excellence scorecard riding on whether our ownership records match reality. CUE: land on the banner: both metrics stand on CCAT ownership records: which is exactly what this project manages.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how does the asset management work move those needles? Line by line: machines Caterpillar has no record of get added, correctly, with an audit trail: they enter the population on the right customer. Machines sitting on the wrong customer get reassigned: and that is precisely the defect that breaks asset match. Machines other dealers still claim get resolved through reviewed transfers: gaps that no amount of manual data entry could fix from our side. And the biggest shift: what is manual upkeep today becomes a pipeline: detection every night, fixes that audit themselves, and alert causes removed before Caterpillar ever flags them. CUE: the leverage point on the banner: Trifecta counts customers, not machines. One wrong machine fails the whole customer, so one fixed machine can flip an entire customer back to valid. That is why per-machine work moves a customer-level score. TRANSITION: with the why on the table, here is the system.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parts. DETECT: every night, a read-only process checks machines against Caterpillar's live system and classifies each one. It cannot write anything, so it is zero risk. ACT: when something needs fixing, it goes through purpose-built Snowflake procedures that preview every change before sending it and refuse anything unsafe on their own. PROVE: two permanent tables record everything: what we did, and what the data looked like at every point in time. CUE: Land on the bottom banner: the same sweep that finds problems verifies our fixes. The system never grades its own homework.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sweep asks Caterpillar one question per machine: what do you have for this serial? Then it compares the answer to our records field by field. The clever part is what it does NOT do: it remembers every machine it has verified and skips anything that has not changed, so we are not hammering Caterpillar's API with repeat questions. A machine only gets re-checked when there is a reason. NUMBERS: under a second per machine; 10000 thousand a night is </a:t>
            </a:r>
            <a:r>
              <a:rPr lang="en-US"/>
              <a:t>about twenty-five </a:t>
            </a:r>
            <a:r>
              <a:rPr lang="en-US" dirty="0"/>
              <a:t>minutes. Full active fleet coverage builds over a few weeks and then maintains itself. IF ASKED: it runs on a warehouse we already pay for; the marginal cost is effectively zero.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Think of these as the to-do lists the sweep maintains. MISSING is the pipeline for adds and transfers: machines Caterpillar has nothing for under our dealer code. NON_MATCHING is machines we hold where a detail differs. ERRORS is deliberately separate: if a lookup fails, we record the failure, never a false conclusion. A failed check is never mistaken for a missing machine. And CHECK_STATE is the memory: one row per machine, its verdict, and when we last looked. That memory is what keeps the nightly sweep cheap and what powers the dashboard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colors are ordered by blast radius: who else can see what we do. Green through orange, nobody outside the company is affected, which is why those can be automated with volume caps. Red is the only lane other dealers can see, and that is exactly the lane where a person reviews every single item. Gray is worth a word: some model names will always differ because Caterpillar's version is the official one, so we report those and deliberately do nothing. That is why the goal is the right customer on every machine, not a cosmetic one hundred percent match. CUE: The dashboard query on the right is live in Snowflake, filterable by phase, exportable to Excel.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Rather than walk you through the rules, let three real machines show you. INTRO LINE: This is eighty-three seconds; the narrator does the work. CUE: Click the video, let it play fully, do not talk over it. It covers: a new excavator landing in the safe add bucket, a dozer with an old rental record elsewhere landing in the quiet add bucket, and a machine another dealer actively owns landing in reviewed transfer. AFTER: The serials in that video are real machines from our fleet; the excavator was actually added to CCAT through this system last week.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When we act, there is exactly one sanctioned door: purpose-built procedures, one per action type. You give them a serial number; they pull everything else themselves, search Caterpillar live, and refuse anything outside their lane: the record already exists, another dealer owns it, it is an attachment with a made-up serial, or Caterpillar already rejected that serial once. By default they are in preview mode: they show exactly what would be sent and send nothing. Executing is a deliberate second step. CUE payload rule: this came from our own data review with Vinod and Michele: Caterpillar's model names are the ones their systems recognize, so we never overwrite them with ours. CUE raw tools: the low-level API tools still exist for diagnostics, but nobody will ever be granted them: only the audited wrappers.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action, executed or failed, writes one audit row: what we did, to which machine, the customer before and after, the exact payload we sent, Caterpillar's full response, and their tracking ID, which means Cat support can trace any call we ever made. It also stores a snapshot of what Caterpillar had immediately before we acted, so if anything ever needs unwinding, we know exactly what to restore. CUE right panel: append-only is not a policy we promise to follow; it is enforced by database permissions. The tooling can add rows and read rows. It physically cannot edit or delete them. IF ASKED who and when: every row carries user, timestamp, and shift date: that is where per-shift reporting comes from.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History answers a different question: not what did we do, but what did the data look like, at every point, no matter who changed it. Every time we look at a machine, we fingerprint Caterpillar's full answer. If the fingerprint matches the last one, we store nothing. If it changed, we store the complete snapshot. So a machine checked fifty times with no change costs one row: history only grows when reality changes. CUE: This costs zero extra API calls: it is built entirely from answers the sweep was already fetching and throwing away. NICE DETAIL if time: even no records at all counts as a version, so a machine appearing in or vanishing from CCAT leaves a trail.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Here is why having both matters. Audit is what we did. History is what the data was. Subtract one from the other and you get something we have never had before: external changes. If history shows a machine's record changed and there is no audit row from us around that time, then Caterpillar's systems, another dealer, or someone in a portal changed it: and now we see it instead of discovering it months later. CUE: pause on the banner: this is the class of change that used to be completely invisible to us. IF ASKED for an example: another dealer filing a transfer request against one of our machines shows up this way within a day.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Day to day it looks like this. Nightly, the sweep runs by itself: read-only, no supervision needed. Weekly, the safe piles get worked in capped batches: adds and quiet fixes, the work nobody else can see. And every shift, about ten reviewed decisions: the transfers and judgment calls: each one audited as it happens. CUE metrics: the headline number is deliberately not the match rate: it is the customer assignment rate, the percentage of machines sitting on the correct customer in Caterpillar's system: because that is the outcome the business asked for. Everything else is supporting detail. ASK if appropriate: the one approval this slide needs is scheduling the nightly sweep as an automated task.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I will not read all six: three matter most. No bulk claims, ever: a blanket push would fire formal transfer requests at real dealers across the network and can silently overwrite our own records: the system is built so that shortcut is impossible, not just discouraged. Shared customers are excluded automatically: when another dealer serves the same national account, the machine routes to a conversation, never a claim. And production awareness: Caterpillar has no test environment, so every write is treated as real, previewed first, and logged. CUE: these guardrails travel with the tools themselves: they apply no matter who eventually gets access.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Being straight about status. Everything on the left is not a plan: it is running. The sweep has checked thousands of machines. Real equipment has been added to Caterpillar's production system through the audited procedures, with the audit rows to show for it. The right column is scheduling and scale, not invention: the nightly task is a small script; the batch runner and the remaining wrappers reuse patterns already proven; access roles are written and waiting on rollout approval. CUE: the honest framing is: the engineering risk is behind us: what remains is operational rollout.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One sentence to remember: the system sorts every machine; people decide only the ones that need judgment. That is the whole design: automation where it is safe, human judgment where it matters, and a permanent record of both. Happy to take questions: and if you want the detail behind any slide, the rollout plan document and the SQL reference carry all of it. CLOSE: the decisions I need from this room are the four in the rollout plan: approve the phased order, the nightly job, the pilot batches, and the review staffing.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914400"/>
          </a:xfrm>
          <a:prstGeom prst="rect">
            <a:avLst/>
          </a:prstGeom>
          <a:noFill/>
          <a:ln/>
        </p:spPr>
        <p:txBody>
          <a:bodyPr wrap="square" lIns="0" tIns="0" rIns="0" bIns="0" rtlCol="0" anchor="ctr"/>
          <a:lstStyle/>
          <a:p>
            <a:pPr marL="0" indent="0">
              <a:buNone/>
            </a:pPr>
            <a:r>
              <a:rPr lang="en-US" sz="4400" b="1" dirty="0">
                <a:solidFill>
                  <a:srgbClr val="E8EEF5"/>
                </a:solidFill>
                <a:latin typeface="Calibri" pitchFamily="34" charset="0"/>
                <a:ea typeface="Calibri" pitchFamily="34" charset="-122"/>
                <a:cs typeface="Calibri" pitchFamily="34" charset="-120"/>
              </a:rPr>
              <a:t>CCAT Reconciliation in Snowflake</a:t>
            </a:r>
            <a:endParaRPr lang="en-US" sz="4400" dirty="0"/>
          </a:p>
        </p:txBody>
      </p:sp>
      <p:sp>
        <p:nvSpPr>
          <p:cNvPr id="3" name="Text 1"/>
          <p:cNvSpPr/>
          <p:nvPr/>
        </p:nvSpPr>
        <p:spPr>
          <a:xfrm>
            <a:off x="822960" y="2926080"/>
            <a:ext cx="10058400" cy="548640"/>
          </a:xfrm>
          <a:prstGeom prst="rect">
            <a:avLst/>
          </a:prstGeom>
          <a:noFill/>
          <a:ln/>
        </p:spPr>
        <p:txBody>
          <a:bodyPr wrap="square" lIns="0" tIns="0" rIns="0" bIns="0" rtlCol="0" anchor="ctr"/>
          <a:lstStyle/>
          <a:p>
            <a:pPr marL="0" indent="0">
              <a:buNone/>
            </a:pPr>
            <a:r>
              <a:rPr lang="en-US" sz="2000" dirty="0">
                <a:solidFill>
                  <a:srgbClr val="9FB3C8"/>
                </a:solidFill>
                <a:latin typeface="Calibri" pitchFamily="34" charset="0"/>
                <a:ea typeface="Calibri" pitchFamily="34" charset="-122"/>
                <a:cs typeface="Calibri" pitchFamily="34" charset="-120"/>
              </a:rPr>
              <a:t>Detect, fix, and prove it: keeping our equipment records and Caterpillar's registry in sync</a:t>
            </a:r>
            <a:endParaRPr lang="en-US" sz="2000" dirty="0"/>
          </a:p>
        </p:txBody>
      </p:sp>
      <p:sp>
        <p:nvSpPr>
          <p:cNvPr id="4" name="Shape 2"/>
          <p:cNvSpPr/>
          <p:nvPr/>
        </p:nvSpPr>
        <p:spPr>
          <a:xfrm>
            <a:off x="868680" y="3703320"/>
            <a:ext cx="182880" cy="182880"/>
          </a:xfrm>
          <a:prstGeom prst="ellipse">
            <a:avLst/>
          </a:prstGeom>
          <a:solidFill>
            <a:srgbClr val="34C759"/>
          </a:solidFill>
          <a:ln/>
        </p:spPr>
        <p:txBody>
          <a:bodyPr/>
          <a:lstStyle/>
          <a:p>
            <a:endParaRPr lang="en-US"/>
          </a:p>
        </p:txBody>
      </p:sp>
      <p:sp>
        <p:nvSpPr>
          <p:cNvPr id="5" name="Shape 3"/>
          <p:cNvSpPr/>
          <p:nvPr/>
        </p:nvSpPr>
        <p:spPr>
          <a:xfrm>
            <a:off x="1179576" y="3703320"/>
            <a:ext cx="182880" cy="182880"/>
          </a:xfrm>
          <a:prstGeom prst="ellipse">
            <a:avLst/>
          </a:prstGeom>
          <a:solidFill>
            <a:srgbClr val="4DA3FF"/>
          </a:solidFill>
          <a:ln/>
        </p:spPr>
        <p:txBody>
          <a:bodyPr/>
          <a:lstStyle/>
          <a:p>
            <a:endParaRPr lang="en-US"/>
          </a:p>
        </p:txBody>
      </p:sp>
      <p:sp>
        <p:nvSpPr>
          <p:cNvPr id="6" name="Shape 4"/>
          <p:cNvSpPr/>
          <p:nvPr/>
        </p:nvSpPr>
        <p:spPr>
          <a:xfrm>
            <a:off x="1490472" y="3703320"/>
            <a:ext cx="182880" cy="182880"/>
          </a:xfrm>
          <a:prstGeom prst="ellipse">
            <a:avLst/>
          </a:prstGeom>
          <a:solidFill>
            <a:srgbClr val="2EC4B6"/>
          </a:solidFill>
          <a:ln/>
        </p:spPr>
        <p:txBody>
          <a:bodyPr/>
          <a:lstStyle/>
          <a:p>
            <a:endParaRPr lang="en-US"/>
          </a:p>
        </p:txBody>
      </p:sp>
      <p:sp>
        <p:nvSpPr>
          <p:cNvPr id="7" name="Shape 5"/>
          <p:cNvSpPr/>
          <p:nvPr/>
        </p:nvSpPr>
        <p:spPr>
          <a:xfrm>
            <a:off x="1801368" y="3703320"/>
            <a:ext cx="182880" cy="182880"/>
          </a:xfrm>
          <a:prstGeom prst="ellipse">
            <a:avLst/>
          </a:prstGeom>
          <a:solidFill>
            <a:srgbClr val="FF9F1C"/>
          </a:solidFill>
          <a:ln/>
        </p:spPr>
        <p:txBody>
          <a:bodyPr/>
          <a:lstStyle/>
          <a:p>
            <a:endParaRPr lang="en-US"/>
          </a:p>
        </p:txBody>
      </p:sp>
      <p:sp>
        <p:nvSpPr>
          <p:cNvPr id="8" name="Shape 6"/>
          <p:cNvSpPr/>
          <p:nvPr/>
        </p:nvSpPr>
        <p:spPr>
          <a:xfrm>
            <a:off x="2112264" y="3703320"/>
            <a:ext cx="182880" cy="182880"/>
          </a:xfrm>
          <a:prstGeom prst="ellipse">
            <a:avLst/>
          </a:prstGeom>
          <a:solidFill>
            <a:srgbClr val="FF5A5F"/>
          </a:solidFill>
          <a:ln/>
        </p:spPr>
        <p:txBody>
          <a:bodyPr/>
          <a:lstStyle/>
          <a:p>
            <a:endParaRPr lang="en-US"/>
          </a:p>
        </p:txBody>
      </p:sp>
      <p:sp>
        <p:nvSpPr>
          <p:cNvPr id="9" name="Shape 7"/>
          <p:cNvSpPr/>
          <p:nvPr/>
        </p:nvSpPr>
        <p:spPr>
          <a:xfrm>
            <a:off x="2423160" y="3703320"/>
            <a:ext cx="182880" cy="182880"/>
          </a:xfrm>
          <a:prstGeom prst="ellipse">
            <a:avLst/>
          </a:prstGeom>
          <a:solidFill>
            <a:srgbClr val="FFC72C"/>
          </a:solidFill>
          <a:ln/>
        </p:spPr>
        <p:txBody>
          <a:bodyPr/>
          <a:lstStyle/>
          <a:p>
            <a:endParaRPr lang="en-US"/>
          </a:p>
        </p:txBody>
      </p:sp>
      <p:sp>
        <p:nvSpPr>
          <p:cNvPr id="10" name="Text 8"/>
          <p:cNvSpPr/>
          <p:nvPr/>
        </p:nvSpPr>
        <p:spPr>
          <a:xfrm>
            <a:off x="822960" y="6126480"/>
            <a:ext cx="7315200" cy="365760"/>
          </a:xfrm>
          <a:prstGeom prst="rect">
            <a:avLst/>
          </a:prstGeom>
          <a:noFill/>
          <a:ln/>
        </p:spPr>
        <p:txBody>
          <a:bodyPr wrap="square" lIns="0" tIns="0" rIns="0" bIns="0" rtlCol="0" anchor="ctr"/>
          <a:lstStyle/>
          <a:p>
            <a:pPr marL="0" indent="0">
              <a:buNone/>
            </a:pPr>
            <a:r>
              <a:rPr lang="en-US" sz="1300" dirty="0">
                <a:solidFill>
                  <a:srgbClr val="9FB3C8"/>
                </a:solidFill>
                <a:latin typeface="Calibri" pitchFamily="34" charset="0"/>
                <a:ea typeface="Calibri" pitchFamily="34" charset="-122"/>
                <a:cs typeface="Calibri" pitchFamily="34" charset="-120"/>
              </a:rPr>
              <a:t>Cleveland Brothers  ·  Data &amp; Analytics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scoreboard this feeds: Trifecta and DNA</a:t>
            </a:r>
            <a:endParaRPr lang="en-US" sz="3200" dirty="0"/>
          </a:p>
        </p:txBody>
      </p:sp>
      <p:sp>
        <p:nvSpPr>
          <p:cNvPr id="4" name="Shape 2"/>
          <p:cNvSpPr/>
          <p:nvPr/>
        </p:nvSpPr>
        <p:spPr>
          <a:xfrm>
            <a:off x="548640" y="1554480"/>
            <a:ext cx="5394960" cy="3794760"/>
          </a:xfrm>
          <a:prstGeom prst="roundRect">
            <a:avLst>
              <a:gd name="adj" fmla="val 1928"/>
            </a:avLst>
          </a:prstGeom>
          <a:solidFill>
            <a:srgbClr val="16283F"/>
          </a:solidFill>
          <a:ln w="12700">
            <a:solidFill>
              <a:srgbClr val="223650"/>
            </a:solidFill>
            <a:prstDash val="solid"/>
          </a:ln>
        </p:spPr>
        <p:txBody>
          <a:bodyPr/>
          <a:lstStyle/>
          <a:p>
            <a:endParaRPr lang="en-US"/>
          </a:p>
        </p:txBody>
      </p:sp>
      <p:sp>
        <p:nvSpPr>
          <p:cNvPr id="5" name="Text 3"/>
          <p:cNvSpPr/>
          <p:nvPr/>
        </p:nvSpPr>
        <p:spPr>
          <a:xfrm>
            <a:off x="822960" y="1783080"/>
            <a:ext cx="4754880" cy="365760"/>
          </a:xfrm>
          <a:prstGeom prst="rect">
            <a:avLst/>
          </a:prstGeom>
          <a:noFill/>
          <a:ln/>
        </p:spPr>
        <p:txBody>
          <a:bodyPr wrap="square" lIns="0" tIns="0" rIns="0" bIns="0" rtlCol="0" anchor="ctr"/>
          <a:lstStyle/>
          <a:p>
            <a:pPr marL="0" indent="0">
              <a:buNone/>
            </a:pPr>
            <a:r>
              <a:rPr lang="en-US" sz="1800" b="1" dirty="0">
                <a:solidFill>
                  <a:srgbClr val="FFC72C"/>
                </a:solidFill>
                <a:latin typeface="Calibri" pitchFamily="34" charset="0"/>
                <a:ea typeface="Calibri" pitchFamily="34" charset="-122"/>
                <a:cs typeface="Calibri" pitchFamily="34" charset="-120"/>
              </a:rPr>
              <a:t>TRIFECTA</a:t>
            </a:r>
            <a:endParaRPr lang="en-US" sz="1800" dirty="0"/>
          </a:p>
        </p:txBody>
      </p:sp>
      <p:sp>
        <p:nvSpPr>
          <p:cNvPr id="6" name="Text 4"/>
          <p:cNvSpPr/>
          <p:nvPr/>
        </p:nvSpPr>
        <p:spPr>
          <a:xfrm>
            <a:off x="822960" y="2212848"/>
            <a:ext cx="4846320" cy="10515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Caterpillar's data-quality score. A customer only counts as valid when ALL legs pass: CCID, company data, a valid contact, and 100% asset match on priority assets.</a:t>
            </a:r>
            <a:endParaRPr lang="en-US" sz="1350" dirty="0"/>
          </a:p>
        </p:txBody>
      </p:sp>
      <p:sp>
        <p:nvSpPr>
          <p:cNvPr id="7" name="Text 5"/>
          <p:cNvSpPr/>
          <p:nvPr/>
        </p:nvSpPr>
        <p:spPr>
          <a:xfrm>
            <a:off x="822960" y="3383280"/>
            <a:ext cx="2194560" cy="640080"/>
          </a:xfrm>
          <a:prstGeom prst="rect">
            <a:avLst/>
          </a:prstGeom>
          <a:noFill/>
          <a:ln/>
        </p:spPr>
        <p:txBody>
          <a:bodyPr wrap="square" lIns="0" tIns="0" rIns="0" bIns="0" rtlCol="0" anchor="ctr"/>
          <a:lstStyle/>
          <a:p>
            <a:pPr marL="0" indent="0">
              <a:buNone/>
            </a:pPr>
            <a:r>
              <a:rPr lang="en-US" sz="4000" b="1" dirty="0">
                <a:solidFill>
                  <a:srgbClr val="FF9F1C"/>
                </a:solidFill>
                <a:latin typeface="Calibri" pitchFamily="34" charset="0"/>
                <a:ea typeface="Calibri" pitchFamily="34" charset="-122"/>
                <a:cs typeface="Calibri" pitchFamily="34" charset="-120"/>
              </a:rPr>
              <a:t>92.8%</a:t>
            </a:r>
            <a:endParaRPr lang="en-US" sz="4000" dirty="0"/>
          </a:p>
        </p:txBody>
      </p:sp>
      <p:sp>
        <p:nvSpPr>
          <p:cNvPr id="8" name="Text 6"/>
          <p:cNvSpPr/>
          <p:nvPr/>
        </p:nvSpPr>
        <p:spPr>
          <a:xfrm>
            <a:off x="3017520" y="3401568"/>
            <a:ext cx="2697480" cy="1188720"/>
          </a:xfrm>
          <a:prstGeom prst="rect">
            <a:avLst/>
          </a:prstGeom>
          <a:noFill/>
          <a:ln/>
        </p:spPr>
        <p:txBody>
          <a:bodyPr wrap="square" lIns="0" tIns="0" rIns="0" bIns="0" rtlCol="0" anchor="ctr"/>
          <a:lstStyle/>
          <a:p>
            <a:pPr marL="0" indent="0">
              <a:lnSpc>
                <a:spcPts val="1600"/>
              </a:lnSpc>
              <a:buNone/>
            </a:pPr>
            <a:r>
              <a:rPr lang="en-US" sz="1250" dirty="0">
                <a:solidFill>
                  <a:srgbClr val="9FB3C8"/>
                </a:solidFill>
                <a:latin typeface="Calibri" pitchFamily="34" charset="0"/>
                <a:ea typeface="Calibri" pitchFamily="34" charset="-122"/>
                <a:cs typeface="Calibri" pitchFamily="34" charset="-120"/>
              </a:rPr>
              <a:t>asset match conformance (2025 baseline) — the leg our data governance team is focused on, and the one still maintained by hand today</a:t>
            </a:r>
            <a:endParaRPr lang="en-US" sz="1250" dirty="0"/>
          </a:p>
        </p:txBody>
      </p:sp>
      <p:sp>
        <p:nvSpPr>
          <p:cNvPr id="9" name="Text 7"/>
          <p:cNvSpPr/>
          <p:nvPr/>
        </p:nvSpPr>
        <p:spPr>
          <a:xfrm>
            <a:off x="822960" y="4800600"/>
            <a:ext cx="4846320" cy="365760"/>
          </a:xfrm>
          <a:prstGeom prst="rect">
            <a:avLst/>
          </a:prstGeom>
          <a:noFill/>
          <a:ln/>
        </p:spPr>
        <p:txBody>
          <a:bodyPr wrap="square" lIns="0" tIns="0" rIns="0" bIns="0" rtlCol="0" anchor="ctr"/>
          <a:lstStyle/>
          <a:p>
            <a:pPr marL="0" indent="0">
              <a:buNone/>
            </a:pPr>
            <a:r>
              <a:rPr lang="en-US" sz="1350" b="1" dirty="0">
                <a:solidFill>
                  <a:srgbClr val="E8EEF5"/>
                </a:solidFill>
                <a:latin typeface="Calibri" pitchFamily="34" charset="0"/>
                <a:ea typeface="Calibri" pitchFamily="34" charset="-122"/>
                <a:cs typeface="Calibri" pitchFamily="34" charset="-120"/>
              </a:rPr>
              <a:t>Worth 15% of the dealer excellence scorecard</a:t>
            </a:r>
            <a:endParaRPr lang="en-US" sz="1350" dirty="0"/>
          </a:p>
        </p:txBody>
      </p:sp>
      <p:sp>
        <p:nvSpPr>
          <p:cNvPr id="10" name="Shape 8"/>
          <p:cNvSpPr/>
          <p:nvPr/>
        </p:nvSpPr>
        <p:spPr>
          <a:xfrm>
            <a:off x="6217920" y="1554480"/>
            <a:ext cx="5394960" cy="3794760"/>
          </a:xfrm>
          <a:prstGeom prst="roundRect">
            <a:avLst>
              <a:gd name="adj" fmla="val 1928"/>
            </a:avLst>
          </a:prstGeom>
          <a:solidFill>
            <a:srgbClr val="16283F"/>
          </a:solidFill>
          <a:ln w="12700">
            <a:solidFill>
              <a:srgbClr val="223650"/>
            </a:solidFill>
            <a:prstDash val="solid"/>
          </a:ln>
        </p:spPr>
        <p:txBody>
          <a:bodyPr/>
          <a:lstStyle/>
          <a:p>
            <a:endParaRPr lang="en-US"/>
          </a:p>
        </p:txBody>
      </p:sp>
      <p:sp>
        <p:nvSpPr>
          <p:cNvPr id="11" name="Text 9"/>
          <p:cNvSpPr/>
          <p:nvPr/>
        </p:nvSpPr>
        <p:spPr>
          <a:xfrm>
            <a:off x="6492240" y="1783080"/>
            <a:ext cx="4754880" cy="365760"/>
          </a:xfrm>
          <a:prstGeom prst="rect">
            <a:avLst/>
          </a:prstGeom>
          <a:noFill/>
          <a:ln/>
        </p:spPr>
        <p:txBody>
          <a:bodyPr wrap="square" lIns="0" tIns="0" rIns="0" bIns="0" rtlCol="0" anchor="ctr"/>
          <a:lstStyle/>
          <a:p>
            <a:pPr marL="0" indent="0">
              <a:buNone/>
            </a:pPr>
            <a:r>
              <a:rPr lang="en-US" sz="1800" b="1" dirty="0">
                <a:solidFill>
                  <a:srgbClr val="2EC4B6"/>
                </a:solidFill>
                <a:latin typeface="Calibri" pitchFamily="34" charset="0"/>
                <a:ea typeface="Calibri" pitchFamily="34" charset="-122"/>
                <a:cs typeface="Calibri" pitchFamily="34" charset="-120"/>
              </a:rPr>
              <a:t>DNA — DATA NOTIFICATION ALERTS</a:t>
            </a:r>
            <a:endParaRPr lang="en-US" sz="1800" dirty="0"/>
          </a:p>
        </p:txBody>
      </p:sp>
      <p:sp>
        <p:nvSpPr>
          <p:cNvPr id="12" name="Text 10"/>
          <p:cNvSpPr/>
          <p:nvPr/>
        </p:nvSpPr>
        <p:spPr>
          <a:xfrm>
            <a:off x="6492240" y="2212848"/>
            <a:ext cx="4846320" cy="10515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Caterpillar flags our prioritized data issues — asset alerts and customer alerts — sends us the top ones by value, and grades how well we resolve them.</a:t>
            </a:r>
            <a:endParaRPr lang="en-US" sz="1350" dirty="0"/>
          </a:p>
        </p:txBody>
      </p:sp>
      <p:sp>
        <p:nvSpPr>
          <p:cNvPr id="13" name="Text 11"/>
          <p:cNvSpPr/>
          <p:nvPr/>
        </p:nvSpPr>
        <p:spPr>
          <a:xfrm>
            <a:off x="6492240" y="3383280"/>
            <a:ext cx="1828800" cy="640080"/>
          </a:xfrm>
          <a:prstGeom prst="rect">
            <a:avLst/>
          </a:prstGeom>
          <a:noFill/>
          <a:ln/>
        </p:spPr>
        <p:txBody>
          <a:bodyPr wrap="square" lIns="0" tIns="0" rIns="0" bIns="0" rtlCol="0" anchor="ctr"/>
          <a:lstStyle/>
          <a:p>
            <a:pPr marL="0" indent="0">
              <a:buNone/>
            </a:pPr>
            <a:r>
              <a:rPr lang="en-US" sz="4000" b="1" dirty="0">
                <a:solidFill>
                  <a:srgbClr val="2EC4B6"/>
                </a:solidFill>
                <a:latin typeface="Calibri" pitchFamily="34" charset="0"/>
                <a:ea typeface="Calibri" pitchFamily="34" charset="-122"/>
                <a:cs typeface="Calibri" pitchFamily="34" charset="-120"/>
              </a:rPr>
              <a:t>10%</a:t>
            </a:r>
            <a:endParaRPr lang="en-US" sz="4000" dirty="0"/>
          </a:p>
        </p:txBody>
      </p:sp>
      <p:sp>
        <p:nvSpPr>
          <p:cNvPr id="14" name="Text 12"/>
          <p:cNvSpPr/>
          <p:nvPr/>
        </p:nvSpPr>
        <p:spPr>
          <a:xfrm>
            <a:off x="8412480" y="3401568"/>
            <a:ext cx="2788920" cy="1188720"/>
          </a:xfrm>
          <a:prstGeom prst="rect">
            <a:avLst/>
          </a:prstGeom>
          <a:noFill/>
          <a:ln/>
        </p:spPr>
        <p:txBody>
          <a:bodyPr wrap="square" lIns="0" tIns="0" rIns="0" bIns="0" rtlCol="0" anchor="ctr"/>
          <a:lstStyle/>
          <a:p>
            <a:pPr marL="0" indent="0">
              <a:lnSpc>
                <a:spcPts val="1600"/>
              </a:lnSpc>
              <a:buNone/>
            </a:pPr>
            <a:r>
              <a:rPr lang="en-US" sz="1250" dirty="0">
                <a:solidFill>
                  <a:srgbClr val="9FB3C8"/>
                </a:solidFill>
                <a:latin typeface="Calibri" pitchFamily="34" charset="0"/>
                <a:ea typeface="Calibri" pitchFamily="34" charset="-122"/>
                <a:cs typeface="Calibri" pitchFamily="34" charset="-120"/>
              </a:rPr>
              <a:t>of the scorecard rides on DNA resolution — and many of the asset alerts trace back to the same root cause: ownership records that do not match reality</a:t>
            </a:r>
            <a:endParaRPr lang="en-US" sz="1250" dirty="0"/>
          </a:p>
        </p:txBody>
      </p:sp>
      <p:sp>
        <p:nvSpPr>
          <p:cNvPr id="15" name="Shape 13"/>
          <p:cNvSpPr/>
          <p:nvPr/>
        </p:nvSpPr>
        <p:spPr>
          <a:xfrm>
            <a:off x="548640" y="5577840"/>
            <a:ext cx="11064240" cy="777240"/>
          </a:xfrm>
          <a:prstGeom prst="roundRect">
            <a:avLst>
              <a:gd name="adj" fmla="val 9412"/>
            </a:avLst>
          </a:prstGeom>
          <a:solidFill>
            <a:srgbClr val="12314A"/>
          </a:solidFill>
          <a:ln w="12700">
            <a:solidFill>
              <a:srgbClr val="223650"/>
            </a:solidFill>
            <a:prstDash val="solid"/>
          </a:ln>
        </p:spPr>
        <p:txBody>
          <a:bodyPr/>
          <a:lstStyle/>
          <a:p>
            <a:endParaRPr lang="en-US"/>
          </a:p>
        </p:txBody>
      </p:sp>
      <p:sp>
        <p:nvSpPr>
          <p:cNvPr id="16" name="Text 14"/>
          <p:cNvSpPr/>
          <p:nvPr/>
        </p:nvSpPr>
        <p:spPr>
          <a:xfrm>
            <a:off x="822960" y="5742432"/>
            <a:ext cx="10561320" cy="502920"/>
          </a:xfrm>
          <a:prstGeom prst="rect">
            <a:avLst/>
          </a:prstGeom>
          <a:noFill/>
          <a:ln/>
        </p:spPr>
        <p:txBody>
          <a:bodyPr wrap="square" lIns="0" tIns="0" rIns="0" bIns="0" rtlCol="0" anchor="ctr"/>
          <a:lstStyle/>
          <a:p>
            <a:pPr marL="0" indent="0">
              <a:buNone/>
            </a:pPr>
            <a:r>
              <a:rPr lang="en-US" sz="1500" b="1" dirty="0">
                <a:solidFill>
                  <a:srgbClr val="FFC72C"/>
                </a:solidFill>
                <a:latin typeface="Calibri" pitchFamily="34" charset="0"/>
                <a:ea typeface="Calibri" pitchFamily="34" charset="-122"/>
                <a:cs typeface="Calibri" pitchFamily="34" charset="-120"/>
              </a:rPr>
              <a:t>Both metrics stand on the same ground:  </a:t>
            </a:r>
            <a:r>
              <a:rPr lang="en-US" sz="1500" dirty="0">
                <a:solidFill>
                  <a:srgbClr val="E8EEF5"/>
                </a:solidFill>
                <a:latin typeface="Calibri" pitchFamily="34" charset="0"/>
                <a:ea typeface="Calibri" pitchFamily="34" charset="-122"/>
                <a:cs typeface="Calibri" pitchFamily="34" charset="-120"/>
              </a:rPr>
              <a:t>asset ownership records in CCAT. That is exactly what this project manages.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This project is the asset-match engine</a:t>
            </a:r>
            <a:endParaRPr lang="en-US" sz="3200" dirty="0"/>
          </a:p>
        </p:txBody>
      </p:sp>
      <p:sp>
        <p:nvSpPr>
          <p:cNvPr id="4" name="Shape 2"/>
          <p:cNvSpPr/>
          <p:nvPr/>
        </p:nvSpPr>
        <p:spPr>
          <a:xfrm>
            <a:off x="548640" y="160020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5" name="Shape 3"/>
          <p:cNvSpPr/>
          <p:nvPr/>
        </p:nvSpPr>
        <p:spPr>
          <a:xfrm>
            <a:off x="822960" y="1929384"/>
            <a:ext cx="164592" cy="164592"/>
          </a:xfrm>
          <a:prstGeom prst="ellipse">
            <a:avLst/>
          </a:prstGeom>
          <a:solidFill>
            <a:srgbClr val="4DA3FF"/>
          </a:solidFill>
          <a:ln/>
        </p:spPr>
        <p:txBody>
          <a:bodyPr/>
          <a:lstStyle/>
          <a:p>
            <a:endParaRPr lang="en-US"/>
          </a:p>
        </p:txBody>
      </p:sp>
      <p:sp>
        <p:nvSpPr>
          <p:cNvPr id="6" name="Text 4"/>
          <p:cNvSpPr/>
          <p:nvPr/>
        </p:nvSpPr>
        <p:spPr>
          <a:xfrm>
            <a:off x="1143000" y="1728216"/>
            <a:ext cx="3977640" cy="59436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Machines missing from CCAT</a:t>
            </a:r>
            <a:endParaRPr lang="en-US" sz="1450" dirty="0"/>
          </a:p>
        </p:txBody>
      </p:sp>
      <p:sp>
        <p:nvSpPr>
          <p:cNvPr id="7" name="Text 5"/>
          <p:cNvSpPr/>
          <p:nvPr/>
        </p:nvSpPr>
        <p:spPr>
          <a:xfrm>
            <a:off x="5212080" y="172821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added, audited — they enter Caterpillar's population on the right customer</a:t>
            </a:r>
            <a:endParaRPr lang="en-US" sz="1350" dirty="0"/>
          </a:p>
        </p:txBody>
      </p:sp>
      <p:sp>
        <p:nvSpPr>
          <p:cNvPr id="8" name="Shape 6"/>
          <p:cNvSpPr/>
          <p:nvPr/>
        </p:nvSpPr>
        <p:spPr>
          <a:xfrm>
            <a:off x="548640" y="256032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9" name="Shape 7"/>
          <p:cNvSpPr/>
          <p:nvPr/>
        </p:nvSpPr>
        <p:spPr>
          <a:xfrm>
            <a:off x="822960" y="2889504"/>
            <a:ext cx="164592" cy="164592"/>
          </a:xfrm>
          <a:prstGeom prst="ellipse">
            <a:avLst/>
          </a:prstGeom>
          <a:solidFill>
            <a:srgbClr val="FF9F1C"/>
          </a:solidFill>
          <a:ln/>
        </p:spPr>
        <p:txBody>
          <a:bodyPr/>
          <a:lstStyle/>
          <a:p>
            <a:endParaRPr lang="en-US"/>
          </a:p>
        </p:txBody>
      </p:sp>
      <p:sp>
        <p:nvSpPr>
          <p:cNvPr id="10" name="Text 8"/>
          <p:cNvSpPr/>
          <p:nvPr/>
        </p:nvSpPr>
        <p:spPr>
          <a:xfrm>
            <a:off x="1143000" y="2688336"/>
            <a:ext cx="3977640" cy="59436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Machines on the wrong customer</a:t>
            </a:r>
            <a:endParaRPr lang="en-US" sz="1450" dirty="0"/>
          </a:p>
        </p:txBody>
      </p:sp>
      <p:sp>
        <p:nvSpPr>
          <p:cNvPr id="11" name="Text 9"/>
          <p:cNvSpPr/>
          <p:nvPr/>
        </p:nvSpPr>
        <p:spPr>
          <a:xfrm>
            <a:off x="5212080" y="268833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reassigned — the exact defect that breaks a customer's asset match</a:t>
            </a:r>
            <a:endParaRPr lang="en-US" sz="1350" dirty="0"/>
          </a:p>
        </p:txBody>
      </p:sp>
      <p:sp>
        <p:nvSpPr>
          <p:cNvPr id="12" name="Shape 10"/>
          <p:cNvSpPr/>
          <p:nvPr/>
        </p:nvSpPr>
        <p:spPr>
          <a:xfrm>
            <a:off x="548640" y="352044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13" name="Shape 11"/>
          <p:cNvSpPr/>
          <p:nvPr/>
        </p:nvSpPr>
        <p:spPr>
          <a:xfrm>
            <a:off x="822960" y="3849624"/>
            <a:ext cx="164592" cy="164592"/>
          </a:xfrm>
          <a:prstGeom prst="ellipse">
            <a:avLst/>
          </a:prstGeom>
          <a:solidFill>
            <a:srgbClr val="FF5A5F"/>
          </a:solidFill>
          <a:ln/>
        </p:spPr>
        <p:txBody>
          <a:bodyPr/>
          <a:lstStyle/>
          <a:p>
            <a:endParaRPr lang="en-US"/>
          </a:p>
        </p:txBody>
      </p:sp>
      <p:sp>
        <p:nvSpPr>
          <p:cNvPr id="14" name="Text 12"/>
          <p:cNvSpPr/>
          <p:nvPr/>
        </p:nvSpPr>
        <p:spPr>
          <a:xfrm>
            <a:off x="1143000" y="3648456"/>
            <a:ext cx="3977640" cy="59436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Machines other dealers claim</a:t>
            </a:r>
            <a:endParaRPr lang="en-US" sz="1450" dirty="0"/>
          </a:p>
        </p:txBody>
      </p:sp>
      <p:sp>
        <p:nvSpPr>
          <p:cNvPr id="15" name="Text 13"/>
          <p:cNvSpPr/>
          <p:nvPr/>
        </p:nvSpPr>
        <p:spPr>
          <a:xfrm>
            <a:off x="5212080" y="364845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reviewed transfers — closing the gaps no amount of data entry can fix</a:t>
            </a:r>
            <a:endParaRPr lang="en-US" sz="1350" dirty="0"/>
          </a:p>
        </p:txBody>
      </p:sp>
      <p:sp>
        <p:nvSpPr>
          <p:cNvPr id="16" name="Shape 14"/>
          <p:cNvSpPr/>
          <p:nvPr/>
        </p:nvSpPr>
        <p:spPr>
          <a:xfrm>
            <a:off x="548640" y="448056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17" name="Shape 15"/>
          <p:cNvSpPr/>
          <p:nvPr/>
        </p:nvSpPr>
        <p:spPr>
          <a:xfrm>
            <a:off x="822960" y="4809744"/>
            <a:ext cx="164592" cy="164592"/>
          </a:xfrm>
          <a:prstGeom prst="ellipse">
            <a:avLst/>
          </a:prstGeom>
          <a:solidFill>
            <a:srgbClr val="2EC4B6"/>
          </a:solidFill>
          <a:ln/>
        </p:spPr>
        <p:txBody>
          <a:bodyPr/>
          <a:lstStyle/>
          <a:p>
            <a:endParaRPr lang="en-US"/>
          </a:p>
        </p:txBody>
      </p:sp>
      <p:sp>
        <p:nvSpPr>
          <p:cNvPr id="18" name="Text 16"/>
          <p:cNvSpPr/>
          <p:nvPr/>
        </p:nvSpPr>
        <p:spPr>
          <a:xfrm>
            <a:off x="1143000" y="4608576"/>
            <a:ext cx="3977640" cy="59436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Manual upkeep becomes a pipeline</a:t>
            </a:r>
            <a:endParaRPr lang="en-US" sz="1450" dirty="0"/>
          </a:p>
        </p:txBody>
      </p:sp>
      <p:sp>
        <p:nvSpPr>
          <p:cNvPr id="19" name="Text 17"/>
          <p:cNvSpPr/>
          <p:nvPr/>
        </p:nvSpPr>
        <p:spPr>
          <a:xfrm>
            <a:off x="5212080" y="460857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nightly detection, audited fixes, and alerts prevented at the source instead of resolved after they fire</a:t>
            </a:r>
            <a:endParaRPr lang="en-US" sz="1350" dirty="0"/>
          </a:p>
        </p:txBody>
      </p:sp>
      <p:sp>
        <p:nvSpPr>
          <p:cNvPr id="20" name="Shape 18"/>
          <p:cNvSpPr/>
          <p:nvPr/>
        </p:nvSpPr>
        <p:spPr>
          <a:xfrm>
            <a:off x="548640" y="5532120"/>
            <a:ext cx="11064240" cy="822960"/>
          </a:xfrm>
          <a:prstGeom prst="roundRect">
            <a:avLst>
              <a:gd name="adj" fmla="val 8889"/>
            </a:avLst>
          </a:prstGeom>
          <a:solidFill>
            <a:srgbClr val="12314A"/>
          </a:solidFill>
          <a:ln w="12700">
            <a:solidFill>
              <a:srgbClr val="223650"/>
            </a:solidFill>
            <a:prstDash val="solid"/>
          </a:ln>
        </p:spPr>
        <p:txBody>
          <a:bodyPr/>
          <a:lstStyle/>
          <a:p>
            <a:endParaRPr lang="en-US"/>
          </a:p>
        </p:txBody>
      </p:sp>
      <p:sp>
        <p:nvSpPr>
          <p:cNvPr id="21" name="Text 19"/>
          <p:cNvSpPr/>
          <p:nvPr/>
        </p:nvSpPr>
        <p:spPr>
          <a:xfrm>
            <a:off x="822960" y="5669280"/>
            <a:ext cx="10561320" cy="594360"/>
          </a:xfrm>
          <a:prstGeom prst="rect">
            <a:avLst/>
          </a:prstGeom>
          <a:noFill/>
          <a:ln/>
        </p:spPr>
        <p:txBody>
          <a:bodyPr wrap="square" lIns="0" tIns="0" rIns="0" bIns="0" rtlCol="0" anchor="ctr"/>
          <a:lstStyle/>
          <a:p>
            <a:pPr marL="0" indent="0">
              <a:lnSpc>
                <a:spcPts val="1900"/>
              </a:lnSpc>
              <a:buNone/>
            </a:pPr>
            <a:r>
              <a:rPr lang="en-US" sz="1450" b="1" dirty="0">
                <a:solidFill>
                  <a:srgbClr val="FFC72C"/>
                </a:solidFill>
                <a:latin typeface="Calibri" pitchFamily="34" charset="0"/>
                <a:ea typeface="Calibri" pitchFamily="34" charset="-122"/>
                <a:cs typeface="Calibri" pitchFamily="34" charset="-120"/>
              </a:rPr>
              <a:t>One wrong machine fails its whole customer for Trifecta.  </a:t>
            </a:r>
            <a:r>
              <a:rPr lang="en-US" sz="1450" dirty="0">
                <a:solidFill>
                  <a:srgbClr val="E8EEF5"/>
                </a:solidFill>
                <a:latin typeface="Calibri" pitchFamily="34" charset="0"/>
                <a:ea typeface="Calibri" pitchFamily="34" charset="-122"/>
                <a:cs typeface="Calibri" pitchFamily="34" charset="-120"/>
              </a:rPr>
              <a:t>Every machine this system fixes can flip an entire customer back to valid — the same work, scored twice: Trifecta up, alert queue down.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THE BIG PICTURE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whole system on one slide</a:t>
            </a:r>
            <a:endParaRPr lang="en-US" sz="3200" dirty="0"/>
          </a:p>
        </p:txBody>
      </p:sp>
      <p:sp>
        <p:nvSpPr>
          <p:cNvPr id="5" name="Shape 2"/>
          <p:cNvSpPr/>
          <p:nvPr/>
        </p:nvSpPr>
        <p:spPr>
          <a:xfrm>
            <a:off x="54864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2926080" cy="365760"/>
          </a:xfrm>
          <a:prstGeom prst="rect">
            <a:avLst/>
          </a:prstGeom>
          <a:noFill/>
          <a:ln/>
        </p:spPr>
        <p:txBody>
          <a:bodyPr wrap="square" lIns="0" tIns="0" rIns="0" bIns="0" rtlCol="0" anchor="ctr"/>
          <a:lstStyle/>
          <a:p>
            <a:pPr marL="0" indent="0">
              <a:buNone/>
            </a:pPr>
            <a:r>
              <a:rPr lang="en-US" sz="2100" b="1" dirty="0">
                <a:solidFill>
                  <a:srgbClr val="4DA3FF"/>
                </a:solidFill>
                <a:latin typeface="Calibri" pitchFamily="34" charset="0"/>
                <a:ea typeface="Calibri" pitchFamily="34" charset="-122"/>
                <a:cs typeface="Calibri" pitchFamily="34" charset="-120"/>
              </a:rPr>
              <a:t>DETECT</a:t>
            </a:r>
            <a:endParaRPr lang="en-US" sz="2100" dirty="0"/>
          </a:p>
        </p:txBody>
      </p:sp>
      <p:sp>
        <p:nvSpPr>
          <p:cNvPr id="7" name="Text 4"/>
          <p:cNvSpPr/>
          <p:nvPr/>
        </p:nvSpPr>
        <p:spPr>
          <a:xfrm>
            <a:off x="82296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A nightly, read-only sweep checks each machine against Caterpillar's live API and classifies it. It never writes anything to Caterpillar.</a:t>
            </a:r>
            <a:endParaRPr lang="en-US" sz="1450" dirty="0"/>
          </a:p>
        </p:txBody>
      </p:sp>
      <p:sp>
        <p:nvSpPr>
          <p:cNvPr id="8" name="Shape 5"/>
          <p:cNvSpPr/>
          <p:nvPr/>
        </p:nvSpPr>
        <p:spPr>
          <a:xfrm>
            <a:off x="434340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4617720" y="1874520"/>
            <a:ext cx="2926080" cy="365760"/>
          </a:xfrm>
          <a:prstGeom prst="rect">
            <a:avLst/>
          </a:prstGeom>
          <a:noFill/>
          <a:ln/>
        </p:spPr>
        <p:txBody>
          <a:bodyPr wrap="square" lIns="0" tIns="0" rIns="0" bIns="0" rtlCol="0" anchor="ctr"/>
          <a:lstStyle/>
          <a:p>
            <a:pPr marL="0" indent="0">
              <a:buNone/>
            </a:pPr>
            <a:r>
              <a:rPr lang="en-US" sz="2100" b="1" dirty="0">
                <a:solidFill>
                  <a:srgbClr val="FF9F1C"/>
                </a:solidFill>
                <a:latin typeface="Calibri" pitchFamily="34" charset="0"/>
                <a:ea typeface="Calibri" pitchFamily="34" charset="-122"/>
                <a:cs typeface="Calibri" pitchFamily="34" charset="-120"/>
              </a:rPr>
              <a:t>ACT</a:t>
            </a:r>
            <a:endParaRPr lang="en-US" sz="2100" dirty="0"/>
          </a:p>
        </p:txBody>
      </p:sp>
      <p:sp>
        <p:nvSpPr>
          <p:cNvPr id="10" name="Text 7"/>
          <p:cNvSpPr/>
          <p:nvPr/>
        </p:nvSpPr>
        <p:spPr>
          <a:xfrm>
            <a:off x="461772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Audited Snowflake procedures do the fixes: adds, customer reassignments, and (reviewed) transfers. Every write previews first and refuses unsafe cases on its own.</a:t>
            </a:r>
            <a:endParaRPr lang="en-US" sz="1450" dirty="0"/>
          </a:p>
        </p:txBody>
      </p:sp>
      <p:sp>
        <p:nvSpPr>
          <p:cNvPr id="11" name="Shape 8"/>
          <p:cNvSpPr/>
          <p:nvPr/>
        </p:nvSpPr>
        <p:spPr>
          <a:xfrm>
            <a:off x="813816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8412480" y="1874520"/>
            <a:ext cx="2926080" cy="365760"/>
          </a:xfrm>
          <a:prstGeom prst="rect">
            <a:avLst/>
          </a:prstGeom>
          <a:noFill/>
          <a:ln/>
        </p:spPr>
        <p:txBody>
          <a:bodyPr wrap="square" lIns="0" tIns="0" rIns="0" bIns="0" rtlCol="0" anchor="ctr"/>
          <a:lstStyle/>
          <a:p>
            <a:pPr marL="0" indent="0">
              <a:buNone/>
            </a:pPr>
            <a:r>
              <a:rPr lang="en-US" sz="2100" b="1" dirty="0">
                <a:solidFill>
                  <a:srgbClr val="FFC72C"/>
                </a:solidFill>
                <a:latin typeface="Calibri" pitchFamily="34" charset="0"/>
                <a:ea typeface="Calibri" pitchFamily="34" charset="-122"/>
                <a:cs typeface="Calibri" pitchFamily="34" charset="-120"/>
              </a:rPr>
              <a:t>PROVE</a:t>
            </a:r>
            <a:endParaRPr lang="en-US" sz="2100" dirty="0"/>
          </a:p>
        </p:txBody>
      </p:sp>
      <p:sp>
        <p:nvSpPr>
          <p:cNvPr id="13" name="Text 10"/>
          <p:cNvSpPr/>
          <p:nvPr/>
        </p:nvSpPr>
        <p:spPr>
          <a:xfrm>
            <a:off x="841248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Two permanent tables: AUDIT records everything we did; HISTORY records every version of the data anyone ever produced. Nothing is ever edited or deleted.</a:t>
            </a:r>
            <a:endParaRPr lang="en-US" sz="1450" dirty="0"/>
          </a:p>
        </p:txBody>
      </p:sp>
      <p:sp>
        <p:nvSpPr>
          <p:cNvPr id="14" name="Shape 11"/>
          <p:cNvSpPr/>
          <p:nvPr/>
        </p:nvSpPr>
        <p:spPr>
          <a:xfrm>
            <a:off x="548640" y="5029200"/>
            <a:ext cx="11064240" cy="1051560"/>
          </a:xfrm>
          <a:prstGeom prst="roundRect">
            <a:avLst>
              <a:gd name="adj" fmla="val 6957"/>
            </a:avLst>
          </a:prstGeom>
          <a:solidFill>
            <a:srgbClr val="12314A"/>
          </a:solidFill>
          <a:ln w="12700">
            <a:solidFill>
              <a:srgbClr val="223650"/>
            </a:solidFill>
            <a:prstDash val="solid"/>
          </a:ln>
        </p:spPr>
        <p:txBody>
          <a:bodyPr/>
          <a:lstStyle/>
          <a:p>
            <a:endParaRPr lang="en-US"/>
          </a:p>
        </p:txBody>
      </p:sp>
      <p:sp>
        <p:nvSpPr>
          <p:cNvPr id="15" name="Text 12"/>
          <p:cNvSpPr/>
          <p:nvPr/>
        </p:nvSpPr>
        <p:spPr>
          <a:xfrm>
            <a:off x="822960" y="5230368"/>
            <a:ext cx="10607040" cy="685800"/>
          </a:xfrm>
          <a:prstGeom prst="rect">
            <a:avLst/>
          </a:prstGeom>
          <a:noFill/>
          <a:ln/>
        </p:spPr>
        <p:txBody>
          <a:bodyPr wrap="square" lIns="0" tIns="0" rIns="0" bIns="0" rtlCol="0" anchor="ctr"/>
          <a:lstStyle/>
          <a:p>
            <a:pPr marL="0" indent="0">
              <a:buNone/>
            </a:pPr>
            <a:r>
              <a:rPr lang="en-US" sz="1550" b="1" dirty="0">
                <a:solidFill>
                  <a:srgbClr val="FFC72C"/>
                </a:solidFill>
                <a:latin typeface="Calibri" pitchFamily="34" charset="0"/>
                <a:ea typeface="Calibri" pitchFamily="34" charset="-122"/>
                <a:cs typeface="Calibri" pitchFamily="34" charset="-120"/>
              </a:rPr>
              <a:t>The loop closes itself:  </a:t>
            </a:r>
            <a:r>
              <a:rPr lang="en-US" sz="1550" dirty="0">
                <a:solidFill>
                  <a:srgbClr val="E8EEF5"/>
                </a:solidFill>
                <a:latin typeface="Calibri" pitchFamily="34" charset="0"/>
                <a:ea typeface="Calibri" pitchFamily="34" charset="-122"/>
                <a:cs typeface="Calibri" pitchFamily="34" charset="-120"/>
              </a:rPr>
              <a:t>every action's result is verified by the same sweep that found the problem — the system never marks its own homework.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nightly sweep: CCAT_DETECT_DISCREPANCIES</a:t>
            </a:r>
            <a:endParaRPr lang="en-US" sz="3200" dirty="0"/>
          </a:p>
        </p:txBody>
      </p:sp>
      <p:sp>
        <p:nvSpPr>
          <p:cNvPr id="5" name="Shape 2"/>
          <p:cNvSpPr/>
          <p:nvPr/>
        </p:nvSpPr>
        <p:spPr>
          <a:xfrm>
            <a:off x="548640" y="1554480"/>
            <a:ext cx="694944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309360" cy="4023360"/>
          </a:xfrm>
          <a:prstGeom prst="rect">
            <a:avLst/>
          </a:prstGeom>
          <a:noFill/>
          <a:ln/>
        </p:spPr>
        <p:txBody>
          <a:bodyPr wrap="square" lIns="0" tIns="0" rIns="0" bIns="0" rtlCol="0" anchor="ctr"/>
          <a:lstStyle/>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One live API search per machine</a:t>
            </a:r>
            <a:endParaRPr lang="en-US" sz="1500" dirty="0"/>
          </a:p>
          <a:p>
            <a:pPr marL="0" indent="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Compares Caterpillar's answer against our golden equipment view, field by field.</a:t>
            </a:r>
            <a:endParaRPr lang="en-US" sz="1500" dirty="0"/>
          </a:p>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Smart about what it re-checks</a:t>
            </a:r>
            <a:endParaRPr lang="en-US" sz="1500" dirty="0"/>
          </a:p>
          <a:p>
            <a:pPr marL="0" indent="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A machine is only re-checked if it was never checked, our side changed, the last check errored, or the check has gone stale. Everything else is skipped for free.</a:t>
            </a:r>
            <a:endParaRPr lang="en-US" sz="1500" dirty="0"/>
          </a:p>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Writes everything downstream</a:t>
            </a:r>
            <a:endParaRPr lang="en-US" sz="1500" dirty="0"/>
          </a:p>
          <a:p>
            <a:pPr marL="0" indent="0">
              <a:lnSpc>
                <a:spcPts val="2000"/>
              </a:lnSpc>
              <a:buNone/>
            </a:pPr>
            <a:r>
              <a:rPr lang="en-US" sz="1500" dirty="0">
                <a:solidFill>
                  <a:srgbClr val="E8EEF5"/>
                </a:solidFill>
                <a:latin typeface="Calibri" pitchFamily="34" charset="0"/>
                <a:ea typeface="Calibri" pitchFamily="34" charset="-122"/>
                <a:cs typeface="Calibri" pitchFamily="34" charset="-120"/>
              </a:rPr>
              <a:t>Fills the work queues, updates each machine's state, and snapshots any changed CCAT data into history. Returns a summary of every run.</a:t>
            </a:r>
            <a:endParaRPr lang="en-US" sz="1500" dirty="0"/>
          </a:p>
        </p:txBody>
      </p:sp>
      <p:sp>
        <p:nvSpPr>
          <p:cNvPr id="7" name="Shape 4"/>
          <p:cNvSpPr/>
          <p:nvPr/>
        </p:nvSpPr>
        <p:spPr>
          <a:xfrm>
            <a:off x="7772400" y="1554480"/>
            <a:ext cx="3840480" cy="2103120"/>
          </a:xfrm>
          <a:prstGeom prst="roundRect">
            <a:avLst>
              <a:gd name="adj" fmla="val 3478"/>
            </a:avLst>
          </a:prstGeom>
          <a:solidFill>
            <a:srgbClr val="12314A"/>
          </a:solidFill>
          <a:ln w="12700">
            <a:solidFill>
              <a:srgbClr val="223650"/>
            </a:solidFill>
            <a:prstDash val="solid"/>
          </a:ln>
        </p:spPr>
        <p:txBody>
          <a:bodyPr/>
          <a:lstStyle/>
          <a:p>
            <a:endParaRPr lang="en-US"/>
          </a:p>
        </p:txBody>
      </p:sp>
      <p:sp>
        <p:nvSpPr>
          <p:cNvPr id="8" name="Text 5"/>
          <p:cNvSpPr/>
          <p:nvPr/>
        </p:nvSpPr>
        <p:spPr>
          <a:xfrm>
            <a:off x="8046720" y="1783080"/>
            <a:ext cx="3291840" cy="731520"/>
          </a:xfrm>
          <a:prstGeom prst="rect">
            <a:avLst/>
          </a:prstGeom>
          <a:noFill/>
          <a:ln/>
        </p:spPr>
        <p:txBody>
          <a:bodyPr wrap="square" lIns="0" tIns="0" rIns="0" bIns="0" rtlCol="0" anchor="ctr"/>
          <a:lstStyle/>
          <a:p>
            <a:pPr marL="0" indent="0">
              <a:buNone/>
            </a:pPr>
            <a:r>
              <a:rPr lang="en-US" sz="4400" b="1" dirty="0">
                <a:solidFill>
                  <a:srgbClr val="FFC72C"/>
                </a:solidFill>
                <a:latin typeface="Calibri" pitchFamily="34" charset="0"/>
                <a:ea typeface="Calibri" pitchFamily="34" charset="-122"/>
                <a:cs typeface="Calibri" pitchFamily="34" charset="-120"/>
              </a:rPr>
              <a:t>~0.25s</a:t>
            </a:r>
            <a:endParaRPr lang="en-US" sz="4400" dirty="0"/>
          </a:p>
        </p:txBody>
      </p:sp>
      <p:sp>
        <p:nvSpPr>
          <p:cNvPr id="9" name="Text 6"/>
          <p:cNvSpPr/>
          <p:nvPr/>
        </p:nvSpPr>
        <p:spPr>
          <a:xfrm>
            <a:off x="8046720" y="2560320"/>
            <a:ext cx="3291840" cy="82296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per machine checked — one polite, paced API call</a:t>
            </a:r>
            <a:endParaRPr lang="en-US" sz="1400" dirty="0"/>
          </a:p>
        </p:txBody>
      </p:sp>
      <p:sp>
        <p:nvSpPr>
          <p:cNvPr id="10" name="Shape 7"/>
          <p:cNvSpPr/>
          <p:nvPr/>
        </p:nvSpPr>
        <p:spPr>
          <a:xfrm>
            <a:off x="7772400" y="3931920"/>
            <a:ext cx="3840480" cy="2103120"/>
          </a:xfrm>
          <a:prstGeom prst="roundRect">
            <a:avLst>
              <a:gd name="adj" fmla="val 3478"/>
            </a:avLst>
          </a:prstGeom>
          <a:solidFill>
            <a:srgbClr val="12314A"/>
          </a:solidFill>
          <a:ln w="12700">
            <a:solidFill>
              <a:srgbClr val="223650"/>
            </a:solidFill>
            <a:prstDash val="solid"/>
          </a:ln>
        </p:spPr>
        <p:txBody>
          <a:bodyPr/>
          <a:lstStyle/>
          <a:p>
            <a:endParaRPr lang="en-US"/>
          </a:p>
        </p:txBody>
      </p:sp>
      <p:sp>
        <p:nvSpPr>
          <p:cNvPr id="11" name="Text 8"/>
          <p:cNvSpPr/>
          <p:nvPr/>
        </p:nvSpPr>
        <p:spPr>
          <a:xfrm>
            <a:off x="8046720" y="4160520"/>
            <a:ext cx="3291840" cy="731520"/>
          </a:xfrm>
          <a:prstGeom prst="rect">
            <a:avLst/>
          </a:prstGeom>
          <a:noFill/>
          <a:ln/>
        </p:spPr>
        <p:txBody>
          <a:bodyPr wrap="square" lIns="0" tIns="0" rIns="0" bIns="0" rtlCol="0" anchor="ctr"/>
          <a:lstStyle/>
          <a:p>
            <a:pPr marL="0" indent="0">
              <a:buNone/>
            </a:pPr>
            <a:r>
              <a:rPr lang="en-US" sz="4400" b="1" dirty="0">
                <a:solidFill>
                  <a:srgbClr val="FFC72C"/>
                </a:solidFill>
                <a:latin typeface="Calibri" pitchFamily="34" charset="0"/>
                <a:ea typeface="Calibri" pitchFamily="34" charset="-122"/>
                <a:cs typeface="Calibri" pitchFamily="34" charset="-120"/>
              </a:rPr>
              <a:t>10,000</a:t>
            </a:r>
            <a:endParaRPr lang="en-US" sz="4400" dirty="0"/>
          </a:p>
        </p:txBody>
      </p:sp>
      <p:sp>
        <p:nvSpPr>
          <p:cNvPr id="12" name="Text 9"/>
          <p:cNvSpPr/>
          <p:nvPr/>
        </p:nvSpPr>
        <p:spPr>
          <a:xfrm>
            <a:off x="8046720" y="4937760"/>
            <a:ext cx="3291840" cy="100584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machines a night in about 25 minutes — full fleet coverage builds in weeks, then maintains itself</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What the sweep writes: queues, state, and memory</a:t>
            </a:r>
            <a:endParaRPr lang="en-US" sz="3200" dirty="0"/>
          </a:p>
        </p:txBody>
      </p:sp>
      <p:sp>
        <p:nvSpPr>
          <p:cNvPr id="5" name="Shape 2"/>
          <p:cNvSpPr/>
          <p:nvPr/>
        </p:nvSpPr>
        <p:spPr>
          <a:xfrm>
            <a:off x="548640" y="160020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22960" y="1911096"/>
            <a:ext cx="164592" cy="164592"/>
          </a:xfrm>
          <a:prstGeom prst="ellipse">
            <a:avLst/>
          </a:prstGeom>
          <a:solidFill>
            <a:srgbClr val="4DA3FF"/>
          </a:solidFill>
          <a:ln/>
        </p:spPr>
        <p:txBody>
          <a:bodyPr/>
          <a:lstStyle/>
          <a:p>
            <a:endParaRPr lang="en-US"/>
          </a:p>
        </p:txBody>
      </p:sp>
      <p:sp>
        <p:nvSpPr>
          <p:cNvPr id="7" name="Text 4"/>
          <p:cNvSpPr/>
          <p:nvPr/>
        </p:nvSpPr>
        <p:spPr>
          <a:xfrm>
            <a:off x="1115568" y="1801368"/>
            <a:ext cx="4572000" cy="365760"/>
          </a:xfrm>
          <a:prstGeom prst="rect">
            <a:avLst/>
          </a:prstGeom>
          <a:noFill/>
          <a:ln/>
        </p:spPr>
        <p:txBody>
          <a:bodyPr wrap="square" lIns="0" tIns="0" rIns="0" bIns="0" rtlCol="0" anchor="ctr"/>
          <a:lstStyle/>
          <a:p>
            <a:pPr marL="0" indent="0">
              <a:buNone/>
            </a:pPr>
            <a:r>
              <a:rPr lang="en-US" sz="1700" b="1" dirty="0">
                <a:solidFill>
                  <a:srgbClr val="4DA3FF"/>
                </a:solidFill>
                <a:latin typeface="Calibri" pitchFamily="34" charset="0"/>
                <a:ea typeface="Calibri" pitchFamily="34" charset="-122"/>
                <a:cs typeface="Calibri" pitchFamily="34" charset="-120"/>
              </a:rPr>
              <a:t>CCAT_MISSING</a:t>
            </a:r>
            <a:endParaRPr lang="en-US" sz="1700" dirty="0"/>
          </a:p>
        </p:txBody>
      </p:sp>
      <p:sp>
        <p:nvSpPr>
          <p:cNvPr id="8" name="Text 5"/>
          <p:cNvSpPr/>
          <p:nvPr/>
        </p:nvSpPr>
        <p:spPr>
          <a:xfrm>
            <a:off x="822960" y="228600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Machines with no record under our dealer code — the add and transfer pipeline. Keeps the other dealers' records for triage.</a:t>
            </a:r>
            <a:endParaRPr lang="en-US" sz="1350" dirty="0"/>
          </a:p>
        </p:txBody>
      </p:sp>
      <p:sp>
        <p:nvSpPr>
          <p:cNvPr id="9" name="Shape 6"/>
          <p:cNvSpPr/>
          <p:nvPr/>
        </p:nvSpPr>
        <p:spPr>
          <a:xfrm>
            <a:off x="6217920" y="160020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6492240" y="1911096"/>
            <a:ext cx="164592" cy="164592"/>
          </a:xfrm>
          <a:prstGeom prst="ellipse">
            <a:avLst/>
          </a:prstGeom>
          <a:solidFill>
            <a:srgbClr val="FF9F1C"/>
          </a:solidFill>
          <a:ln/>
        </p:spPr>
        <p:txBody>
          <a:bodyPr/>
          <a:lstStyle/>
          <a:p>
            <a:endParaRPr lang="en-US"/>
          </a:p>
        </p:txBody>
      </p:sp>
      <p:sp>
        <p:nvSpPr>
          <p:cNvPr id="11" name="Text 8"/>
          <p:cNvSpPr/>
          <p:nvPr/>
        </p:nvSpPr>
        <p:spPr>
          <a:xfrm>
            <a:off x="6784848" y="1801368"/>
            <a:ext cx="4572000" cy="365760"/>
          </a:xfrm>
          <a:prstGeom prst="rect">
            <a:avLst/>
          </a:prstGeom>
          <a:noFill/>
          <a:ln/>
        </p:spPr>
        <p:txBody>
          <a:bodyPr wrap="square" lIns="0" tIns="0" rIns="0" bIns="0" rtlCol="0" anchor="ctr"/>
          <a:lstStyle/>
          <a:p>
            <a:pPr marL="0" indent="0">
              <a:buNone/>
            </a:pPr>
            <a:r>
              <a:rPr lang="en-US" sz="1700" b="1" dirty="0">
                <a:solidFill>
                  <a:srgbClr val="FF9F1C"/>
                </a:solidFill>
                <a:latin typeface="Calibri" pitchFamily="34" charset="0"/>
                <a:ea typeface="Calibri" pitchFamily="34" charset="-122"/>
                <a:cs typeface="Calibri" pitchFamily="34" charset="-120"/>
              </a:rPr>
              <a:t>CCAT_NON_MATCHING</a:t>
            </a:r>
            <a:endParaRPr lang="en-US" sz="1700" dirty="0"/>
          </a:p>
        </p:txBody>
      </p:sp>
      <p:sp>
        <p:nvSpPr>
          <p:cNvPr id="12" name="Text 9"/>
          <p:cNvSpPr/>
          <p:nvPr/>
        </p:nvSpPr>
        <p:spPr>
          <a:xfrm>
            <a:off x="6492240" y="228600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Field-level differences on machines we hold — one row per differing field, judged against our best-matching CCAT record.</a:t>
            </a:r>
            <a:endParaRPr lang="en-US" sz="1350" dirty="0"/>
          </a:p>
        </p:txBody>
      </p:sp>
      <p:sp>
        <p:nvSpPr>
          <p:cNvPr id="13" name="Shape 10"/>
          <p:cNvSpPr/>
          <p:nvPr/>
        </p:nvSpPr>
        <p:spPr>
          <a:xfrm>
            <a:off x="548640" y="393192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22960" y="4242816"/>
            <a:ext cx="164592" cy="164592"/>
          </a:xfrm>
          <a:prstGeom prst="ellipse">
            <a:avLst/>
          </a:prstGeom>
          <a:solidFill>
            <a:srgbClr val="FF5A5F"/>
          </a:solidFill>
          <a:ln/>
        </p:spPr>
        <p:txBody>
          <a:bodyPr/>
          <a:lstStyle/>
          <a:p>
            <a:endParaRPr lang="en-US"/>
          </a:p>
        </p:txBody>
      </p:sp>
      <p:sp>
        <p:nvSpPr>
          <p:cNvPr id="15" name="Text 12"/>
          <p:cNvSpPr/>
          <p:nvPr/>
        </p:nvSpPr>
        <p:spPr>
          <a:xfrm>
            <a:off x="1115568" y="4133088"/>
            <a:ext cx="4572000" cy="365760"/>
          </a:xfrm>
          <a:prstGeom prst="rect">
            <a:avLst/>
          </a:prstGeom>
          <a:noFill/>
          <a:ln/>
        </p:spPr>
        <p:txBody>
          <a:bodyPr wrap="square" lIns="0" tIns="0" rIns="0" bIns="0" rtlCol="0" anchor="ctr"/>
          <a:lstStyle/>
          <a:p>
            <a:pPr marL="0" indent="0">
              <a:buNone/>
            </a:pPr>
            <a:r>
              <a:rPr lang="en-US" sz="1700" b="1" dirty="0">
                <a:solidFill>
                  <a:srgbClr val="FF5A5F"/>
                </a:solidFill>
                <a:latin typeface="Calibri" pitchFamily="34" charset="0"/>
                <a:ea typeface="Calibri" pitchFamily="34" charset="-122"/>
                <a:cs typeface="Calibri" pitchFamily="34" charset="-120"/>
              </a:rPr>
              <a:t>CCAT_ERRORS</a:t>
            </a:r>
            <a:endParaRPr lang="en-US" sz="1700" dirty="0"/>
          </a:p>
        </p:txBody>
      </p:sp>
      <p:sp>
        <p:nvSpPr>
          <p:cNvPr id="16" name="Text 13"/>
          <p:cNvSpPr/>
          <p:nvPr/>
        </p:nvSpPr>
        <p:spPr>
          <a:xfrm>
            <a:off x="822960" y="461772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Failed checks. A failure is never recorded as a discrepancy — it lands here with Caterpillar's tracking ID for support.</a:t>
            </a:r>
            <a:endParaRPr lang="en-US" sz="1350" dirty="0"/>
          </a:p>
        </p:txBody>
      </p:sp>
      <p:sp>
        <p:nvSpPr>
          <p:cNvPr id="17" name="Shape 14"/>
          <p:cNvSpPr/>
          <p:nvPr/>
        </p:nvSpPr>
        <p:spPr>
          <a:xfrm>
            <a:off x="6217920" y="393192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6492240" y="4242816"/>
            <a:ext cx="164592" cy="164592"/>
          </a:xfrm>
          <a:prstGeom prst="ellipse">
            <a:avLst/>
          </a:prstGeom>
          <a:solidFill>
            <a:srgbClr val="2EC4B6"/>
          </a:solidFill>
          <a:ln/>
        </p:spPr>
        <p:txBody>
          <a:bodyPr/>
          <a:lstStyle/>
          <a:p>
            <a:endParaRPr lang="en-US"/>
          </a:p>
        </p:txBody>
      </p:sp>
      <p:sp>
        <p:nvSpPr>
          <p:cNvPr id="19" name="Text 16"/>
          <p:cNvSpPr/>
          <p:nvPr/>
        </p:nvSpPr>
        <p:spPr>
          <a:xfrm>
            <a:off x="6784848" y="4133088"/>
            <a:ext cx="4572000" cy="365760"/>
          </a:xfrm>
          <a:prstGeom prst="rect">
            <a:avLst/>
          </a:prstGeom>
          <a:noFill/>
          <a:ln/>
        </p:spPr>
        <p:txBody>
          <a:bodyPr wrap="square" lIns="0" tIns="0" rIns="0" bIns="0" rtlCol="0" anchor="ctr"/>
          <a:lstStyle/>
          <a:p>
            <a:pPr marL="0" indent="0">
              <a:buNone/>
            </a:pPr>
            <a:r>
              <a:rPr lang="en-US" sz="1700" b="1" dirty="0">
                <a:solidFill>
                  <a:srgbClr val="2EC4B6"/>
                </a:solidFill>
                <a:latin typeface="Calibri" pitchFamily="34" charset="0"/>
                <a:ea typeface="Calibri" pitchFamily="34" charset="-122"/>
                <a:cs typeface="Calibri" pitchFamily="34" charset="-120"/>
              </a:rPr>
              <a:t>CCAT_CHECK_STATE</a:t>
            </a:r>
            <a:endParaRPr lang="en-US" sz="1700" dirty="0"/>
          </a:p>
        </p:txBody>
      </p:sp>
      <p:sp>
        <p:nvSpPr>
          <p:cNvPr id="20" name="Text 17"/>
          <p:cNvSpPr/>
          <p:nvPr/>
        </p:nvSpPr>
        <p:spPr>
          <a:xfrm>
            <a:off x="6492240" y="461772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One row per machine ever checked: verdict, ownership type, customer, pending flags — the sweep's memory and the dashboard's engine.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Every machine gets a phase, an action, and a why</a:t>
            </a:r>
            <a:endParaRPr lang="en-US" sz="3200" dirty="0"/>
          </a:p>
        </p:txBody>
      </p:sp>
      <p:sp>
        <p:nvSpPr>
          <p:cNvPr id="5" name="Shape 2"/>
          <p:cNvSpPr/>
          <p:nvPr/>
        </p:nvSpPr>
        <p:spPr>
          <a:xfrm>
            <a:off x="548640" y="1572768"/>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04672" y="1810512"/>
            <a:ext cx="164592" cy="164592"/>
          </a:xfrm>
          <a:prstGeom prst="ellipse">
            <a:avLst/>
          </a:prstGeom>
          <a:solidFill>
            <a:srgbClr val="34C759"/>
          </a:solidFill>
          <a:ln/>
        </p:spPr>
        <p:txBody>
          <a:bodyPr/>
          <a:lstStyle/>
          <a:p>
            <a:endParaRPr lang="en-US"/>
          </a:p>
        </p:txBody>
      </p:sp>
      <p:sp>
        <p:nvSpPr>
          <p:cNvPr id="7" name="Text 4"/>
          <p:cNvSpPr/>
          <p:nvPr/>
        </p:nvSpPr>
        <p:spPr>
          <a:xfrm>
            <a:off x="1097280" y="1664208"/>
            <a:ext cx="2377440" cy="457200"/>
          </a:xfrm>
          <a:prstGeom prst="rect">
            <a:avLst/>
          </a:prstGeom>
          <a:noFill/>
          <a:ln/>
        </p:spPr>
        <p:txBody>
          <a:bodyPr wrap="square" lIns="0" tIns="0" rIns="0" bIns="0" rtlCol="0" anchor="ctr"/>
          <a:lstStyle/>
          <a:p>
            <a:pPr marL="0" indent="0">
              <a:buNone/>
            </a:pPr>
            <a:r>
              <a:rPr lang="en-US" sz="1450" b="1" dirty="0">
                <a:solidFill>
                  <a:srgbClr val="34C759"/>
                </a:solidFill>
                <a:latin typeface="Calibri" pitchFamily="34" charset="0"/>
                <a:ea typeface="Calibri" pitchFamily="34" charset="-122"/>
                <a:cs typeface="Calibri" pitchFamily="34" charset="-120"/>
              </a:rPr>
              <a:t>Done</a:t>
            </a:r>
            <a:endParaRPr lang="en-US" sz="1450" dirty="0"/>
          </a:p>
        </p:txBody>
      </p:sp>
      <p:sp>
        <p:nvSpPr>
          <p:cNvPr id="8" name="Text 5"/>
          <p:cNvSpPr/>
          <p:nvPr/>
        </p:nvSpPr>
        <p:spPr>
          <a:xfrm>
            <a:off x="3520440" y="1664208"/>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Record is right. Nothing to do.</a:t>
            </a:r>
            <a:endParaRPr lang="en-US" sz="1250" dirty="0"/>
          </a:p>
        </p:txBody>
      </p:sp>
      <p:sp>
        <p:nvSpPr>
          <p:cNvPr id="9" name="Shape 6"/>
          <p:cNvSpPr/>
          <p:nvPr/>
        </p:nvSpPr>
        <p:spPr>
          <a:xfrm>
            <a:off x="548640" y="2322576"/>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804672" y="2560320"/>
            <a:ext cx="164592" cy="164592"/>
          </a:xfrm>
          <a:prstGeom prst="ellipse">
            <a:avLst/>
          </a:prstGeom>
          <a:solidFill>
            <a:srgbClr val="4DA3FF"/>
          </a:solidFill>
          <a:ln/>
        </p:spPr>
        <p:txBody>
          <a:bodyPr/>
          <a:lstStyle/>
          <a:p>
            <a:endParaRPr lang="en-US"/>
          </a:p>
        </p:txBody>
      </p:sp>
      <p:sp>
        <p:nvSpPr>
          <p:cNvPr id="11" name="Text 8"/>
          <p:cNvSpPr/>
          <p:nvPr/>
        </p:nvSpPr>
        <p:spPr>
          <a:xfrm>
            <a:off x="1097280" y="2414016"/>
            <a:ext cx="2377440" cy="45720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Phase 1 — Add</a:t>
            </a:r>
            <a:endParaRPr lang="en-US" sz="1450" dirty="0"/>
          </a:p>
        </p:txBody>
      </p:sp>
      <p:sp>
        <p:nvSpPr>
          <p:cNvPr id="12" name="Text 9"/>
          <p:cNvSpPr/>
          <p:nvPr/>
        </p:nvSpPr>
        <p:spPr>
          <a:xfrm>
            <a:off x="3520440" y="2414016"/>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Not in CCAT anywhere. Adding affects nobody. Batchable.</a:t>
            </a:r>
            <a:endParaRPr lang="en-US" sz="1250" dirty="0"/>
          </a:p>
        </p:txBody>
      </p:sp>
      <p:sp>
        <p:nvSpPr>
          <p:cNvPr id="13" name="Shape 10"/>
          <p:cNvSpPr/>
          <p:nvPr/>
        </p:nvSpPr>
        <p:spPr>
          <a:xfrm>
            <a:off x="548640" y="3072384"/>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04672" y="3310128"/>
            <a:ext cx="164592" cy="164592"/>
          </a:xfrm>
          <a:prstGeom prst="ellipse">
            <a:avLst/>
          </a:prstGeom>
          <a:solidFill>
            <a:srgbClr val="2EC4B6"/>
          </a:solidFill>
          <a:ln/>
        </p:spPr>
        <p:txBody>
          <a:bodyPr/>
          <a:lstStyle/>
          <a:p>
            <a:endParaRPr lang="en-US"/>
          </a:p>
        </p:txBody>
      </p:sp>
      <p:sp>
        <p:nvSpPr>
          <p:cNvPr id="15" name="Text 12"/>
          <p:cNvSpPr/>
          <p:nvPr/>
        </p:nvSpPr>
        <p:spPr>
          <a:xfrm>
            <a:off x="1097280" y="3163824"/>
            <a:ext cx="2377440" cy="45720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Phase 2 — Quiet fix</a:t>
            </a:r>
            <a:endParaRPr lang="en-US" sz="1450" dirty="0"/>
          </a:p>
        </p:txBody>
      </p:sp>
      <p:sp>
        <p:nvSpPr>
          <p:cNvPr id="16" name="Text 13"/>
          <p:cNvSpPr/>
          <p:nvPr/>
        </p:nvSpPr>
        <p:spPr>
          <a:xfrm>
            <a:off x="3520440" y="3163824"/>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Other records exist but none are exclusive. Completes without notifying anyone.</a:t>
            </a:r>
            <a:endParaRPr lang="en-US" sz="1250" dirty="0"/>
          </a:p>
        </p:txBody>
      </p:sp>
      <p:sp>
        <p:nvSpPr>
          <p:cNvPr id="17" name="Shape 14"/>
          <p:cNvSpPr/>
          <p:nvPr/>
        </p:nvSpPr>
        <p:spPr>
          <a:xfrm>
            <a:off x="548640" y="3822192"/>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804672" y="4059936"/>
            <a:ext cx="164592" cy="164592"/>
          </a:xfrm>
          <a:prstGeom prst="ellipse">
            <a:avLst/>
          </a:prstGeom>
          <a:solidFill>
            <a:srgbClr val="FF9F1C"/>
          </a:solidFill>
          <a:ln/>
        </p:spPr>
        <p:txBody>
          <a:bodyPr/>
          <a:lstStyle/>
          <a:p>
            <a:endParaRPr lang="en-US"/>
          </a:p>
        </p:txBody>
      </p:sp>
      <p:sp>
        <p:nvSpPr>
          <p:cNvPr id="19" name="Text 16"/>
          <p:cNvSpPr/>
          <p:nvPr/>
        </p:nvSpPr>
        <p:spPr>
          <a:xfrm>
            <a:off x="1097280" y="3913632"/>
            <a:ext cx="2377440" cy="45720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Phase 3 — Fix ours</a:t>
            </a:r>
            <a:endParaRPr lang="en-US" sz="1450" dirty="0"/>
          </a:p>
        </p:txBody>
      </p:sp>
      <p:sp>
        <p:nvSpPr>
          <p:cNvPr id="20" name="Text 17"/>
          <p:cNvSpPr/>
          <p:nvPr/>
        </p:nvSpPr>
        <p:spPr>
          <a:xfrm>
            <a:off x="3520440" y="3913632"/>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We own the record: backfill missing values, or move it to the correct customer.</a:t>
            </a:r>
            <a:endParaRPr lang="en-US" sz="1250" dirty="0"/>
          </a:p>
        </p:txBody>
      </p:sp>
      <p:sp>
        <p:nvSpPr>
          <p:cNvPr id="21" name="Shape 18"/>
          <p:cNvSpPr/>
          <p:nvPr/>
        </p:nvSpPr>
        <p:spPr>
          <a:xfrm>
            <a:off x="548640" y="4572000"/>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22" name="Shape 19"/>
          <p:cNvSpPr/>
          <p:nvPr/>
        </p:nvSpPr>
        <p:spPr>
          <a:xfrm>
            <a:off x="804672" y="4809744"/>
            <a:ext cx="164592" cy="164592"/>
          </a:xfrm>
          <a:prstGeom prst="ellipse">
            <a:avLst/>
          </a:prstGeom>
          <a:solidFill>
            <a:srgbClr val="FF5A5F"/>
          </a:solidFill>
          <a:ln/>
        </p:spPr>
        <p:txBody>
          <a:bodyPr/>
          <a:lstStyle/>
          <a:p>
            <a:endParaRPr lang="en-US"/>
          </a:p>
        </p:txBody>
      </p:sp>
      <p:sp>
        <p:nvSpPr>
          <p:cNvPr id="23" name="Text 20"/>
          <p:cNvSpPr/>
          <p:nvPr/>
        </p:nvSpPr>
        <p:spPr>
          <a:xfrm>
            <a:off x="1097280" y="4663440"/>
            <a:ext cx="2377440" cy="45720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Phase 4 — Review</a:t>
            </a:r>
            <a:endParaRPr lang="en-US" sz="1450" dirty="0"/>
          </a:p>
        </p:txBody>
      </p:sp>
      <p:sp>
        <p:nvSpPr>
          <p:cNvPr id="24" name="Text 21"/>
          <p:cNvSpPr/>
          <p:nvPr/>
        </p:nvSpPr>
        <p:spPr>
          <a:xfrm>
            <a:off x="3520440" y="4663440"/>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Transfers and shared ownership. A person decides, about ten per shift.</a:t>
            </a:r>
            <a:endParaRPr lang="en-US" sz="1250" dirty="0"/>
          </a:p>
        </p:txBody>
      </p:sp>
      <p:sp>
        <p:nvSpPr>
          <p:cNvPr id="25" name="Shape 22"/>
          <p:cNvSpPr/>
          <p:nvPr/>
        </p:nvSpPr>
        <p:spPr>
          <a:xfrm>
            <a:off x="548640" y="5321808"/>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26" name="Shape 23"/>
          <p:cNvSpPr/>
          <p:nvPr/>
        </p:nvSpPr>
        <p:spPr>
          <a:xfrm>
            <a:off x="804672" y="5559552"/>
            <a:ext cx="164592" cy="164592"/>
          </a:xfrm>
          <a:prstGeom prst="ellipse">
            <a:avLst/>
          </a:prstGeom>
          <a:solidFill>
            <a:srgbClr val="8496AB"/>
          </a:solidFill>
          <a:ln/>
        </p:spPr>
        <p:txBody>
          <a:bodyPr/>
          <a:lstStyle/>
          <a:p>
            <a:endParaRPr lang="en-US"/>
          </a:p>
        </p:txBody>
      </p:sp>
      <p:sp>
        <p:nvSpPr>
          <p:cNvPr id="27" name="Text 24"/>
          <p:cNvSpPr/>
          <p:nvPr/>
        </p:nvSpPr>
        <p:spPr>
          <a:xfrm>
            <a:off x="1097280" y="5413248"/>
            <a:ext cx="2377440" cy="457200"/>
          </a:xfrm>
          <a:prstGeom prst="rect">
            <a:avLst/>
          </a:prstGeom>
          <a:noFill/>
          <a:ln/>
        </p:spPr>
        <p:txBody>
          <a:bodyPr wrap="square" lIns="0" tIns="0" rIns="0" bIns="0" rtlCol="0" anchor="ctr"/>
          <a:lstStyle/>
          <a:p>
            <a:pPr marL="0" indent="0">
              <a:buNone/>
            </a:pPr>
            <a:r>
              <a:rPr lang="en-US" sz="1450" b="1" dirty="0">
                <a:solidFill>
                  <a:srgbClr val="8496AB"/>
                </a:solidFill>
                <a:latin typeface="Calibri" pitchFamily="34" charset="0"/>
                <a:ea typeface="Calibri" pitchFamily="34" charset="-122"/>
                <a:cs typeface="Calibri" pitchFamily="34" charset="-120"/>
              </a:rPr>
              <a:t>Info only</a:t>
            </a:r>
            <a:endParaRPr lang="en-US" sz="1450" dirty="0"/>
          </a:p>
        </p:txBody>
      </p:sp>
      <p:sp>
        <p:nvSpPr>
          <p:cNvPr id="28" name="Text 25"/>
          <p:cNvSpPr/>
          <p:nvPr/>
        </p:nvSpPr>
        <p:spPr>
          <a:xfrm>
            <a:off x="3520440" y="5413248"/>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Model differs but CCAT is the authority — reported, no action queued.</a:t>
            </a:r>
            <a:endParaRPr lang="en-US" sz="1250" dirty="0"/>
          </a:p>
        </p:txBody>
      </p:sp>
      <p:sp>
        <p:nvSpPr>
          <p:cNvPr id="29" name="Shape 26"/>
          <p:cNvSpPr/>
          <p:nvPr/>
        </p:nvSpPr>
        <p:spPr>
          <a:xfrm>
            <a:off x="8138160" y="1572768"/>
            <a:ext cx="3474720" cy="4407408"/>
          </a:xfrm>
          <a:prstGeom prst="roundRect">
            <a:avLst>
              <a:gd name="adj" fmla="val 2105"/>
            </a:avLst>
          </a:prstGeom>
          <a:solidFill>
            <a:srgbClr val="12314A"/>
          </a:solidFill>
          <a:ln w="12700">
            <a:solidFill>
              <a:srgbClr val="223650"/>
            </a:solidFill>
            <a:prstDash val="solid"/>
          </a:ln>
        </p:spPr>
        <p:txBody>
          <a:bodyPr/>
          <a:lstStyle/>
          <a:p>
            <a:endParaRPr lang="en-US"/>
          </a:p>
        </p:txBody>
      </p:sp>
      <p:sp>
        <p:nvSpPr>
          <p:cNvPr id="30" name="Text 27"/>
          <p:cNvSpPr/>
          <p:nvPr/>
        </p:nvSpPr>
        <p:spPr>
          <a:xfrm>
            <a:off x="8412480" y="1828800"/>
            <a:ext cx="2926080" cy="548640"/>
          </a:xfrm>
          <a:prstGeom prst="rect">
            <a:avLst/>
          </a:prstGeom>
          <a:noFill/>
          <a:ln/>
        </p:spPr>
        <p:txBody>
          <a:bodyPr wrap="square" lIns="0" tIns="0" rIns="0" bIns="0" rtlCol="0" anchor="ctr"/>
          <a:lstStyle/>
          <a:p>
            <a:pPr marL="0" indent="0">
              <a:buNone/>
            </a:pPr>
            <a:r>
              <a:rPr lang="en-US" sz="1700" b="1" dirty="0">
                <a:solidFill>
                  <a:srgbClr val="FFC72C"/>
                </a:solidFill>
                <a:latin typeface="Calibri" pitchFamily="34" charset="0"/>
                <a:ea typeface="Calibri" pitchFamily="34" charset="-122"/>
                <a:cs typeface="Calibri" pitchFamily="34" charset="-120"/>
              </a:rPr>
              <a:t>One query answers it all</a:t>
            </a:r>
            <a:endParaRPr lang="en-US" sz="1700" dirty="0"/>
          </a:p>
        </p:txBody>
      </p:sp>
      <p:sp>
        <p:nvSpPr>
          <p:cNvPr id="31" name="Text 28"/>
          <p:cNvSpPr/>
          <p:nvPr/>
        </p:nvSpPr>
        <p:spPr>
          <a:xfrm>
            <a:off x="8412480" y="2377440"/>
            <a:ext cx="2971800" cy="3291840"/>
          </a:xfrm>
          <a:prstGeom prst="rect">
            <a:avLst/>
          </a:prstGeom>
          <a:noFill/>
          <a:ln/>
        </p:spPr>
        <p:txBody>
          <a:bodyPr wrap="square" lIns="0" tIns="0" rIns="0" bIns="0" rtlCol="0" anchor="ctr"/>
          <a:lstStyle/>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The phase dashboard shows, per machine:</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PHASE  ·  ACTION  ·  WHY</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plus both customer numbers, ownership type, and which other dealers are involved. The rollout plan, applied to live data.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decision key, animated</a:t>
            </a:r>
            <a:endParaRPr lang="en-US" sz="32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8640" y="1600200"/>
            <a:ext cx="7680960" cy="4320540"/>
          </a:xfrm>
          <a:prstGeom prst="rect">
            <a:avLst/>
          </a:prstGeom>
        </p:spPr>
      </p:pic>
      <p:sp>
        <p:nvSpPr>
          <p:cNvPr id="6" name="Shape 2"/>
          <p:cNvSpPr/>
          <p:nvPr/>
        </p:nvSpPr>
        <p:spPr>
          <a:xfrm>
            <a:off x="8503920" y="1600200"/>
            <a:ext cx="3108960" cy="4320540"/>
          </a:xfrm>
          <a:prstGeom prst="roundRect">
            <a:avLst>
              <a:gd name="adj" fmla="val 2353"/>
            </a:avLst>
          </a:prstGeom>
          <a:solidFill>
            <a:srgbClr val="12314A"/>
          </a:solidFill>
          <a:ln w="12700">
            <a:solidFill>
              <a:srgbClr val="223650"/>
            </a:solidFill>
            <a:prstDash val="solid"/>
          </a:ln>
        </p:spPr>
        <p:txBody>
          <a:bodyPr/>
          <a:lstStyle/>
          <a:p>
            <a:endParaRPr lang="en-US"/>
          </a:p>
        </p:txBody>
      </p:sp>
      <p:sp>
        <p:nvSpPr>
          <p:cNvPr id="7" name="Text 3"/>
          <p:cNvSpPr/>
          <p:nvPr/>
        </p:nvSpPr>
        <p:spPr>
          <a:xfrm>
            <a:off x="8778240" y="1874520"/>
            <a:ext cx="2606040" cy="548640"/>
          </a:xfrm>
          <a:prstGeom prst="rect">
            <a:avLst/>
          </a:prstGeom>
          <a:noFill/>
          <a:ln/>
        </p:spPr>
        <p:txBody>
          <a:bodyPr wrap="square" lIns="0" tIns="0" rIns="0" bIns="0" rtlCol="0" anchor="ctr"/>
          <a:lstStyle/>
          <a:p>
            <a:pPr marL="0" indent="0">
              <a:buNone/>
            </a:pPr>
            <a:r>
              <a:rPr lang="en-US" sz="1600" b="1" dirty="0">
                <a:solidFill>
                  <a:srgbClr val="FFC72C"/>
                </a:solidFill>
                <a:latin typeface="Calibri" pitchFamily="34" charset="0"/>
                <a:ea typeface="Calibri" pitchFamily="34" charset="-122"/>
                <a:cs typeface="Calibri" pitchFamily="34" charset="-120"/>
              </a:rPr>
              <a:t>83 seconds, narrated</a:t>
            </a:r>
            <a:endParaRPr lang="en-US" sz="1600" dirty="0"/>
          </a:p>
        </p:txBody>
      </p:sp>
      <p:sp>
        <p:nvSpPr>
          <p:cNvPr id="8" name="Text 4"/>
          <p:cNvSpPr/>
          <p:nvPr/>
        </p:nvSpPr>
        <p:spPr>
          <a:xfrm>
            <a:off x="8778240" y="2423160"/>
            <a:ext cx="2606040" cy="3108960"/>
          </a:xfrm>
          <a:prstGeom prst="rect">
            <a:avLst/>
          </a:prstGeom>
          <a:noFill/>
          <a:ln/>
        </p:spPr>
        <p:txBody>
          <a:bodyPr wrap="square" lIns="0" tIns="0" rIns="0" bIns="0" rtlCol="0" anchor="ctr"/>
          <a:lstStyle/>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Three real machines walk the decision tree:</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 safe add,</a:t>
            </a: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 quiet add,</a:t>
            </a: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and a reviewed transfer.</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Click to play.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Acting: every write goes through an audited procedure</a:t>
            </a:r>
            <a:endParaRPr lang="en-US" sz="3200" dirty="0"/>
          </a:p>
        </p:txBody>
      </p:sp>
      <p:sp>
        <p:nvSpPr>
          <p:cNvPr id="5" name="Shape 2"/>
          <p:cNvSpPr/>
          <p:nvPr/>
        </p:nvSpPr>
        <p:spPr>
          <a:xfrm>
            <a:off x="548640" y="1554480"/>
            <a:ext cx="548640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783080"/>
            <a:ext cx="4846320" cy="365760"/>
          </a:xfrm>
          <a:prstGeom prst="rect">
            <a:avLst/>
          </a:prstGeom>
          <a:noFill/>
          <a:ln/>
        </p:spPr>
        <p:txBody>
          <a:bodyPr wrap="square" lIns="0" tIns="0" rIns="0" bIns="0" rtlCol="0" anchor="ctr"/>
          <a:lstStyle/>
          <a:p>
            <a:pPr marL="0" indent="0">
              <a:buNone/>
            </a:pPr>
            <a:r>
              <a:rPr lang="en-US" sz="1700" b="1" dirty="0">
                <a:solidFill>
                  <a:srgbClr val="4DA3FF"/>
                </a:solidFill>
                <a:latin typeface="Calibri" pitchFamily="34" charset="0"/>
                <a:ea typeface="Calibri" pitchFamily="34" charset="-122"/>
                <a:cs typeface="Calibri" pitchFamily="34" charset="-120"/>
              </a:rPr>
              <a:t>CCAT_ADD_ASSET</a:t>
            </a:r>
            <a:endParaRPr lang="en-US" sz="1700" dirty="0"/>
          </a:p>
        </p:txBody>
      </p:sp>
      <p:sp>
        <p:nvSpPr>
          <p:cNvPr id="7" name="Text 4"/>
          <p:cNvSpPr/>
          <p:nvPr/>
        </p:nvSpPr>
        <p:spPr>
          <a:xfrm>
            <a:off x="822960" y="2148840"/>
            <a:ext cx="4846320" cy="365760"/>
          </a:xfrm>
          <a:prstGeom prst="rect">
            <a:avLst/>
          </a:prstGeom>
          <a:noFill/>
          <a:ln/>
        </p:spPr>
        <p:txBody>
          <a:bodyPr wrap="square" lIns="0" tIns="0" rIns="0" bIns="0" rtlCol="0" anchor="ctr"/>
          <a:lstStyle/>
          <a:p>
            <a:pPr marL="0" indent="0">
              <a:buNone/>
            </a:pPr>
            <a:r>
              <a:rPr lang="en-US" sz="1700" b="1" dirty="0">
                <a:solidFill>
                  <a:srgbClr val="FF9F1C"/>
                </a:solidFill>
                <a:latin typeface="Calibri" pitchFamily="34" charset="0"/>
                <a:ea typeface="Calibri" pitchFamily="34" charset="-122"/>
                <a:cs typeface="Calibri" pitchFamily="34" charset="-120"/>
              </a:rPr>
              <a:t>CCAT_REASSIGN_CUSTOMER</a:t>
            </a:r>
            <a:endParaRPr lang="en-US" sz="1700" dirty="0"/>
          </a:p>
        </p:txBody>
      </p:sp>
      <p:sp>
        <p:nvSpPr>
          <p:cNvPr id="8" name="Text 5"/>
          <p:cNvSpPr/>
          <p:nvPr/>
        </p:nvSpPr>
        <p:spPr>
          <a:xfrm>
            <a:off x="822960" y="2697480"/>
            <a:ext cx="4937760" cy="320040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Look up the machine by serial number, pull everything else from our records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Search CCAT live before acting — never write blind</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Refuse anything outside their lane: existing records, other owners, attachments, known-bad serials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Dry-run by default — show exactly what would be sent, send nothing</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On execute: one API call, one audit row, one history snapshot</a:t>
            </a:r>
            <a:endParaRPr lang="en-US" sz="1350" dirty="0"/>
          </a:p>
        </p:txBody>
      </p:sp>
      <p:sp>
        <p:nvSpPr>
          <p:cNvPr id="9" name="Shape 6"/>
          <p:cNvSpPr/>
          <p:nvPr/>
        </p:nvSpPr>
        <p:spPr>
          <a:xfrm>
            <a:off x="6309360" y="1554480"/>
            <a:ext cx="530352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0" name="Text 7"/>
          <p:cNvSpPr/>
          <p:nvPr/>
        </p:nvSpPr>
        <p:spPr>
          <a:xfrm>
            <a:off x="6583680" y="1783080"/>
            <a:ext cx="4754880" cy="365760"/>
          </a:xfrm>
          <a:prstGeom prst="rect">
            <a:avLst/>
          </a:prstGeom>
          <a:noFill/>
          <a:ln/>
        </p:spPr>
        <p:txBody>
          <a:bodyPr wrap="square" lIns="0" tIns="0" rIns="0" bIns="0" rtlCol="0" anchor="ctr"/>
          <a:lstStyle/>
          <a:p>
            <a:pPr marL="0" indent="0">
              <a:buNone/>
            </a:pPr>
            <a:r>
              <a:rPr lang="en-US" sz="1600" b="1" dirty="0">
                <a:solidFill>
                  <a:srgbClr val="FFC72C"/>
                </a:solidFill>
                <a:latin typeface="Calibri" pitchFamily="34" charset="0"/>
                <a:ea typeface="Calibri" pitchFamily="34" charset="-122"/>
                <a:cs typeface="Calibri" pitchFamily="34" charset="-120"/>
              </a:rPr>
              <a:t>Payload rule</a:t>
            </a:r>
            <a:endParaRPr lang="en-US" sz="1600" dirty="0"/>
          </a:p>
        </p:txBody>
      </p:sp>
      <p:sp>
        <p:nvSpPr>
          <p:cNvPr id="11" name="Text 8"/>
          <p:cNvSpPr/>
          <p:nvPr/>
        </p:nvSpPr>
        <p:spPr>
          <a:xfrm>
            <a:off x="6583680" y="2212848"/>
            <a:ext cx="4754880" cy="137160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Where CCAT already has a record, its model and year are the versions Caterpillar recognizes — our requests reuse them. Our data only goes to Caterpillar for machines it has never seen.</a:t>
            </a:r>
            <a:endParaRPr lang="en-US" sz="1350" dirty="0"/>
          </a:p>
        </p:txBody>
      </p:sp>
      <p:sp>
        <p:nvSpPr>
          <p:cNvPr id="12" name="Shape 9"/>
          <p:cNvSpPr/>
          <p:nvPr/>
        </p:nvSpPr>
        <p:spPr>
          <a:xfrm>
            <a:off x="6309360" y="3931920"/>
            <a:ext cx="530352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3" name="Text 10"/>
          <p:cNvSpPr/>
          <p:nvPr/>
        </p:nvSpPr>
        <p:spPr>
          <a:xfrm>
            <a:off x="6583680" y="4160520"/>
            <a:ext cx="4754880" cy="365760"/>
          </a:xfrm>
          <a:prstGeom prst="rect">
            <a:avLst/>
          </a:prstGeom>
          <a:noFill/>
          <a:ln/>
        </p:spPr>
        <p:txBody>
          <a:bodyPr wrap="square" lIns="0" tIns="0" rIns="0" bIns="0" rtlCol="0" anchor="ctr"/>
          <a:lstStyle/>
          <a:p>
            <a:pPr marL="0" indent="0">
              <a:buNone/>
            </a:pPr>
            <a:r>
              <a:rPr lang="en-US" sz="1600" b="1" dirty="0">
                <a:solidFill>
                  <a:srgbClr val="FF5A5F"/>
                </a:solidFill>
                <a:latin typeface="Calibri" pitchFamily="34" charset="0"/>
                <a:ea typeface="Calibri" pitchFamily="34" charset="-122"/>
                <a:cs typeface="Calibri" pitchFamily="34" charset="-120"/>
              </a:rPr>
              <a:t>Raw API tools still exist</a:t>
            </a:r>
            <a:endParaRPr lang="en-US" sz="1600" dirty="0"/>
          </a:p>
        </p:txBody>
      </p:sp>
      <p:sp>
        <p:nvSpPr>
          <p:cNvPr id="14" name="Text 11"/>
          <p:cNvSpPr/>
          <p:nvPr/>
        </p:nvSpPr>
        <p:spPr>
          <a:xfrm>
            <a:off x="6583680" y="4590288"/>
            <a:ext cx="4754880" cy="12801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The low-level add/expire/transfer procedures are diagnostics only. They are not audited, and when access rolls out, other users will only ever be granted the wrappers.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CCAT_AUDIT: what we did, forever</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309360" cy="365760"/>
          </a:xfrm>
          <a:prstGeom prst="rect">
            <a:avLst/>
          </a:prstGeom>
          <a:noFill/>
          <a:ln/>
        </p:spPr>
        <p:txBody>
          <a:bodyPr wrap="square" lIns="0" tIns="0" rIns="0" bIns="0" rtlCol="0" anchor="ctr"/>
          <a:lstStyle/>
          <a:p>
            <a:pPr marL="0" indent="0">
              <a:buNone/>
            </a:pPr>
            <a:r>
              <a:rPr lang="en-US" sz="1500" b="1" dirty="0">
                <a:solidFill>
                  <a:srgbClr val="E8EEF5"/>
                </a:solidFill>
                <a:latin typeface="Calibri" pitchFamily="34" charset="0"/>
                <a:ea typeface="Calibri" pitchFamily="34" charset="-122"/>
                <a:cs typeface="Calibri" pitchFamily="34" charset="-120"/>
              </a:rPr>
              <a:t>Every executed or failed action writes one row:</a:t>
            </a:r>
            <a:endParaRPr lang="en-US" sz="1500" dirty="0"/>
          </a:p>
        </p:txBody>
      </p:sp>
      <p:sp>
        <p:nvSpPr>
          <p:cNvPr id="7" name="Text 4"/>
          <p:cNvSpPr/>
          <p:nvPr/>
        </p:nvSpPr>
        <p:spPr>
          <a:xfrm>
            <a:off x="868680" y="2286000"/>
            <a:ext cx="6400800" cy="35661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What: action type, phase, machine, model, ownership type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Customer before  →  customer after (the reassignment story)</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The exact payload sent, and Caterpillar's full response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Caterpillar's tracking ID — their support can trace any call</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 snapshot of CCAT taken just before we acted (the undo reference)</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Who, when, and which shift — feeds the per-shift reporting</a:t>
            </a:r>
            <a:endParaRPr lang="en-US" sz="1400" dirty="0"/>
          </a:p>
        </p:txBody>
      </p:sp>
      <p:sp>
        <p:nvSpPr>
          <p:cNvPr id="8" name="Shape 5"/>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txBody>
          <a:bodyPr/>
          <a:lstStyle/>
          <a:p>
            <a:endParaRPr lang="en-US"/>
          </a:p>
        </p:txBody>
      </p:sp>
      <p:sp>
        <p:nvSpPr>
          <p:cNvPr id="9" name="Text 6"/>
          <p:cNvSpPr/>
          <p:nvPr/>
        </p:nvSpPr>
        <p:spPr>
          <a:xfrm>
            <a:off x="8138160" y="1920240"/>
            <a:ext cx="3200400" cy="1005840"/>
          </a:xfrm>
          <a:prstGeom prst="rect">
            <a:avLst/>
          </a:prstGeom>
          <a:noFill/>
          <a:ln/>
        </p:spPr>
        <p:txBody>
          <a:bodyPr wrap="square" lIns="0" tIns="0" rIns="0" bIns="0" rtlCol="0" anchor="ctr"/>
          <a:lstStyle/>
          <a:p>
            <a:pPr marL="0" indent="0">
              <a:buNone/>
            </a:pPr>
            <a:r>
              <a:rPr lang="en-US" sz="2200" b="1" dirty="0">
                <a:solidFill>
                  <a:srgbClr val="FFC72C"/>
                </a:solidFill>
                <a:latin typeface="Calibri" pitchFamily="34" charset="0"/>
                <a:ea typeface="Calibri" pitchFamily="34" charset="-122"/>
                <a:cs typeface="Calibri" pitchFamily="34" charset="-120"/>
              </a:rPr>
              <a:t>Append-only</a:t>
            </a:r>
            <a:endParaRPr lang="en-US" sz="2200" dirty="0"/>
          </a:p>
          <a:p>
            <a:pPr marL="0" indent="0">
              <a:buNone/>
            </a:pPr>
            <a:r>
              <a:rPr lang="en-US" sz="2200" b="1" dirty="0">
                <a:solidFill>
                  <a:srgbClr val="FFC72C"/>
                </a:solidFill>
                <a:latin typeface="Calibri" pitchFamily="34" charset="0"/>
                <a:ea typeface="Calibri" pitchFamily="34" charset="-122"/>
                <a:cs typeface="Calibri" pitchFamily="34" charset="-120"/>
              </a:rPr>
              <a:t>by permission</a:t>
            </a:r>
            <a:endParaRPr lang="en-US" sz="2200" dirty="0"/>
          </a:p>
        </p:txBody>
      </p:sp>
      <p:sp>
        <p:nvSpPr>
          <p:cNvPr id="10" name="Text 7"/>
          <p:cNvSpPr/>
          <p:nvPr/>
        </p:nvSpPr>
        <p:spPr>
          <a:xfrm>
            <a:off x="8138160" y="3063240"/>
            <a:ext cx="3200400" cy="2743200"/>
          </a:xfrm>
          <a:prstGeom prst="rect">
            <a:avLst/>
          </a:prstGeom>
          <a:noFill/>
          <a:ln/>
        </p:spPr>
        <p:txBody>
          <a:bodyPr wrap="square" lIns="0" tIns="0" rIns="0" bIns="0" rtlCol="0" anchor="ctr"/>
          <a:lstStyle/>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The tooling role can INSERT and SELECT — nothing else. Audit rows cannot be edited or deleted, even by accident.</a:t>
            </a:r>
            <a:endParaRPr lang="en-US" sz="1400" dirty="0"/>
          </a:p>
          <a:p>
            <a:pPr marL="0" indent="0">
              <a:lnSpc>
                <a:spcPts val="1900"/>
              </a:lnSpc>
              <a:buNone/>
            </a:pPr>
            <a:endParaRPr lang="en-US" sz="1400" dirty="0"/>
          </a:p>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Kept forever. This table is the compliance trail.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CCAT_HISTORY: what the data was, at every point</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400800" cy="4023360"/>
          </a:xfrm>
          <a:prstGeom prst="rect">
            <a:avLst/>
          </a:prstGeom>
          <a:noFill/>
          <a:ln/>
        </p:spPr>
        <p:txBody>
          <a:bodyPr wrap="square" lIns="0" tIns="0" rIns="0" bIns="0" rtlCol="0" anchor="ctr"/>
          <a:lstStyle/>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Every distinct version, any author</a:t>
            </a:r>
            <a:endParaRPr lang="en-US" sz="1450" dirty="0"/>
          </a:p>
          <a:p>
            <a:pPr marL="0" indent="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Each check fingerprints Caterpillar's full answer for the machine. New fingerprint = the full snapshot is stored. Same fingerprint = nothing.</a:t>
            </a:r>
            <a:endParaRPr lang="en-US" sz="1450" dirty="0"/>
          </a:p>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Cheap by design</a:t>
            </a:r>
            <a:endParaRPr lang="en-US" sz="1450" dirty="0"/>
          </a:p>
          <a:p>
            <a:pPr marL="0" indent="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A machine checked fifty times with no change stores one row, not fifty. Built entirely from data the sweep already fetches — zero extra API calls.</a:t>
            </a:r>
            <a:endParaRPr lang="en-US" sz="1450" dirty="0"/>
          </a:p>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Absence counts too</a:t>
            </a:r>
            <a:endParaRPr lang="en-US" sz="1450" dirty="0"/>
          </a:p>
          <a:p>
            <a:pPr marL="0" indent="0">
              <a:lnSpc>
                <a:spcPts val="1900"/>
              </a:lnSpc>
              <a:buNone/>
            </a:pPr>
            <a:r>
              <a:rPr lang="en-US" sz="1450" dirty="0">
                <a:solidFill>
                  <a:srgbClr val="E8EEF5"/>
                </a:solidFill>
                <a:latin typeface="Calibri" pitchFamily="34" charset="0"/>
                <a:ea typeface="Calibri" pitchFamily="34" charset="-122"/>
                <a:cs typeface="Calibri" pitchFamily="34" charset="-120"/>
              </a:rPr>
              <a:t>“No records at all” is itself a version — a machine appearing in, or vanishing from, CCAT leaves a trail.</a:t>
            </a:r>
            <a:endParaRPr lang="en-US" sz="1450" dirty="0"/>
          </a:p>
        </p:txBody>
      </p:sp>
      <p:sp>
        <p:nvSpPr>
          <p:cNvPr id="7" name="Shape 4"/>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txBody>
          <a:bodyPr/>
          <a:lstStyle/>
          <a:p>
            <a:endParaRPr lang="en-US"/>
          </a:p>
        </p:txBody>
      </p:sp>
      <p:sp>
        <p:nvSpPr>
          <p:cNvPr id="8" name="Text 5"/>
          <p:cNvSpPr/>
          <p:nvPr/>
        </p:nvSpPr>
        <p:spPr>
          <a:xfrm>
            <a:off x="8138160" y="1920240"/>
            <a:ext cx="3200400" cy="822960"/>
          </a:xfrm>
          <a:prstGeom prst="rect">
            <a:avLst/>
          </a:prstGeom>
          <a:noFill/>
          <a:ln/>
        </p:spPr>
        <p:txBody>
          <a:bodyPr wrap="square" lIns="0" tIns="0" rIns="0" bIns="0" rtlCol="0" anchor="ctr"/>
          <a:lstStyle/>
          <a:p>
            <a:pPr marL="0" indent="0">
              <a:buNone/>
            </a:pPr>
            <a:r>
              <a:rPr lang="en-US" sz="4800" b="1" dirty="0">
                <a:solidFill>
                  <a:srgbClr val="FFC72C"/>
                </a:solidFill>
                <a:latin typeface="Calibri" pitchFamily="34" charset="0"/>
                <a:ea typeface="Calibri" pitchFamily="34" charset="-122"/>
                <a:cs typeface="Calibri" pitchFamily="34" charset="-120"/>
              </a:rPr>
              <a:t>1 row</a:t>
            </a:r>
            <a:endParaRPr lang="en-US" sz="4800" dirty="0"/>
          </a:p>
        </p:txBody>
      </p:sp>
      <p:sp>
        <p:nvSpPr>
          <p:cNvPr id="9" name="Text 6"/>
          <p:cNvSpPr/>
          <p:nvPr/>
        </p:nvSpPr>
        <p:spPr>
          <a:xfrm>
            <a:off x="8138160" y="2834640"/>
            <a:ext cx="3200400" cy="2377440"/>
          </a:xfrm>
          <a:prstGeom prst="rect">
            <a:avLst/>
          </a:prstGeom>
          <a:noFill/>
          <a:ln/>
        </p:spPr>
        <p:txBody>
          <a:bodyPr wrap="square" lIns="0" tIns="0" rIns="0" bIns="0" rtlCol="0" anchor="ctr"/>
          <a:lstStyle/>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per real change in Caterpillar's data, no matter how many times we look.</a:t>
            </a:r>
            <a:endParaRPr lang="en-US" sz="1400" dirty="0"/>
          </a:p>
          <a:p>
            <a:pPr marL="0" indent="0">
              <a:lnSpc>
                <a:spcPts val="1900"/>
              </a:lnSpc>
              <a:buNone/>
            </a:pPr>
            <a:endParaRPr lang="en-US" sz="1400" dirty="0"/>
          </a:p>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Append-only and kept forever, same as audit.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Two tables, one powerful difference</a:t>
            </a:r>
            <a:endParaRPr lang="en-US" sz="3200" dirty="0"/>
          </a:p>
        </p:txBody>
      </p:sp>
      <p:sp>
        <p:nvSpPr>
          <p:cNvPr id="5" name="Shape 2"/>
          <p:cNvSpPr/>
          <p:nvPr/>
        </p:nvSpPr>
        <p:spPr>
          <a:xfrm>
            <a:off x="548640" y="1600200"/>
            <a:ext cx="5394960" cy="3017520"/>
          </a:xfrm>
          <a:prstGeom prst="roundRect">
            <a:avLst>
              <a:gd name="adj" fmla="val 2424"/>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4754880" cy="411480"/>
          </a:xfrm>
          <a:prstGeom prst="rect">
            <a:avLst/>
          </a:prstGeom>
          <a:noFill/>
          <a:ln/>
        </p:spPr>
        <p:txBody>
          <a:bodyPr wrap="square" lIns="0" tIns="0" rIns="0" bIns="0" rtlCol="0" anchor="ctr"/>
          <a:lstStyle/>
          <a:p>
            <a:pPr marL="0" indent="0">
              <a:buNone/>
            </a:pPr>
            <a:r>
              <a:rPr lang="en-US" sz="2000" b="1" dirty="0">
                <a:solidFill>
                  <a:srgbClr val="FFC72C"/>
                </a:solidFill>
                <a:latin typeface="Calibri" pitchFamily="34" charset="0"/>
                <a:ea typeface="Calibri" pitchFamily="34" charset="-122"/>
                <a:cs typeface="Calibri" pitchFamily="34" charset="-120"/>
              </a:rPr>
              <a:t>AUDIT</a:t>
            </a:r>
            <a:endParaRPr lang="en-US" sz="2000" dirty="0"/>
          </a:p>
        </p:txBody>
      </p:sp>
      <p:sp>
        <p:nvSpPr>
          <p:cNvPr id="7" name="Text 4"/>
          <p:cNvSpPr/>
          <p:nvPr/>
        </p:nvSpPr>
        <p:spPr>
          <a:xfrm>
            <a:off x="822960" y="2377440"/>
            <a:ext cx="4846320" cy="2011680"/>
          </a:xfrm>
          <a:prstGeom prst="rect">
            <a:avLst/>
          </a:prstGeom>
          <a:noFill/>
          <a:ln/>
        </p:spPr>
        <p:txBody>
          <a:bodyPr wrap="square" lIns="0" tIns="0" rIns="0" bIns="0" rtlCol="0" anchor="ctr"/>
          <a:lstStyle/>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What WE did.</a:t>
            </a:r>
            <a:endParaRPr lang="en-US" sz="1500" dirty="0"/>
          </a:p>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Actions, payloads, outcomes, tracking IDs — signed, dated, attributable.</a:t>
            </a:r>
            <a:endParaRPr lang="en-US" sz="1500" dirty="0"/>
          </a:p>
        </p:txBody>
      </p:sp>
      <p:sp>
        <p:nvSpPr>
          <p:cNvPr id="8" name="Shape 5"/>
          <p:cNvSpPr/>
          <p:nvPr/>
        </p:nvSpPr>
        <p:spPr>
          <a:xfrm>
            <a:off x="6217920" y="1600200"/>
            <a:ext cx="5394960" cy="3017520"/>
          </a:xfrm>
          <a:prstGeom prst="roundRect">
            <a:avLst>
              <a:gd name="adj" fmla="val 2424"/>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6492240" y="1874520"/>
            <a:ext cx="4754880" cy="411480"/>
          </a:xfrm>
          <a:prstGeom prst="rect">
            <a:avLst/>
          </a:prstGeom>
          <a:noFill/>
          <a:ln/>
        </p:spPr>
        <p:txBody>
          <a:bodyPr wrap="square" lIns="0" tIns="0" rIns="0" bIns="0" rtlCol="0" anchor="ctr"/>
          <a:lstStyle/>
          <a:p>
            <a:pPr marL="0" indent="0">
              <a:buNone/>
            </a:pPr>
            <a:r>
              <a:rPr lang="en-US" sz="2000" b="1" dirty="0">
                <a:solidFill>
                  <a:srgbClr val="2EC4B6"/>
                </a:solidFill>
                <a:latin typeface="Calibri" pitchFamily="34" charset="0"/>
                <a:ea typeface="Calibri" pitchFamily="34" charset="-122"/>
                <a:cs typeface="Calibri" pitchFamily="34" charset="-120"/>
              </a:rPr>
              <a:t>HISTORY</a:t>
            </a:r>
            <a:endParaRPr lang="en-US" sz="2000" dirty="0"/>
          </a:p>
        </p:txBody>
      </p:sp>
      <p:sp>
        <p:nvSpPr>
          <p:cNvPr id="10" name="Text 7"/>
          <p:cNvSpPr/>
          <p:nvPr/>
        </p:nvSpPr>
        <p:spPr>
          <a:xfrm>
            <a:off x="6492240" y="2377440"/>
            <a:ext cx="4846320" cy="2011680"/>
          </a:xfrm>
          <a:prstGeom prst="rect">
            <a:avLst/>
          </a:prstGeom>
          <a:noFill/>
          <a:ln/>
        </p:spPr>
        <p:txBody>
          <a:bodyPr wrap="square" lIns="0" tIns="0" rIns="0" bIns="0" rtlCol="0" anchor="ctr"/>
          <a:lstStyle/>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What the data WAS.</a:t>
            </a:r>
            <a:endParaRPr lang="en-US" sz="1500" dirty="0"/>
          </a:p>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Every observed version of every machine's CCAT picture, whoever changed it.</a:t>
            </a:r>
            <a:endParaRPr lang="en-US" sz="1500" dirty="0"/>
          </a:p>
        </p:txBody>
      </p:sp>
      <p:sp>
        <p:nvSpPr>
          <p:cNvPr id="11" name="Shape 8"/>
          <p:cNvSpPr/>
          <p:nvPr/>
        </p:nvSpPr>
        <p:spPr>
          <a:xfrm>
            <a:off x="548640" y="4892040"/>
            <a:ext cx="11064240" cy="1188720"/>
          </a:xfrm>
          <a:prstGeom prst="roundRect">
            <a:avLst>
              <a:gd name="adj" fmla="val 6154"/>
            </a:avLst>
          </a:prstGeom>
          <a:solidFill>
            <a:srgbClr val="12314A"/>
          </a:solidFill>
          <a:ln w="12700">
            <a:solidFill>
              <a:srgbClr val="223650"/>
            </a:solidFill>
            <a:prstDash val="solid"/>
          </a:ln>
        </p:spPr>
        <p:txBody>
          <a:bodyPr/>
          <a:lstStyle/>
          <a:p>
            <a:endParaRPr lang="en-US"/>
          </a:p>
        </p:txBody>
      </p:sp>
      <p:sp>
        <p:nvSpPr>
          <p:cNvPr id="12" name="Text 9"/>
          <p:cNvSpPr/>
          <p:nvPr/>
        </p:nvSpPr>
        <p:spPr>
          <a:xfrm>
            <a:off x="822960" y="5074920"/>
            <a:ext cx="10561320" cy="868680"/>
          </a:xfrm>
          <a:prstGeom prst="rect">
            <a:avLst/>
          </a:prstGeom>
          <a:noFill/>
          <a:ln/>
        </p:spPr>
        <p:txBody>
          <a:bodyPr wrap="square" lIns="0" tIns="0" rIns="0" bIns="0" rtlCol="0" anchor="ctr"/>
          <a:lstStyle/>
          <a:p>
            <a:pPr marL="0" indent="0">
              <a:lnSpc>
                <a:spcPts val="2100"/>
              </a:lnSpc>
              <a:buNone/>
            </a:pPr>
            <a:r>
              <a:rPr lang="en-US" sz="1550" b="1" dirty="0">
                <a:solidFill>
                  <a:srgbClr val="FFC72C"/>
                </a:solidFill>
                <a:latin typeface="Calibri" pitchFamily="34" charset="0"/>
                <a:ea typeface="Calibri" pitchFamily="34" charset="-122"/>
                <a:cs typeface="Calibri" pitchFamily="34" charset="-120"/>
              </a:rPr>
              <a:t>History minus audit = external changes.  </a:t>
            </a:r>
            <a:r>
              <a:rPr lang="en-US" sz="1550" dirty="0">
                <a:solidFill>
                  <a:srgbClr val="E8EEF5"/>
                </a:solidFill>
                <a:latin typeface="Calibri" pitchFamily="34" charset="0"/>
                <a:ea typeface="Calibri" pitchFamily="34" charset="-122"/>
                <a:cs typeface="Calibri" pitchFamily="34" charset="-120"/>
              </a:rPr>
              <a:t>A version change with no audit row nearby means Caterpillar, another dealer, or a portal edit changed the data — the class of change that used to be invisible.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RUN IT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operating rhythm</a:t>
            </a:r>
            <a:endParaRPr lang="en-US" sz="3200" dirty="0"/>
          </a:p>
        </p:txBody>
      </p:sp>
      <p:sp>
        <p:nvSpPr>
          <p:cNvPr id="5" name="Shape 2"/>
          <p:cNvSpPr/>
          <p:nvPr/>
        </p:nvSpPr>
        <p:spPr>
          <a:xfrm>
            <a:off x="54864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28800"/>
            <a:ext cx="2926080" cy="365760"/>
          </a:xfrm>
          <a:prstGeom prst="rect">
            <a:avLst/>
          </a:prstGeom>
          <a:noFill/>
          <a:ln/>
        </p:spPr>
        <p:txBody>
          <a:bodyPr wrap="square" lIns="0" tIns="0" rIns="0" bIns="0" rtlCol="0" anchor="ctr"/>
          <a:lstStyle/>
          <a:p>
            <a:pPr marL="0" indent="0">
              <a:buNone/>
            </a:pPr>
            <a:r>
              <a:rPr lang="en-US" sz="1800" b="1" dirty="0">
                <a:solidFill>
                  <a:srgbClr val="4DA3FF"/>
                </a:solidFill>
                <a:latin typeface="Calibri" pitchFamily="34" charset="0"/>
                <a:ea typeface="Calibri" pitchFamily="34" charset="-122"/>
                <a:cs typeface="Calibri" pitchFamily="34" charset="-120"/>
              </a:rPr>
              <a:t>Nightly</a:t>
            </a:r>
            <a:endParaRPr lang="en-US" sz="1800" dirty="0"/>
          </a:p>
        </p:txBody>
      </p:sp>
      <p:sp>
        <p:nvSpPr>
          <p:cNvPr id="7" name="Text 4"/>
          <p:cNvSpPr/>
          <p:nvPr/>
        </p:nvSpPr>
        <p:spPr>
          <a:xfrm>
            <a:off x="82296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The sweep checks its batch, refreshes verdicts, and grows coverage. Read-only, automatic.</a:t>
            </a:r>
            <a:endParaRPr lang="en-US" sz="1350" dirty="0"/>
          </a:p>
        </p:txBody>
      </p:sp>
      <p:sp>
        <p:nvSpPr>
          <p:cNvPr id="8" name="Shape 5"/>
          <p:cNvSpPr/>
          <p:nvPr/>
        </p:nvSpPr>
        <p:spPr>
          <a:xfrm>
            <a:off x="434340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4617720" y="1828800"/>
            <a:ext cx="2926080" cy="365760"/>
          </a:xfrm>
          <a:prstGeom prst="rect">
            <a:avLst/>
          </a:prstGeom>
          <a:noFill/>
          <a:ln/>
        </p:spPr>
        <p:txBody>
          <a:bodyPr wrap="square" lIns="0" tIns="0" rIns="0" bIns="0" rtlCol="0" anchor="ctr"/>
          <a:lstStyle/>
          <a:p>
            <a:pPr marL="0" indent="0">
              <a:buNone/>
            </a:pPr>
            <a:r>
              <a:rPr lang="en-US" sz="1800" b="1" dirty="0">
                <a:solidFill>
                  <a:srgbClr val="2EC4B6"/>
                </a:solidFill>
                <a:latin typeface="Calibri" pitchFamily="34" charset="0"/>
                <a:ea typeface="Calibri" pitchFamily="34" charset="-122"/>
                <a:cs typeface="Calibri" pitchFamily="34" charset="-120"/>
              </a:rPr>
              <a:t>Weekly</a:t>
            </a:r>
            <a:endParaRPr lang="en-US" sz="1800" dirty="0"/>
          </a:p>
        </p:txBody>
      </p:sp>
      <p:sp>
        <p:nvSpPr>
          <p:cNvPr id="10" name="Text 7"/>
          <p:cNvSpPr/>
          <p:nvPr/>
        </p:nvSpPr>
        <p:spPr>
          <a:xfrm>
            <a:off x="461772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Batched safe adds and quiet fixes run under volume caps. A scoreboard snapshot tracks the backlog shrinking.</a:t>
            </a:r>
            <a:endParaRPr lang="en-US" sz="1350" dirty="0"/>
          </a:p>
        </p:txBody>
      </p:sp>
      <p:sp>
        <p:nvSpPr>
          <p:cNvPr id="11" name="Shape 8"/>
          <p:cNvSpPr/>
          <p:nvPr/>
        </p:nvSpPr>
        <p:spPr>
          <a:xfrm>
            <a:off x="813816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8412480" y="1828800"/>
            <a:ext cx="2926080" cy="365760"/>
          </a:xfrm>
          <a:prstGeom prst="rect">
            <a:avLst/>
          </a:prstGeom>
          <a:noFill/>
          <a:ln/>
        </p:spPr>
        <p:txBody>
          <a:bodyPr wrap="square" lIns="0" tIns="0" rIns="0" bIns="0" rtlCol="0" anchor="ctr"/>
          <a:lstStyle/>
          <a:p>
            <a:pPr marL="0" indent="0">
              <a:buNone/>
            </a:pPr>
            <a:r>
              <a:rPr lang="en-US" sz="1800" b="1" dirty="0">
                <a:solidFill>
                  <a:srgbClr val="FF5A5F"/>
                </a:solidFill>
                <a:latin typeface="Calibri" pitchFamily="34" charset="0"/>
                <a:ea typeface="Calibri" pitchFamily="34" charset="-122"/>
                <a:cs typeface="Calibri" pitchFamily="34" charset="-120"/>
              </a:rPr>
              <a:t>Every shift</a:t>
            </a:r>
            <a:endParaRPr lang="en-US" sz="1800" dirty="0"/>
          </a:p>
        </p:txBody>
      </p:sp>
      <p:sp>
        <p:nvSpPr>
          <p:cNvPr id="13" name="Text 10"/>
          <p:cNvSpPr/>
          <p:nvPr/>
        </p:nvSpPr>
        <p:spPr>
          <a:xfrm>
            <a:off x="841248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About ten reviewed decisions: transfers, inbound claims, judgment calls — audited as they happen.</a:t>
            </a:r>
            <a:endParaRPr lang="en-US" sz="1350" dirty="0"/>
          </a:p>
        </p:txBody>
      </p:sp>
      <p:sp>
        <p:nvSpPr>
          <p:cNvPr id="14" name="Shape 11"/>
          <p:cNvSpPr/>
          <p:nvPr/>
        </p:nvSpPr>
        <p:spPr>
          <a:xfrm>
            <a:off x="548640" y="4160520"/>
            <a:ext cx="11064240" cy="1920240"/>
          </a:xfrm>
          <a:prstGeom prst="roundRect">
            <a:avLst>
              <a:gd name="adj" fmla="val 3810"/>
            </a:avLst>
          </a:prstGeom>
          <a:solidFill>
            <a:srgbClr val="12314A"/>
          </a:solidFill>
          <a:ln w="12700">
            <a:solidFill>
              <a:srgbClr val="223650"/>
            </a:solidFill>
            <a:prstDash val="solid"/>
          </a:ln>
        </p:spPr>
        <p:txBody>
          <a:bodyPr/>
          <a:lstStyle/>
          <a:p>
            <a:endParaRPr lang="en-US"/>
          </a:p>
        </p:txBody>
      </p:sp>
      <p:sp>
        <p:nvSpPr>
          <p:cNvPr id="15" name="Text 12"/>
          <p:cNvSpPr/>
          <p:nvPr/>
        </p:nvSpPr>
        <p:spPr>
          <a:xfrm>
            <a:off x="822960" y="4389120"/>
            <a:ext cx="10058400" cy="365760"/>
          </a:xfrm>
          <a:prstGeom prst="rect">
            <a:avLst/>
          </a:prstGeom>
          <a:noFill/>
          <a:ln/>
        </p:spPr>
        <p:txBody>
          <a:bodyPr wrap="square" lIns="0" tIns="0" rIns="0" bIns="0" rtlCol="0" anchor="ctr"/>
          <a:lstStyle/>
          <a:p>
            <a:pPr marL="0" indent="0">
              <a:buNone/>
            </a:pPr>
            <a:r>
              <a:rPr lang="en-US" sz="1500" b="1" dirty="0">
                <a:solidFill>
                  <a:srgbClr val="FFC72C"/>
                </a:solidFill>
                <a:latin typeface="Calibri" pitchFamily="34" charset="0"/>
                <a:ea typeface="Calibri" pitchFamily="34" charset="-122"/>
                <a:cs typeface="Calibri" pitchFamily="34" charset="-120"/>
              </a:rPr>
              <a:t>What leadership sees, weekly:</a:t>
            </a:r>
            <a:endParaRPr lang="en-US" sz="1500" dirty="0"/>
          </a:p>
        </p:txBody>
      </p:sp>
      <p:sp>
        <p:nvSpPr>
          <p:cNvPr id="16" name="Text 13"/>
          <p:cNvSpPr/>
          <p:nvPr/>
        </p:nvSpPr>
        <p:spPr>
          <a:xfrm>
            <a:off x="822960" y="4846320"/>
            <a:ext cx="1042416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Customer assignment rate — the headline: % of machines on the correct customer in CCAT</a:t>
            </a:r>
            <a:endParaRPr lang="en-US" sz="1350" dirty="0"/>
          </a:p>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Coverage and match rate — how much of the fleet is verified, and how much agrees</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Backlog by phase, resolutions per shift, and transfers in flight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GUARDRAILS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rules that keep it safe</a:t>
            </a:r>
            <a:endParaRPr lang="en-US" sz="3200" dirty="0"/>
          </a:p>
        </p:txBody>
      </p:sp>
      <p:sp>
        <p:nvSpPr>
          <p:cNvPr id="5" name="Shape 2"/>
          <p:cNvSpPr/>
          <p:nvPr/>
        </p:nvSpPr>
        <p:spPr>
          <a:xfrm>
            <a:off x="54864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22960" y="1892808"/>
            <a:ext cx="146304" cy="146304"/>
          </a:xfrm>
          <a:prstGeom prst="ellipse">
            <a:avLst/>
          </a:prstGeom>
          <a:solidFill>
            <a:srgbClr val="34C759"/>
          </a:solidFill>
          <a:ln/>
        </p:spPr>
        <p:txBody>
          <a:bodyPr/>
          <a:lstStyle/>
          <a:p>
            <a:endParaRPr lang="en-US"/>
          </a:p>
        </p:txBody>
      </p:sp>
      <p:sp>
        <p:nvSpPr>
          <p:cNvPr id="7" name="Text 4"/>
          <p:cNvSpPr/>
          <p:nvPr/>
        </p:nvSpPr>
        <p:spPr>
          <a:xfrm>
            <a:off x="1078992" y="1783080"/>
            <a:ext cx="2834640" cy="594360"/>
          </a:xfrm>
          <a:prstGeom prst="rect">
            <a:avLst/>
          </a:prstGeom>
          <a:noFill/>
          <a:ln/>
        </p:spPr>
        <p:txBody>
          <a:bodyPr wrap="square" lIns="0" tIns="0" rIns="0" bIns="0" rtlCol="0" anchor="ctr"/>
          <a:lstStyle/>
          <a:p>
            <a:pPr marL="0" indent="0">
              <a:buNone/>
            </a:pPr>
            <a:r>
              <a:rPr lang="en-US" sz="1450" b="1" dirty="0">
                <a:solidFill>
                  <a:srgbClr val="34C759"/>
                </a:solidFill>
                <a:latin typeface="Calibri" pitchFamily="34" charset="0"/>
                <a:ea typeface="Calibri" pitchFamily="34" charset="-122"/>
                <a:cs typeface="Calibri" pitchFamily="34" charset="-120"/>
              </a:rPr>
              <a:t>Dry-run first, always</a:t>
            </a:r>
            <a:endParaRPr lang="en-US" sz="1450" dirty="0"/>
          </a:p>
        </p:txBody>
      </p:sp>
      <p:sp>
        <p:nvSpPr>
          <p:cNvPr id="8" name="Text 5"/>
          <p:cNvSpPr/>
          <p:nvPr/>
        </p:nvSpPr>
        <p:spPr>
          <a:xfrm>
            <a:off x="82296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Every write shows its exact payload and sends nothing until deliberately executed.</a:t>
            </a:r>
            <a:endParaRPr lang="en-US" sz="1200" dirty="0"/>
          </a:p>
        </p:txBody>
      </p:sp>
      <p:sp>
        <p:nvSpPr>
          <p:cNvPr id="9" name="Shape 6"/>
          <p:cNvSpPr/>
          <p:nvPr/>
        </p:nvSpPr>
        <p:spPr>
          <a:xfrm>
            <a:off x="434340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4617720" y="1892808"/>
            <a:ext cx="146304" cy="146304"/>
          </a:xfrm>
          <a:prstGeom prst="ellipse">
            <a:avLst/>
          </a:prstGeom>
          <a:solidFill>
            <a:srgbClr val="FF5A5F"/>
          </a:solidFill>
          <a:ln/>
        </p:spPr>
        <p:txBody>
          <a:bodyPr/>
          <a:lstStyle/>
          <a:p>
            <a:endParaRPr lang="en-US"/>
          </a:p>
        </p:txBody>
      </p:sp>
      <p:sp>
        <p:nvSpPr>
          <p:cNvPr id="11" name="Text 8"/>
          <p:cNvSpPr/>
          <p:nvPr/>
        </p:nvSpPr>
        <p:spPr>
          <a:xfrm>
            <a:off x="4873752" y="1783080"/>
            <a:ext cx="2834640" cy="59436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No bulk claims, ever</a:t>
            </a:r>
            <a:endParaRPr lang="en-US" sz="1450" dirty="0"/>
          </a:p>
        </p:txBody>
      </p:sp>
      <p:sp>
        <p:nvSpPr>
          <p:cNvPr id="12" name="Text 9"/>
          <p:cNvSpPr/>
          <p:nvPr/>
        </p:nvSpPr>
        <p:spPr>
          <a:xfrm>
            <a:off x="461772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Blanket adds would fire transfer requests at real dealers and can silently overwrite our own records.</a:t>
            </a:r>
            <a:endParaRPr lang="en-US" sz="1200" dirty="0"/>
          </a:p>
        </p:txBody>
      </p:sp>
      <p:sp>
        <p:nvSpPr>
          <p:cNvPr id="13" name="Shape 10"/>
          <p:cNvSpPr/>
          <p:nvPr/>
        </p:nvSpPr>
        <p:spPr>
          <a:xfrm>
            <a:off x="813816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412480" y="1892808"/>
            <a:ext cx="146304" cy="146304"/>
          </a:xfrm>
          <a:prstGeom prst="ellipse">
            <a:avLst/>
          </a:prstGeom>
          <a:solidFill>
            <a:srgbClr val="2EC4B6"/>
          </a:solidFill>
          <a:ln/>
        </p:spPr>
        <p:txBody>
          <a:bodyPr/>
          <a:lstStyle/>
          <a:p>
            <a:endParaRPr lang="en-US"/>
          </a:p>
        </p:txBody>
      </p:sp>
      <p:sp>
        <p:nvSpPr>
          <p:cNvPr id="15" name="Text 12"/>
          <p:cNvSpPr/>
          <p:nvPr/>
        </p:nvSpPr>
        <p:spPr>
          <a:xfrm>
            <a:off x="8668512" y="1783080"/>
            <a:ext cx="2834640" cy="59436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Shared customers excluded</a:t>
            </a:r>
            <a:endParaRPr lang="en-US" sz="1450" dirty="0"/>
          </a:p>
        </p:txBody>
      </p:sp>
      <p:sp>
        <p:nvSpPr>
          <p:cNvPr id="16" name="Text 13"/>
          <p:cNvSpPr/>
          <p:nvPr/>
        </p:nvSpPr>
        <p:spPr>
          <a:xfrm>
            <a:off x="841248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When another dealer serves the same customer, the machine routes to coordination — never a claim.</a:t>
            </a:r>
            <a:endParaRPr lang="en-US" sz="1200" dirty="0"/>
          </a:p>
        </p:txBody>
      </p:sp>
      <p:sp>
        <p:nvSpPr>
          <p:cNvPr id="17" name="Shape 14"/>
          <p:cNvSpPr/>
          <p:nvPr/>
        </p:nvSpPr>
        <p:spPr>
          <a:xfrm>
            <a:off x="54864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822960" y="4178808"/>
            <a:ext cx="146304" cy="146304"/>
          </a:xfrm>
          <a:prstGeom prst="ellipse">
            <a:avLst/>
          </a:prstGeom>
          <a:solidFill>
            <a:srgbClr val="FFC72C"/>
          </a:solidFill>
          <a:ln/>
        </p:spPr>
        <p:txBody>
          <a:bodyPr/>
          <a:lstStyle/>
          <a:p>
            <a:endParaRPr lang="en-US"/>
          </a:p>
        </p:txBody>
      </p:sp>
      <p:sp>
        <p:nvSpPr>
          <p:cNvPr id="19" name="Text 16"/>
          <p:cNvSpPr/>
          <p:nvPr/>
        </p:nvSpPr>
        <p:spPr>
          <a:xfrm>
            <a:off x="1078992" y="4069080"/>
            <a:ext cx="2834640" cy="594360"/>
          </a:xfrm>
          <a:prstGeom prst="rect">
            <a:avLst/>
          </a:prstGeom>
          <a:noFill/>
          <a:ln/>
        </p:spPr>
        <p:txBody>
          <a:bodyPr wrap="square" lIns="0" tIns="0" rIns="0" bIns="0" rtlCol="0" anchor="ctr"/>
          <a:lstStyle/>
          <a:p>
            <a:pPr marL="0" indent="0">
              <a:buNone/>
            </a:pPr>
            <a:r>
              <a:rPr lang="en-US" sz="1450" b="1" dirty="0">
                <a:solidFill>
                  <a:srgbClr val="FFC72C"/>
                </a:solidFill>
                <a:latin typeface="Calibri" pitchFamily="34" charset="0"/>
                <a:ea typeface="Calibri" pitchFamily="34" charset="-122"/>
                <a:cs typeface="Calibri" pitchFamily="34" charset="-120"/>
              </a:rPr>
              <a:t>CCAT owns the model</a:t>
            </a:r>
            <a:endParaRPr lang="en-US" sz="1450" dirty="0"/>
          </a:p>
        </p:txBody>
      </p:sp>
      <p:sp>
        <p:nvSpPr>
          <p:cNvPr id="20" name="Text 17"/>
          <p:cNvSpPr/>
          <p:nvPr/>
        </p:nvSpPr>
        <p:spPr>
          <a:xfrm>
            <a:off x="82296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We never push our model names over Caterpillar's — their versions are what Cat systems recognize.</a:t>
            </a:r>
            <a:endParaRPr lang="en-US" sz="1200" dirty="0"/>
          </a:p>
        </p:txBody>
      </p:sp>
      <p:sp>
        <p:nvSpPr>
          <p:cNvPr id="21" name="Shape 18"/>
          <p:cNvSpPr/>
          <p:nvPr/>
        </p:nvSpPr>
        <p:spPr>
          <a:xfrm>
            <a:off x="434340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22" name="Shape 19"/>
          <p:cNvSpPr/>
          <p:nvPr/>
        </p:nvSpPr>
        <p:spPr>
          <a:xfrm>
            <a:off x="4617720" y="4178808"/>
            <a:ext cx="146304" cy="146304"/>
          </a:xfrm>
          <a:prstGeom prst="ellipse">
            <a:avLst/>
          </a:prstGeom>
          <a:solidFill>
            <a:srgbClr val="FF9F1C"/>
          </a:solidFill>
          <a:ln/>
        </p:spPr>
        <p:txBody>
          <a:bodyPr/>
          <a:lstStyle/>
          <a:p>
            <a:endParaRPr lang="en-US"/>
          </a:p>
        </p:txBody>
      </p:sp>
      <p:sp>
        <p:nvSpPr>
          <p:cNvPr id="23" name="Text 20"/>
          <p:cNvSpPr/>
          <p:nvPr/>
        </p:nvSpPr>
        <p:spPr>
          <a:xfrm>
            <a:off x="4873752" y="4069080"/>
            <a:ext cx="2834640" cy="59436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Production awareness</a:t>
            </a:r>
            <a:endParaRPr lang="en-US" sz="1450" dirty="0"/>
          </a:p>
        </p:txBody>
      </p:sp>
      <p:sp>
        <p:nvSpPr>
          <p:cNvPr id="24" name="Text 21"/>
          <p:cNvSpPr/>
          <p:nvPr/>
        </p:nvSpPr>
        <p:spPr>
          <a:xfrm>
            <a:off x="461772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Caterpillar has no test environment. Every write is treated as real, because it is.</a:t>
            </a:r>
            <a:endParaRPr lang="en-US" sz="1200" dirty="0"/>
          </a:p>
        </p:txBody>
      </p:sp>
      <p:sp>
        <p:nvSpPr>
          <p:cNvPr id="25" name="Shape 22"/>
          <p:cNvSpPr/>
          <p:nvPr/>
        </p:nvSpPr>
        <p:spPr>
          <a:xfrm>
            <a:off x="813816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26" name="Shape 23"/>
          <p:cNvSpPr/>
          <p:nvPr/>
        </p:nvSpPr>
        <p:spPr>
          <a:xfrm>
            <a:off x="8412480" y="4178808"/>
            <a:ext cx="146304" cy="146304"/>
          </a:xfrm>
          <a:prstGeom prst="ellipse">
            <a:avLst/>
          </a:prstGeom>
          <a:solidFill>
            <a:srgbClr val="4DA3FF"/>
          </a:solidFill>
          <a:ln/>
        </p:spPr>
        <p:txBody>
          <a:bodyPr/>
          <a:lstStyle/>
          <a:p>
            <a:endParaRPr lang="en-US"/>
          </a:p>
        </p:txBody>
      </p:sp>
      <p:sp>
        <p:nvSpPr>
          <p:cNvPr id="27" name="Text 24"/>
          <p:cNvSpPr/>
          <p:nvPr/>
        </p:nvSpPr>
        <p:spPr>
          <a:xfrm>
            <a:off x="8668512" y="4069080"/>
            <a:ext cx="2834640" cy="59436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Compliance tables are sacred</a:t>
            </a:r>
            <a:endParaRPr lang="en-US" sz="1450" dirty="0"/>
          </a:p>
        </p:txBody>
      </p:sp>
      <p:sp>
        <p:nvSpPr>
          <p:cNvPr id="28" name="Text 25"/>
          <p:cNvSpPr/>
          <p:nvPr/>
        </p:nvSpPr>
        <p:spPr>
          <a:xfrm>
            <a:off x="841248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Audit and history are append-only by permission and kept forever — off the reset list permanently.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Where it stands</a:t>
            </a:r>
            <a:endParaRPr lang="en-US" sz="3200" dirty="0"/>
          </a:p>
        </p:txBody>
      </p:sp>
      <p:sp>
        <p:nvSpPr>
          <p:cNvPr id="5" name="Shape 2"/>
          <p:cNvSpPr/>
          <p:nvPr/>
        </p:nvSpPr>
        <p:spPr>
          <a:xfrm>
            <a:off x="548640" y="1600200"/>
            <a:ext cx="539496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4754880" cy="411480"/>
          </a:xfrm>
          <a:prstGeom prst="rect">
            <a:avLst/>
          </a:prstGeom>
          <a:noFill/>
          <a:ln/>
        </p:spPr>
        <p:txBody>
          <a:bodyPr wrap="square" lIns="0" tIns="0" rIns="0" bIns="0" rtlCol="0" anchor="ctr"/>
          <a:lstStyle/>
          <a:p>
            <a:pPr marL="0" indent="0">
              <a:buNone/>
            </a:pPr>
            <a:r>
              <a:rPr lang="en-US" sz="1900" b="1" dirty="0">
                <a:solidFill>
                  <a:srgbClr val="34C759"/>
                </a:solidFill>
                <a:latin typeface="Calibri" pitchFamily="34" charset="0"/>
                <a:ea typeface="Calibri" pitchFamily="34" charset="-122"/>
                <a:cs typeface="Calibri" pitchFamily="34" charset="-120"/>
              </a:rPr>
              <a:t>Working today</a:t>
            </a:r>
            <a:endParaRPr lang="en-US" sz="1900" dirty="0"/>
          </a:p>
        </p:txBody>
      </p:sp>
      <p:sp>
        <p:nvSpPr>
          <p:cNvPr id="7" name="Text 4"/>
          <p:cNvSpPr/>
          <p:nvPr/>
        </p:nvSpPr>
        <p:spPr>
          <a:xfrm>
            <a:off x="82296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Detection sweep, proven at thousand-machine scale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Phase dashboard: phase, action, and why per machine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Audited add + customer reassignment procedures — real adds executed in production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 + history compliance layer</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Full documentation and a versioned SQL reference</a:t>
            </a:r>
            <a:endParaRPr lang="en-US" sz="1400" dirty="0"/>
          </a:p>
        </p:txBody>
      </p:sp>
      <p:sp>
        <p:nvSpPr>
          <p:cNvPr id="8" name="Shape 5"/>
          <p:cNvSpPr/>
          <p:nvPr/>
        </p:nvSpPr>
        <p:spPr>
          <a:xfrm>
            <a:off x="6217920" y="1600200"/>
            <a:ext cx="539496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6492240" y="1874520"/>
            <a:ext cx="4754880" cy="411480"/>
          </a:xfrm>
          <a:prstGeom prst="rect">
            <a:avLst/>
          </a:prstGeom>
          <a:noFill/>
          <a:ln/>
        </p:spPr>
        <p:txBody>
          <a:bodyPr wrap="square" lIns="0" tIns="0" rIns="0" bIns="0" rtlCol="0" anchor="ctr"/>
          <a:lstStyle/>
          <a:p>
            <a:pPr marL="0" indent="0">
              <a:buNone/>
            </a:pPr>
            <a:r>
              <a:rPr lang="en-US" sz="1900" b="1" dirty="0">
                <a:solidFill>
                  <a:srgbClr val="FFC72C"/>
                </a:solidFill>
                <a:latin typeface="Calibri" pitchFamily="34" charset="0"/>
                <a:ea typeface="Calibri" pitchFamily="34" charset="-122"/>
                <a:cs typeface="Calibri" pitchFamily="34" charset="-120"/>
              </a:rPr>
              <a:t>Next</a:t>
            </a:r>
            <a:endParaRPr lang="en-US" sz="1900" dirty="0"/>
          </a:p>
        </p:txBody>
      </p:sp>
      <p:sp>
        <p:nvSpPr>
          <p:cNvPr id="10" name="Text 7"/>
          <p:cNvSpPr/>
          <p:nvPr/>
        </p:nvSpPr>
        <p:spPr>
          <a:xfrm>
            <a:off x="649224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Schedule the sweep as a nightly Snowflake task</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Batch runner for the safe-add pile, with volume caps</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Backfill and transfer wrappers (same audited pattern)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Reader/writer access roles once rollout is approved</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Review workflow at ~10 resolutions per shift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822960" y="2286000"/>
            <a:ext cx="10515600" cy="731520"/>
          </a:xfrm>
          <a:prstGeom prst="rect">
            <a:avLst/>
          </a:prstGeom>
          <a:noFill/>
          <a:ln/>
        </p:spPr>
        <p:txBody>
          <a:bodyPr wrap="square" lIns="0" tIns="0" rIns="0" bIns="0" rtlCol="0" anchor="ctr"/>
          <a:lstStyle/>
          <a:p>
            <a:pPr marL="0" indent="0">
              <a:buNone/>
            </a:pPr>
            <a:r>
              <a:rPr lang="en-US" sz="4000" b="1" dirty="0">
                <a:solidFill>
                  <a:srgbClr val="E8EEF5"/>
                </a:solidFill>
                <a:latin typeface="Calibri" pitchFamily="34" charset="0"/>
                <a:ea typeface="Calibri" pitchFamily="34" charset="-122"/>
                <a:cs typeface="Calibri" pitchFamily="34" charset="-120"/>
              </a:rPr>
              <a:t>The system sorts every machine.</a:t>
            </a:r>
            <a:endParaRPr lang="en-US" sz="4000" dirty="0"/>
          </a:p>
        </p:txBody>
      </p:sp>
      <p:sp>
        <p:nvSpPr>
          <p:cNvPr id="3" name="Text 1"/>
          <p:cNvSpPr/>
          <p:nvPr/>
        </p:nvSpPr>
        <p:spPr>
          <a:xfrm>
            <a:off x="822960" y="3154680"/>
            <a:ext cx="10515600" cy="640080"/>
          </a:xfrm>
          <a:prstGeom prst="rect">
            <a:avLst/>
          </a:prstGeom>
          <a:noFill/>
          <a:ln/>
        </p:spPr>
        <p:txBody>
          <a:bodyPr wrap="square" lIns="0" tIns="0" rIns="0" bIns="0" rtlCol="0" anchor="ctr"/>
          <a:lstStyle/>
          <a:p>
            <a:pPr marL="0" indent="0">
              <a:buNone/>
            </a:pPr>
            <a:r>
              <a:rPr lang="en-US" sz="2800" dirty="0">
                <a:solidFill>
                  <a:srgbClr val="FFC72C"/>
                </a:solidFill>
                <a:latin typeface="Calibri" pitchFamily="34" charset="0"/>
                <a:ea typeface="Calibri" pitchFamily="34" charset="-122"/>
                <a:cs typeface="Calibri" pitchFamily="34" charset="-120"/>
              </a:rPr>
              <a:t>People decide only the ones that need judgment.</a:t>
            </a:r>
            <a:endParaRPr lang="en-US" sz="2800" dirty="0"/>
          </a:p>
        </p:txBody>
      </p:sp>
      <p:sp>
        <p:nvSpPr>
          <p:cNvPr id="4" name="Text 2"/>
          <p:cNvSpPr/>
          <p:nvPr/>
        </p:nvSpPr>
        <p:spPr>
          <a:xfrm>
            <a:off x="822960" y="5943600"/>
            <a:ext cx="10515600" cy="365760"/>
          </a:xfrm>
          <a:prstGeom prst="rect">
            <a:avLst/>
          </a:prstGeom>
          <a:noFill/>
          <a:ln/>
        </p:spPr>
        <p:txBody>
          <a:bodyPr wrap="square" lIns="0" tIns="0" rIns="0" bIns="0" rtlCol="0" anchor="ctr"/>
          <a:lstStyle/>
          <a:p>
            <a:pPr marL="0" indent="0">
              <a:buNone/>
            </a:pPr>
            <a:r>
              <a:rPr lang="en-US" sz="1300" dirty="0">
                <a:solidFill>
                  <a:srgbClr val="9FB3C8"/>
                </a:solidFill>
                <a:latin typeface="Calibri" pitchFamily="34" charset="0"/>
                <a:ea typeface="Calibri" pitchFamily="34" charset="-122"/>
                <a:cs typeface="Calibri" pitchFamily="34" charset="-120"/>
              </a:rPr>
              <a:t>Code: SQL Reference folder (files 40–49)   ·   Docs: 10–14   ·   Dashboard: V_CCAT_PHASE_DASHBOARD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3867</Words>
  <Application>Microsoft Office PowerPoint</Application>
  <PresentationFormat>Widescreen</PresentationFormat>
  <Paragraphs>210</Paragraphs>
  <Slides>16</Slides>
  <Notes>16</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Nathan E. Jones</cp:lastModifiedBy>
  <cp:revision>3</cp:revision>
  <dcterms:created xsi:type="dcterms:W3CDTF">2026-08-06T14:54:30Z</dcterms:created>
  <dcterms:modified xsi:type="dcterms:W3CDTF">2026-08-06T16:09:35Z</dcterms:modified>
</cp:coreProperties>
</file>