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Good morning. This is about a problem every dealer has: our equipment records and Caterpillar's official ownership registry, CCAT, drift apart. Machines missing, machines on the wrong customer, machines another dealer still claims. What I'll show you is the system we built inside Snowflake, which we already own, that finds every one of those differences, fixes the safe ones automatically, routes the risky ones to people, and keeps permanent proof of everything. CUE: The six dots are the six outcomes a machine can have. They'll come back on slide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Before the how, the why. Caterpillar grades us on two things that both come down to data quality. Trifecta is their combined score across customer, contact, and equipment: and it is strict: a customer only counts when every leg passes, including one hundred percent asset match on priority assets. Our asset match sits around ninety-three percent, it is the leg our governance team is actively focused on, and today it is maintained by hand. DNA is the alerting side: Caterpillar flags our data issues and grades how well we resolve them. Together that is a quarter of the dealer excellence scorecard riding on whether our ownership records match reality. CUE: land on the banner: both metrics stand on CCAT ownership records: which is exactly what this project manages.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So how does the asset management work move those needles? Line by line: machines Caterpillar has no record of get added, correctly, with an audit trail: they enter the population on the right customer. Machines sitting on the wrong customer get reassigned: and that is precisely the defect that breaks asset match. Machines other dealers still claim get resolved through reviewed transfers: gaps that no amount of manual data entry could fix from our side. And the biggest shift: what is manual upkeep today becomes a pipeline: detection every night, fixes that audit themselves, and alert causes removed before Caterpillar ever flags them. CUE: the leverage point on the banner: Trifecta counts customers, not machines. One wrong machine fails the whole customer, so one fixed machine can flip an entire customer back to valid. That is why per-machine work moves a customer-level score. TRANSITION: with the why on the table, here is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Three parts. DETECT: every night, a read-only process checks machines against Caterpillar's live system and classifies each one. It cannot write anything, so it is zero risk. ACT: when something needs fixing, it goes through purpose-built Snowflake procedures that preview every change before sending it and refuse anything unsafe on their own. PROVE: two permanent tables record everything: what we did, and what the data looked like at every point in time. CUE: Land on the bottom banner: the same sweep that finds problems verifies our fixes. The system never grades its own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sweep asks Caterpillar one question per machine: what do you have for this serial? Then it compares the answer to our records field by field. The clever part is what it does NOT do: it remembers every machine it has verified and skips anything that has not changed, so we are not hammering Caterpillar's API with repeat questions. A machine only gets re-checked when there is a reason. NUMBERS: under a second per machine; five thousand a night is about seventy-five minutes. Full active fleet coverage builds over a few weeks and then maintains itself. IF ASKED: it runs on a warehouse we already pay for; the marginal cost is effectively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Think of these as the to-do lists the sweep maintains. MISSING is the pipeline for adds and transfers: machines Caterpillar has nothing for under our dealer code. NON_MATCHING is machines we hold where a detail differs. ERRORS is deliberately separate: if a lookup fails, we record the failure, never a false conclusion. A failed check is never mistaken for a missing machine. And CHECK_STATE is the memory: one row per machine, its verdict, and when we last looked. That memory is what keeps the nightly sweep cheap and what powers the dashboard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The colors are ordered by blast radius: who else can see what we do. Green through orange, nobody outside the company is affected, which is why those can be automated with volume caps. Red is the only lane other dealers can see, and that is exactly the lane where a person reviews every single item. Gray is worth a word: some model names will always differ because Caterpillar's version is the official one, so we report those and deliberately do nothing. That is why the goal is the right customer on every machine, not a cosmetic one hundred percent match. CUE: The dashboard query on the right is live in Snowflake, filterable by phase, exportable to Excel.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Rather than walk you through the rules, let three real machines show you. INTRO LINE: This is eighty-three seconds; the narrator does the work. CUE: Click the video, let it play fully, do not talk over it. It covers: a new excavator landing in the safe add bucket, a dozer with an old rental record elsewhere landing in the quiet add bucket, and a machine another dealer actively owns landing in reviewed transfer. AFTER: The serials in that video are real machines from our fleet; the excavator was actually added to CCAT through this system last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When we act, there is exactly one sanctioned door: purpose-built procedures, one per action type. You give them a serial number; they pull everything else themselves, search Caterpillar live, and refuse anything outside their lane: the record already exists, another dealer owns it, it is an attachment with a made-up serial, or Caterpillar already rejected that serial once. By default they are in preview mode: they show exactly what would be sent and send nothing. Executing is a deliberate second step. CUE payload rule: this came from our own data review with Vinod and Michele: Caterpillar's model names are the ones their systems recognize, so we never overwrite them with ours. CUE raw tools: the low-level API tools still exist for diagnostics, but nobody will ever be granted them: only the audited wrappers.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This is the pipeline that is running today, end to end. NAXT data lands each morning; a daily scan picks qualifying inventory machines, oldest first. Before any API call, the skip lists drop everything we already know about: prior adds, machines already in CCAT, machines another dealer blocks: those cost nothing. Each remaining machine gets one live search, and every answer is saved to history whether we act or not. The dry run previews the batch; execution adds each machine under our inventory account with a full audit row; failures are logged once and never retried blind. Then the one manual step: Lindsay's subscription. The same sweep that finds problems confirms each machine lands as DONE_INVENTORY. CUE: week one through this pipe: 50 Monday plus 50 Wednesday, capped on purpose to protect the manual subscription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Phase two is scoped and the detection half already runs: the moment a customer number appears on an inventory machine in NAXT, the dashboard flags it: forty-one machines are sitting on that list right now, each one currently a manual move for Lindsay. The new piece since the August 6 meeting: Caterpillar's customer master is shared directly into our Snowflake, so the CCID question that blocked automation: does this buyer exist properly on Cat's side: is now answerable BEFORE we act. Buyer resolves: automated, audited move; the old inventory record expires itself. Buyer missing: it routes to the Customer Admin Tool queue instead of failing mid-flight. CUE: until this is built and approved, the manual path stays: PDI email, Lindsay moves it within about a day. The flow replaces exactly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Every action, executed or failed, writes one audit row: what we did, to which machine, the customer before and after, the exact payload we sent, Caterpillar's full response, and their tracking ID, which means Cat support can trace any call we ever made. It also stores a snapshot of what Caterpillar had immediately before we acted, so if anything ever needs unwinding, we know exactly what to restore. CUE right panel: append-only is not a policy we promise to follow; it is enforced by database permissions. The tooling can add rows and read rows. It physically cannot edit or delete them. IF ASKED who and when: every row carries user, timestamp, and shift date: that is where per-shift reporting comes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History answers a different question: not what did we do, but what did the data look like, at every point, no matter who changed it. Every time we look at a machine, we fingerprint Caterpillar's full answer. If the fingerprint matches the last one, we store nothing. If it changed, we store the complete snapshot. So a machine checked fifty times with no change costs one row: history only grows when reality changes. CUE: This costs zero extra API calls: it is built entirely from answers the sweep was already fetching and throwing away. NICE DETAIL if time: even no records at all counts as a version, so a machine appearing in or vanishing from CCAT leaves a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Here is why having both matters. Audit is what we did. History is what the data was. Subtract one from the other and you get something we have never had before: external changes. If history shows a machine's record changed and there is no audit row from us around that time, then Caterpillar's systems, another dealer, or someone in a portal changed it: and now we see it instead of discovering it months later. CUE: pause on the banner: this is the class of change that used to be completely invisible to us. IF ASKED for an example: another dealer filing a transfer request against one of our machines shows up this way within 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Day to day it looks like this. Nightly, the sweep runs by itself: read-only, no supervision needed. Weekly, the safe piles get worked in capped batches: adds and quiet fixes, the work nobody else can see. And every shift, about ten reviewed decisions: the transfers and judgment calls: each one audited as it happens. CUE metrics: the headline number is deliberately not the match rate: it is the customer assignment rate, the percentage of machines sitting on the correct customer in Caterpillar's system: because that is the outcome the business asked for. Everything else is supporting detail. ASK if appropriate: the one approval this slide needs is scheduling the nightly sweep as an automated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I will not read all six: three matter most. No bulk claims, ever: a blanket push would fire formal transfer requests at real dealers across the network and can silently overwrite our own records: the system is built so that shortcut is impossible, not just discouraged. Shared customers are excluded automatically: when another dealer serves the same national account, the machine routes to a conversation, never a claim. And production awareness: Caterpillar has no test environment, so every write is treated as real, previewed first, and logged. CUE: these guardrails travel with the tools themselves: they apply no matter who eventually gets access.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Being straight about status. Everything on the left is not a plan: it is running. The sweep has checked thousands of machines. Real equipment has been added to Caterpillar's production system through the audited procedures, with the audit rows to show for it. The right column is scheduling and scale, not invention: the nightly task is a small script; the batch runner and the remaining wrappers reuse patterns already proven; access roles are written and waiting on rollout approval. CUE: the honest framing is: the engineering risk is behind us: what remains is operational rollout.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 One sentence to remember: the system sorts every machine; people decide only the ones that need judgment. That is the whole design: automation where it is safe, human judgment where it matters, and a permanent record of both. Happy to take questions: and if you want the detail behind any slide, the rollout plan document and the SQL reference carry all of it. CLOSE: the decisions I need from this room are the four in the rollout plan: approve the phased order, the nightly job, the pilot batches, and the review staffing.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video" Target="../media/media-8-1.mp4"/><Relationship Id="rId2" Type="http://schemas.microsoft.com/office/2007/relationships/media" Target="../media/media-8-1.mp4"/><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822960" y="1965960"/>
            <a:ext cx="10515600" cy="914400"/>
          </a:xfrm>
          <a:prstGeom prst="rect">
            <a:avLst/>
          </a:prstGeom>
          <a:noFill/>
          <a:ln/>
        </p:spPr>
        <p:txBody>
          <a:bodyPr wrap="square" lIns="0" tIns="0" rIns="0" bIns="0" rtlCol="0" anchor="ctr"/>
          <a:lstStyle/>
          <a:p>
            <a:pPr indent="0" marL="0">
              <a:buNone/>
            </a:pPr>
            <a:r>
              <a:rPr lang="en-US" sz="4400" b="1" dirty="0">
                <a:solidFill>
                  <a:srgbClr val="E8EEF5"/>
                </a:solidFill>
                <a:latin typeface="Calibri" pitchFamily="34" charset="0"/>
                <a:ea typeface="Calibri" pitchFamily="34" charset="-122"/>
                <a:cs typeface="Calibri" pitchFamily="34" charset="-120"/>
              </a:rPr>
              <a:t>CCAT Reconciliation in Snowflake</a:t>
            </a:r>
            <a:endParaRPr lang="en-US" sz="4400" dirty="0"/>
          </a:p>
        </p:txBody>
      </p:sp>
      <p:sp>
        <p:nvSpPr>
          <p:cNvPr id="3" name="Text 1"/>
          <p:cNvSpPr/>
          <p:nvPr/>
        </p:nvSpPr>
        <p:spPr>
          <a:xfrm>
            <a:off x="822960" y="2926080"/>
            <a:ext cx="10058400" cy="548640"/>
          </a:xfrm>
          <a:prstGeom prst="rect">
            <a:avLst/>
          </a:prstGeom>
          <a:noFill/>
          <a:ln/>
        </p:spPr>
        <p:txBody>
          <a:bodyPr wrap="square" lIns="0" tIns="0" rIns="0" bIns="0" rtlCol="0" anchor="ctr"/>
          <a:lstStyle/>
          <a:p>
            <a:pPr indent="0" marL="0">
              <a:buNone/>
            </a:pPr>
            <a:r>
              <a:rPr lang="en-US" sz="2000" dirty="0">
                <a:solidFill>
                  <a:srgbClr val="9FB3C8"/>
                </a:solidFill>
                <a:latin typeface="Calibri" pitchFamily="34" charset="0"/>
                <a:ea typeface="Calibri" pitchFamily="34" charset="-122"/>
                <a:cs typeface="Calibri" pitchFamily="34" charset="-120"/>
              </a:rPr>
              <a:t>Detect, fix, and prove it: keeping our equipment records and Caterpillar's registry in sync</a:t>
            </a:r>
            <a:endParaRPr lang="en-US" sz="2000" dirty="0"/>
          </a:p>
        </p:txBody>
      </p:sp>
      <p:sp>
        <p:nvSpPr>
          <p:cNvPr id="4" name="Shape 2"/>
          <p:cNvSpPr/>
          <p:nvPr/>
        </p:nvSpPr>
        <p:spPr>
          <a:xfrm>
            <a:off x="868680" y="3703320"/>
            <a:ext cx="182880" cy="182880"/>
          </a:xfrm>
          <a:prstGeom prst="ellipse">
            <a:avLst/>
          </a:prstGeom>
          <a:solidFill>
            <a:srgbClr val="34C759"/>
          </a:solidFill>
          <a:ln/>
        </p:spPr>
      </p:sp>
      <p:sp>
        <p:nvSpPr>
          <p:cNvPr id="5" name="Shape 3"/>
          <p:cNvSpPr/>
          <p:nvPr/>
        </p:nvSpPr>
        <p:spPr>
          <a:xfrm>
            <a:off x="1179576" y="3703320"/>
            <a:ext cx="182880" cy="182880"/>
          </a:xfrm>
          <a:prstGeom prst="ellipse">
            <a:avLst/>
          </a:prstGeom>
          <a:solidFill>
            <a:srgbClr val="4DA3FF"/>
          </a:solidFill>
          <a:ln/>
        </p:spPr>
      </p:sp>
      <p:sp>
        <p:nvSpPr>
          <p:cNvPr id="6" name="Shape 4"/>
          <p:cNvSpPr/>
          <p:nvPr/>
        </p:nvSpPr>
        <p:spPr>
          <a:xfrm>
            <a:off x="1490472" y="3703320"/>
            <a:ext cx="182880" cy="182880"/>
          </a:xfrm>
          <a:prstGeom prst="ellipse">
            <a:avLst/>
          </a:prstGeom>
          <a:solidFill>
            <a:srgbClr val="2EC4B6"/>
          </a:solidFill>
          <a:ln/>
        </p:spPr>
      </p:sp>
      <p:sp>
        <p:nvSpPr>
          <p:cNvPr id="7" name="Shape 5"/>
          <p:cNvSpPr/>
          <p:nvPr/>
        </p:nvSpPr>
        <p:spPr>
          <a:xfrm>
            <a:off x="1801368" y="3703320"/>
            <a:ext cx="182880" cy="182880"/>
          </a:xfrm>
          <a:prstGeom prst="ellipse">
            <a:avLst/>
          </a:prstGeom>
          <a:solidFill>
            <a:srgbClr val="FF9F1C"/>
          </a:solidFill>
          <a:ln/>
        </p:spPr>
      </p:sp>
      <p:sp>
        <p:nvSpPr>
          <p:cNvPr id="8" name="Shape 6"/>
          <p:cNvSpPr/>
          <p:nvPr/>
        </p:nvSpPr>
        <p:spPr>
          <a:xfrm>
            <a:off x="2112264" y="3703320"/>
            <a:ext cx="182880" cy="182880"/>
          </a:xfrm>
          <a:prstGeom prst="ellipse">
            <a:avLst/>
          </a:prstGeom>
          <a:solidFill>
            <a:srgbClr val="FF5A5F"/>
          </a:solidFill>
          <a:ln/>
        </p:spPr>
      </p:sp>
      <p:sp>
        <p:nvSpPr>
          <p:cNvPr id="9" name="Shape 7"/>
          <p:cNvSpPr/>
          <p:nvPr/>
        </p:nvSpPr>
        <p:spPr>
          <a:xfrm>
            <a:off x="2423160" y="3703320"/>
            <a:ext cx="182880" cy="182880"/>
          </a:xfrm>
          <a:prstGeom prst="ellipse">
            <a:avLst/>
          </a:prstGeom>
          <a:solidFill>
            <a:srgbClr val="FFC72C"/>
          </a:solidFill>
          <a:ln/>
        </p:spPr>
      </p:sp>
      <p:sp>
        <p:nvSpPr>
          <p:cNvPr id="10" name="Text 8"/>
          <p:cNvSpPr/>
          <p:nvPr/>
        </p:nvSpPr>
        <p:spPr>
          <a:xfrm>
            <a:off x="822960" y="6126480"/>
            <a:ext cx="7315200" cy="365760"/>
          </a:xfrm>
          <a:prstGeom prst="rect">
            <a:avLst/>
          </a:prstGeom>
          <a:noFill/>
          <a:ln/>
        </p:spPr>
        <p:txBody>
          <a:bodyPr wrap="square" lIns="0" tIns="0" rIns="0" bIns="0" rtlCol="0" anchor="ctr"/>
          <a:lstStyle/>
          <a:p>
            <a:pPr indent="0" marL="0">
              <a:buNone/>
            </a:pPr>
            <a:r>
              <a:rPr lang="en-US" sz="1300" dirty="0">
                <a:solidFill>
                  <a:srgbClr val="9FB3C8"/>
                </a:solidFill>
                <a:latin typeface="Calibri" pitchFamily="34" charset="0"/>
                <a:ea typeface="Calibri" pitchFamily="34" charset="-122"/>
                <a:cs typeface="Calibri" pitchFamily="34" charset="-120"/>
              </a:rPr>
              <a:t>Cleveland Brothers  ·  Data &amp; Analytics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300" kern="0" dirty="0">
                <a:solidFill>
                  <a:srgbClr val="FFC72C"/>
                </a:solidFill>
                <a:latin typeface="Calibri" pitchFamily="34" charset="0"/>
                <a:ea typeface="Calibri" pitchFamily="34" charset="-122"/>
                <a:cs typeface="Calibri" pitchFamily="34" charset="-120"/>
              </a:rPr>
              <a:t>WHY IT MATTERS</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E8EEF5"/>
                </a:solidFill>
                <a:latin typeface="Calibri" pitchFamily="34" charset="0"/>
                <a:ea typeface="Calibri" pitchFamily="34" charset="-122"/>
                <a:cs typeface="Calibri" pitchFamily="34" charset="-120"/>
              </a:rPr>
              <a:t>The scoreboard this feeds: Trifecta and DNA</a:t>
            </a:r>
            <a:endParaRPr lang="en-US" sz="3200" dirty="0"/>
          </a:p>
        </p:txBody>
      </p:sp>
      <p:sp>
        <p:nvSpPr>
          <p:cNvPr id="4" name="Shape 2"/>
          <p:cNvSpPr/>
          <p:nvPr/>
        </p:nvSpPr>
        <p:spPr>
          <a:xfrm>
            <a:off x="548640" y="1554480"/>
            <a:ext cx="5394960" cy="3794760"/>
          </a:xfrm>
          <a:prstGeom prst="roundRect">
            <a:avLst>
              <a:gd name="adj" fmla="val 1928"/>
            </a:avLst>
          </a:prstGeom>
          <a:solidFill>
            <a:srgbClr val="16283F"/>
          </a:solidFill>
          <a:ln w="12700">
            <a:solidFill>
              <a:srgbClr val="223650"/>
            </a:solidFill>
            <a:prstDash val="solid"/>
          </a:ln>
        </p:spPr>
      </p:sp>
      <p:sp>
        <p:nvSpPr>
          <p:cNvPr id="5" name="Text 3"/>
          <p:cNvSpPr/>
          <p:nvPr/>
        </p:nvSpPr>
        <p:spPr>
          <a:xfrm>
            <a:off x="822960" y="1783080"/>
            <a:ext cx="4754880" cy="365760"/>
          </a:xfrm>
          <a:prstGeom prst="rect">
            <a:avLst/>
          </a:prstGeom>
          <a:noFill/>
          <a:ln/>
        </p:spPr>
        <p:txBody>
          <a:bodyPr wrap="square" lIns="0" tIns="0" rIns="0" bIns="0" rtlCol="0" anchor="ctr"/>
          <a:lstStyle/>
          <a:p>
            <a:pPr indent="0" marL="0">
              <a:buNone/>
            </a:pPr>
            <a:r>
              <a:rPr lang="en-US" sz="1800" b="1" dirty="0">
                <a:solidFill>
                  <a:srgbClr val="FFC72C"/>
                </a:solidFill>
                <a:latin typeface="Calibri" pitchFamily="34" charset="0"/>
                <a:ea typeface="Calibri" pitchFamily="34" charset="-122"/>
                <a:cs typeface="Calibri" pitchFamily="34" charset="-120"/>
              </a:rPr>
              <a:t>TRIFECTA</a:t>
            </a:r>
            <a:endParaRPr lang="en-US" sz="1800" dirty="0"/>
          </a:p>
        </p:txBody>
      </p:sp>
      <p:sp>
        <p:nvSpPr>
          <p:cNvPr id="6" name="Text 4"/>
          <p:cNvSpPr/>
          <p:nvPr/>
        </p:nvSpPr>
        <p:spPr>
          <a:xfrm>
            <a:off x="822960" y="2212848"/>
            <a:ext cx="4846320" cy="1051560"/>
          </a:xfrm>
          <a:prstGeom prst="rect">
            <a:avLst/>
          </a:prstGeom>
          <a:noFill/>
          <a:ln/>
        </p:spPr>
        <p:txBody>
          <a:bodyPr wrap="square" lIns="0" tIns="0" rIns="0" bIns="0" rtlCol="0" anchor="ctr"/>
          <a:lstStyle/>
          <a:p>
            <a:pPr indent="0" marL="0">
              <a:lnSpc>
                <a:spcPts val="1800"/>
              </a:lnSpc>
              <a:buNone/>
            </a:pPr>
            <a:r>
              <a:rPr lang="en-US" sz="1350" dirty="0">
                <a:solidFill>
                  <a:srgbClr val="E8EEF5"/>
                </a:solidFill>
                <a:latin typeface="Calibri" pitchFamily="34" charset="0"/>
                <a:ea typeface="Calibri" pitchFamily="34" charset="-122"/>
                <a:cs typeface="Calibri" pitchFamily="34" charset="-120"/>
              </a:rPr>
              <a:t>Caterpillar's data-quality score. A customer only counts as valid when ALL legs pass: CCID, company data, a valid contact, and 100% asset match on priority assets.</a:t>
            </a:r>
            <a:endParaRPr lang="en-US" sz="1350" dirty="0"/>
          </a:p>
        </p:txBody>
      </p:sp>
      <p:sp>
        <p:nvSpPr>
          <p:cNvPr id="7" name="Text 5"/>
          <p:cNvSpPr/>
          <p:nvPr/>
        </p:nvSpPr>
        <p:spPr>
          <a:xfrm>
            <a:off x="822960" y="3383280"/>
            <a:ext cx="2194560" cy="640080"/>
          </a:xfrm>
          <a:prstGeom prst="rect">
            <a:avLst/>
          </a:prstGeom>
          <a:noFill/>
          <a:ln/>
        </p:spPr>
        <p:txBody>
          <a:bodyPr wrap="square" lIns="0" tIns="0" rIns="0" bIns="0" rtlCol="0" anchor="ctr"/>
          <a:lstStyle/>
          <a:p>
            <a:pPr indent="0" marL="0">
              <a:buNone/>
            </a:pPr>
            <a:r>
              <a:rPr lang="en-US" sz="4000" b="1" dirty="0">
                <a:solidFill>
                  <a:srgbClr val="FF9F1C"/>
                </a:solidFill>
                <a:latin typeface="Calibri" pitchFamily="34" charset="0"/>
                <a:ea typeface="Calibri" pitchFamily="34" charset="-122"/>
                <a:cs typeface="Calibri" pitchFamily="34" charset="-120"/>
              </a:rPr>
              <a:t>92.8%</a:t>
            </a:r>
            <a:endParaRPr lang="en-US" sz="4000" dirty="0"/>
          </a:p>
        </p:txBody>
      </p:sp>
      <p:sp>
        <p:nvSpPr>
          <p:cNvPr id="8" name="Text 6"/>
          <p:cNvSpPr/>
          <p:nvPr/>
        </p:nvSpPr>
        <p:spPr>
          <a:xfrm>
            <a:off x="3017520" y="3401568"/>
            <a:ext cx="2697480" cy="1188720"/>
          </a:xfrm>
          <a:prstGeom prst="rect">
            <a:avLst/>
          </a:prstGeom>
          <a:noFill/>
          <a:ln/>
        </p:spPr>
        <p:txBody>
          <a:bodyPr wrap="square" lIns="0" tIns="0" rIns="0" bIns="0" rtlCol="0" anchor="ctr"/>
          <a:lstStyle/>
          <a:p>
            <a:pPr indent="0" marL="0">
              <a:lnSpc>
                <a:spcPts val="1600"/>
              </a:lnSpc>
              <a:buNone/>
            </a:pPr>
            <a:r>
              <a:rPr lang="en-US" sz="1250" dirty="0">
                <a:solidFill>
                  <a:srgbClr val="9FB3C8"/>
                </a:solidFill>
                <a:latin typeface="Calibri" pitchFamily="34" charset="0"/>
                <a:ea typeface="Calibri" pitchFamily="34" charset="-122"/>
                <a:cs typeface="Calibri" pitchFamily="34" charset="-120"/>
              </a:rPr>
              <a:t>asset match conformance (2025 baseline) — the leg our data governance team is focused on, and the one still maintained by hand today</a:t>
            </a:r>
            <a:endParaRPr lang="en-US" sz="1250" dirty="0"/>
          </a:p>
        </p:txBody>
      </p:sp>
      <p:sp>
        <p:nvSpPr>
          <p:cNvPr id="9" name="Text 7"/>
          <p:cNvSpPr/>
          <p:nvPr/>
        </p:nvSpPr>
        <p:spPr>
          <a:xfrm>
            <a:off x="822960" y="4800600"/>
            <a:ext cx="4846320" cy="365760"/>
          </a:xfrm>
          <a:prstGeom prst="rect">
            <a:avLst/>
          </a:prstGeom>
          <a:noFill/>
          <a:ln/>
        </p:spPr>
        <p:txBody>
          <a:bodyPr wrap="square" lIns="0" tIns="0" rIns="0" bIns="0" rtlCol="0" anchor="ctr"/>
          <a:lstStyle/>
          <a:p>
            <a:pPr indent="0" marL="0">
              <a:buNone/>
            </a:pPr>
            <a:r>
              <a:rPr lang="en-US" sz="1350" b="1" dirty="0">
                <a:solidFill>
                  <a:srgbClr val="E8EEF5"/>
                </a:solidFill>
                <a:latin typeface="Calibri" pitchFamily="34" charset="0"/>
                <a:ea typeface="Calibri" pitchFamily="34" charset="-122"/>
                <a:cs typeface="Calibri" pitchFamily="34" charset="-120"/>
              </a:rPr>
              <a:t>Worth 15% of the dealer excellence scorecard</a:t>
            </a:r>
            <a:endParaRPr lang="en-US" sz="1350" dirty="0"/>
          </a:p>
        </p:txBody>
      </p:sp>
      <p:sp>
        <p:nvSpPr>
          <p:cNvPr id="10" name="Shape 8"/>
          <p:cNvSpPr/>
          <p:nvPr/>
        </p:nvSpPr>
        <p:spPr>
          <a:xfrm>
            <a:off x="6217920" y="1554480"/>
            <a:ext cx="5394960" cy="3794760"/>
          </a:xfrm>
          <a:prstGeom prst="roundRect">
            <a:avLst>
              <a:gd name="adj" fmla="val 1928"/>
            </a:avLst>
          </a:prstGeom>
          <a:solidFill>
            <a:srgbClr val="16283F"/>
          </a:solidFill>
          <a:ln w="12700">
            <a:solidFill>
              <a:srgbClr val="223650"/>
            </a:solidFill>
            <a:prstDash val="solid"/>
          </a:ln>
        </p:spPr>
      </p:sp>
      <p:sp>
        <p:nvSpPr>
          <p:cNvPr id="11" name="Text 9"/>
          <p:cNvSpPr/>
          <p:nvPr/>
        </p:nvSpPr>
        <p:spPr>
          <a:xfrm>
            <a:off x="6492240" y="1783080"/>
            <a:ext cx="4754880" cy="365760"/>
          </a:xfrm>
          <a:prstGeom prst="rect">
            <a:avLst/>
          </a:prstGeom>
          <a:noFill/>
          <a:ln/>
        </p:spPr>
        <p:txBody>
          <a:bodyPr wrap="square" lIns="0" tIns="0" rIns="0" bIns="0" rtlCol="0" anchor="ctr"/>
          <a:lstStyle/>
          <a:p>
            <a:pPr indent="0" marL="0">
              <a:buNone/>
            </a:pPr>
            <a:r>
              <a:rPr lang="en-US" sz="1800" b="1" dirty="0">
                <a:solidFill>
                  <a:srgbClr val="2EC4B6"/>
                </a:solidFill>
                <a:latin typeface="Calibri" pitchFamily="34" charset="0"/>
                <a:ea typeface="Calibri" pitchFamily="34" charset="-122"/>
                <a:cs typeface="Calibri" pitchFamily="34" charset="-120"/>
              </a:rPr>
              <a:t>DNA — DATA NOTIFICATION ALERTS</a:t>
            </a:r>
            <a:endParaRPr lang="en-US" sz="1800" dirty="0"/>
          </a:p>
        </p:txBody>
      </p:sp>
      <p:sp>
        <p:nvSpPr>
          <p:cNvPr id="12" name="Text 10"/>
          <p:cNvSpPr/>
          <p:nvPr/>
        </p:nvSpPr>
        <p:spPr>
          <a:xfrm>
            <a:off x="6492240" y="2212848"/>
            <a:ext cx="4846320" cy="1051560"/>
          </a:xfrm>
          <a:prstGeom prst="rect">
            <a:avLst/>
          </a:prstGeom>
          <a:noFill/>
          <a:ln/>
        </p:spPr>
        <p:txBody>
          <a:bodyPr wrap="square" lIns="0" tIns="0" rIns="0" bIns="0" rtlCol="0" anchor="ctr"/>
          <a:lstStyle/>
          <a:p>
            <a:pPr indent="0" marL="0">
              <a:lnSpc>
                <a:spcPts val="1800"/>
              </a:lnSpc>
              <a:buNone/>
            </a:pPr>
            <a:r>
              <a:rPr lang="en-US" sz="1350" dirty="0">
                <a:solidFill>
                  <a:srgbClr val="E8EEF5"/>
                </a:solidFill>
                <a:latin typeface="Calibri" pitchFamily="34" charset="0"/>
                <a:ea typeface="Calibri" pitchFamily="34" charset="-122"/>
                <a:cs typeface="Calibri" pitchFamily="34" charset="-120"/>
              </a:rPr>
              <a:t>Caterpillar flags our prioritized data issues — asset alerts and customer alerts — sends us the top ones by value, and grades how well we resolve them.</a:t>
            </a:r>
            <a:endParaRPr lang="en-US" sz="1350" dirty="0"/>
          </a:p>
        </p:txBody>
      </p:sp>
      <p:sp>
        <p:nvSpPr>
          <p:cNvPr id="13" name="Text 11"/>
          <p:cNvSpPr/>
          <p:nvPr/>
        </p:nvSpPr>
        <p:spPr>
          <a:xfrm>
            <a:off x="6492240" y="3383280"/>
            <a:ext cx="1828800" cy="640080"/>
          </a:xfrm>
          <a:prstGeom prst="rect">
            <a:avLst/>
          </a:prstGeom>
          <a:noFill/>
          <a:ln/>
        </p:spPr>
        <p:txBody>
          <a:bodyPr wrap="square" lIns="0" tIns="0" rIns="0" bIns="0" rtlCol="0" anchor="ctr"/>
          <a:lstStyle/>
          <a:p>
            <a:pPr indent="0" marL="0">
              <a:buNone/>
            </a:pPr>
            <a:r>
              <a:rPr lang="en-US" sz="4000" b="1" dirty="0">
                <a:solidFill>
                  <a:srgbClr val="2EC4B6"/>
                </a:solidFill>
                <a:latin typeface="Calibri" pitchFamily="34" charset="0"/>
                <a:ea typeface="Calibri" pitchFamily="34" charset="-122"/>
                <a:cs typeface="Calibri" pitchFamily="34" charset="-120"/>
              </a:rPr>
              <a:t>10%</a:t>
            </a:r>
            <a:endParaRPr lang="en-US" sz="4000" dirty="0"/>
          </a:p>
        </p:txBody>
      </p:sp>
      <p:sp>
        <p:nvSpPr>
          <p:cNvPr id="14" name="Text 12"/>
          <p:cNvSpPr/>
          <p:nvPr/>
        </p:nvSpPr>
        <p:spPr>
          <a:xfrm>
            <a:off x="8412480" y="3401568"/>
            <a:ext cx="2788920" cy="1188720"/>
          </a:xfrm>
          <a:prstGeom prst="rect">
            <a:avLst/>
          </a:prstGeom>
          <a:noFill/>
          <a:ln/>
        </p:spPr>
        <p:txBody>
          <a:bodyPr wrap="square" lIns="0" tIns="0" rIns="0" bIns="0" rtlCol="0" anchor="ctr"/>
          <a:lstStyle/>
          <a:p>
            <a:pPr indent="0" marL="0">
              <a:lnSpc>
                <a:spcPts val="1600"/>
              </a:lnSpc>
              <a:buNone/>
            </a:pPr>
            <a:r>
              <a:rPr lang="en-US" sz="1250" dirty="0">
                <a:solidFill>
                  <a:srgbClr val="9FB3C8"/>
                </a:solidFill>
                <a:latin typeface="Calibri" pitchFamily="34" charset="0"/>
                <a:ea typeface="Calibri" pitchFamily="34" charset="-122"/>
                <a:cs typeface="Calibri" pitchFamily="34" charset="-120"/>
              </a:rPr>
              <a:t>of the scorecard rides on DNA resolution — and many of the asset alerts trace back to the same root cause: ownership records that do not match reality</a:t>
            </a:r>
            <a:endParaRPr lang="en-US" sz="1250" dirty="0"/>
          </a:p>
        </p:txBody>
      </p:sp>
      <p:sp>
        <p:nvSpPr>
          <p:cNvPr id="15" name="Shape 13"/>
          <p:cNvSpPr/>
          <p:nvPr/>
        </p:nvSpPr>
        <p:spPr>
          <a:xfrm>
            <a:off x="548640" y="5577840"/>
            <a:ext cx="11064240" cy="777240"/>
          </a:xfrm>
          <a:prstGeom prst="roundRect">
            <a:avLst>
              <a:gd name="adj" fmla="val 9412"/>
            </a:avLst>
          </a:prstGeom>
          <a:solidFill>
            <a:srgbClr val="12314A"/>
          </a:solidFill>
          <a:ln w="12700">
            <a:solidFill>
              <a:srgbClr val="223650"/>
            </a:solidFill>
            <a:prstDash val="solid"/>
          </a:ln>
        </p:spPr>
      </p:sp>
      <p:sp>
        <p:nvSpPr>
          <p:cNvPr id="16" name="Text 14"/>
          <p:cNvSpPr/>
          <p:nvPr/>
        </p:nvSpPr>
        <p:spPr>
          <a:xfrm>
            <a:off x="822960" y="5742432"/>
            <a:ext cx="10561320" cy="502920"/>
          </a:xfrm>
          <a:prstGeom prst="rect">
            <a:avLst/>
          </a:prstGeom>
          <a:noFill/>
          <a:ln/>
        </p:spPr>
        <p:txBody>
          <a:bodyPr wrap="square" lIns="0" tIns="0" rIns="0" bIns="0" rtlCol="0" anchor="ctr"/>
          <a:lstStyle/>
          <a:p>
            <a:pPr indent="0" marL="0">
              <a:buNone/>
            </a:pPr>
            <a:r>
              <a:rPr lang="en-US" sz="1500" b="1" dirty="0">
                <a:solidFill>
                  <a:srgbClr val="FFC72C"/>
                </a:solidFill>
                <a:latin typeface="Calibri" pitchFamily="34" charset="0"/>
                <a:ea typeface="Calibri" pitchFamily="34" charset="-122"/>
                <a:cs typeface="Calibri" pitchFamily="34" charset="-120"/>
              </a:rPr>
              <a:t>Both metrics stand on the same ground:  </a:t>
            </a:r>
            <a:pPr indent="0" marL="0">
              <a:buNone/>
            </a:pPr>
            <a:r>
              <a:rPr lang="en-US" sz="1500" dirty="0">
                <a:solidFill>
                  <a:srgbClr val="E8EEF5"/>
                </a:solidFill>
                <a:latin typeface="Calibri" pitchFamily="34" charset="0"/>
                <a:ea typeface="Calibri" pitchFamily="34" charset="-122"/>
                <a:cs typeface="Calibri" pitchFamily="34" charset="-120"/>
              </a:rPr>
              <a:t>asset ownership records in CCAT. That is exactly what this project manages.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300" kern="0" dirty="0">
                <a:solidFill>
                  <a:srgbClr val="FFC72C"/>
                </a:solidFill>
                <a:latin typeface="Calibri" pitchFamily="34" charset="0"/>
                <a:ea typeface="Calibri" pitchFamily="34" charset="-122"/>
                <a:cs typeface="Calibri" pitchFamily="34" charset="-120"/>
              </a:rPr>
              <a:t>WHY IT MATTERS</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E8EEF5"/>
                </a:solidFill>
                <a:latin typeface="Calibri" pitchFamily="34" charset="0"/>
                <a:ea typeface="Calibri" pitchFamily="34" charset="-122"/>
                <a:cs typeface="Calibri" pitchFamily="34" charset="-120"/>
              </a:rPr>
              <a:t>This project is the asset-match engine</a:t>
            </a:r>
            <a:endParaRPr lang="en-US" sz="3200" dirty="0"/>
          </a:p>
        </p:txBody>
      </p:sp>
      <p:sp>
        <p:nvSpPr>
          <p:cNvPr id="4" name="Shape 2"/>
          <p:cNvSpPr/>
          <p:nvPr/>
        </p:nvSpPr>
        <p:spPr>
          <a:xfrm>
            <a:off x="548640" y="1600200"/>
            <a:ext cx="11064240" cy="822960"/>
          </a:xfrm>
          <a:prstGeom prst="roundRect">
            <a:avLst>
              <a:gd name="adj" fmla="val 8889"/>
            </a:avLst>
          </a:prstGeom>
          <a:solidFill>
            <a:srgbClr val="16283F"/>
          </a:solidFill>
          <a:ln w="12700">
            <a:solidFill>
              <a:srgbClr val="223650"/>
            </a:solidFill>
            <a:prstDash val="solid"/>
          </a:ln>
        </p:spPr>
      </p:sp>
      <p:sp>
        <p:nvSpPr>
          <p:cNvPr id="5" name="Shape 3"/>
          <p:cNvSpPr/>
          <p:nvPr/>
        </p:nvSpPr>
        <p:spPr>
          <a:xfrm>
            <a:off x="822960" y="1929384"/>
            <a:ext cx="164592" cy="164592"/>
          </a:xfrm>
          <a:prstGeom prst="ellipse">
            <a:avLst/>
          </a:prstGeom>
          <a:solidFill>
            <a:srgbClr val="4DA3FF"/>
          </a:solidFill>
          <a:ln/>
        </p:spPr>
      </p:sp>
      <p:sp>
        <p:nvSpPr>
          <p:cNvPr id="6" name="Text 4"/>
          <p:cNvSpPr/>
          <p:nvPr/>
        </p:nvSpPr>
        <p:spPr>
          <a:xfrm>
            <a:off x="1143000" y="1728216"/>
            <a:ext cx="3977640" cy="594360"/>
          </a:xfrm>
          <a:prstGeom prst="rect">
            <a:avLst/>
          </a:prstGeom>
          <a:noFill/>
          <a:ln/>
        </p:spPr>
        <p:txBody>
          <a:bodyPr wrap="square" lIns="0" tIns="0" rIns="0" bIns="0" rtlCol="0" anchor="ctr"/>
          <a:lstStyle/>
          <a:p>
            <a:pPr indent="0" marL="0">
              <a:buNone/>
            </a:pPr>
            <a:r>
              <a:rPr lang="en-US" sz="1450" b="1" dirty="0">
                <a:solidFill>
                  <a:srgbClr val="4DA3FF"/>
                </a:solidFill>
                <a:latin typeface="Calibri" pitchFamily="34" charset="0"/>
                <a:ea typeface="Calibri" pitchFamily="34" charset="-122"/>
                <a:cs typeface="Calibri" pitchFamily="34" charset="-120"/>
              </a:rPr>
              <a:t>Machines missing from CCAT</a:t>
            </a:r>
            <a:endParaRPr lang="en-US" sz="1450" dirty="0"/>
          </a:p>
        </p:txBody>
      </p:sp>
      <p:sp>
        <p:nvSpPr>
          <p:cNvPr id="7" name="Text 5"/>
          <p:cNvSpPr/>
          <p:nvPr/>
        </p:nvSpPr>
        <p:spPr>
          <a:xfrm>
            <a:off x="5212080" y="1728216"/>
            <a:ext cx="6172200" cy="594360"/>
          </a:xfrm>
          <a:prstGeom prst="rect">
            <a:avLst/>
          </a:prstGeom>
          <a:noFill/>
          <a:ln/>
        </p:spPr>
        <p:txBody>
          <a:bodyPr wrap="square" lIns="0" tIns="0" rIns="0" bIns="0" rtlCol="0" anchor="ctr"/>
          <a:lstStyle/>
          <a:p>
            <a:pPr indent="0" marL="0">
              <a:buNone/>
            </a:pPr>
            <a:r>
              <a:rPr lang="en-US" sz="1350" dirty="0">
                <a:solidFill>
                  <a:srgbClr val="E8EEF5"/>
                </a:solidFill>
                <a:latin typeface="Calibri" pitchFamily="34" charset="0"/>
                <a:ea typeface="Calibri" pitchFamily="34" charset="-122"/>
                <a:cs typeface="Calibri" pitchFamily="34" charset="-120"/>
              </a:rPr>
              <a:t>get added, audited — they enter Caterpillar's population on the right customer</a:t>
            </a:r>
            <a:endParaRPr lang="en-US" sz="1350" dirty="0"/>
          </a:p>
        </p:txBody>
      </p:sp>
      <p:sp>
        <p:nvSpPr>
          <p:cNvPr id="8" name="Shape 6"/>
          <p:cNvSpPr/>
          <p:nvPr/>
        </p:nvSpPr>
        <p:spPr>
          <a:xfrm>
            <a:off x="548640" y="2560320"/>
            <a:ext cx="11064240" cy="822960"/>
          </a:xfrm>
          <a:prstGeom prst="roundRect">
            <a:avLst>
              <a:gd name="adj" fmla="val 8889"/>
            </a:avLst>
          </a:prstGeom>
          <a:solidFill>
            <a:srgbClr val="16283F"/>
          </a:solidFill>
          <a:ln w="12700">
            <a:solidFill>
              <a:srgbClr val="223650"/>
            </a:solidFill>
            <a:prstDash val="solid"/>
          </a:ln>
        </p:spPr>
      </p:sp>
      <p:sp>
        <p:nvSpPr>
          <p:cNvPr id="9" name="Shape 7"/>
          <p:cNvSpPr/>
          <p:nvPr/>
        </p:nvSpPr>
        <p:spPr>
          <a:xfrm>
            <a:off x="822960" y="2889504"/>
            <a:ext cx="164592" cy="164592"/>
          </a:xfrm>
          <a:prstGeom prst="ellipse">
            <a:avLst/>
          </a:prstGeom>
          <a:solidFill>
            <a:srgbClr val="FF9F1C"/>
          </a:solidFill>
          <a:ln/>
        </p:spPr>
      </p:sp>
      <p:sp>
        <p:nvSpPr>
          <p:cNvPr id="10" name="Text 8"/>
          <p:cNvSpPr/>
          <p:nvPr/>
        </p:nvSpPr>
        <p:spPr>
          <a:xfrm>
            <a:off x="1143000" y="2688336"/>
            <a:ext cx="3977640" cy="594360"/>
          </a:xfrm>
          <a:prstGeom prst="rect">
            <a:avLst/>
          </a:prstGeom>
          <a:noFill/>
          <a:ln/>
        </p:spPr>
        <p:txBody>
          <a:bodyPr wrap="square" lIns="0" tIns="0" rIns="0" bIns="0" rtlCol="0" anchor="ctr"/>
          <a:lstStyle/>
          <a:p>
            <a:pPr indent="0" marL="0">
              <a:buNone/>
            </a:pPr>
            <a:r>
              <a:rPr lang="en-US" sz="1450" b="1" dirty="0">
                <a:solidFill>
                  <a:srgbClr val="FF9F1C"/>
                </a:solidFill>
                <a:latin typeface="Calibri" pitchFamily="34" charset="0"/>
                <a:ea typeface="Calibri" pitchFamily="34" charset="-122"/>
                <a:cs typeface="Calibri" pitchFamily="34" charset="-120"/>
              </a:rPr>
              <a:t>Machines on the wrong customer</a:t>
            </a:r>
            <a:endParaRPr lang="en-US" sz="1450" dirty="0"/>
          </a:p>
        </p:txBody>
      </p:sp>
      <p:sp>
        <p:nvSpPr>
          <p:cNvPr id="11" name="Text 9"/>
          <p:cNvSpPr/>
          <p:nvPr/>
        </p:nvSpPr>
        <p:spPr>
          <a:xfrm>
            <a:off x="5212080" y="2688336"/>
            <a:ext cx="6172200" cy="594360"/>
          </a:xfrm>
          <a:prstGeom prst="rect">
            <a:avLst/>
          </a:prstGeom>
          <a:noFill/>
          <a:ln/>
        </p:spPr>
        <p:txBody>
          <a:bodyPr wrap="square" lIns="0" tIns="0" rIns="0" bIns="0" rtlCol="0" anchor="ctr"/>
          <a:lstStyle/>
          <a:p>
            <a:pPr indent="0" marL="0">
              <a:buNone/>
            </a:pPr>
            <a:r>
              <a:rPr lang="en-US" sz="1350" dirty="0">
                <a:solidFill>
                  <a:srgbClr val="E8EEF5"/>
                </a:solidFill>
                <a:latin typeface="Calibri" pitchFamily="34" charset="0"/>
                <a:ea typeface="Calibri" pitchFamily="34" charset="-122"/>
                <a:cs typeface="Calibri" pitchFamily="34" charset="-120"/>
              </a:rPr>
              <a:t>get reassigned — the exact defect that breaks a customer's asset match</a:t>
            </a:r>
            <a:endParaRPr lang="en-US" sz="1350" dirty="0"/>
          </a:p>
        </p:txBody>
      </p:sp>
      <p:sp>
        <p:nvSpPr>
          <p:cNvPr id="12" name="Shape 10"/>
          <p:cNvSpPr/>
          <p:nvPr/>
        </p:nvSpPr>
        <p:spPr>
          <a:xfrm>
            <a:off x="548640" y="3520440"/>
            <a:ext cx="11064240" cy="822960"/>
          </a:xfrm>
          <a:prstGeom prst="roundRect">
            <a:avLst>
              <a:gd name="adj" fmla="val 8889"/>
            </a:avLst>
          </a:prstGeom>
          <a:solidFill>
            <a:srgbClr val="16283F"/>
          </a:solidFill>
          <a:ln w="12700">
            <a:solidFill>
              <a:srgbClr val="223650"/>
            </a:solidFill>
            <a:prstDash val="solid"/>
          </a:ln>
        </p:spPr>
      </p:sp>
      <p:sp>
        <p:nvSpPr>
          <p:cNvPr id="13" name="Shape 11"/>
          <p:cNvSpPr/>
          <p:nvPr/>
        </p:nvSpPr>
        <p:spPr>
          <a:xfrm>
            <a:off x="822960" y="3849624"/>
            <a:ext cx="164592" cy="164592"/>
          </a:xfrm>
          <a:prstGeom prst="ellipse">
            <a:avLst/>
          </a:prstGeom>
          <a:solidFill>
            <a:srgbClr val="FF5A5F"/>
          </a:solidFill>
          <a:ln/>
        </p:spPr>
      </p:sp>
      <p:sp>
        <p:nvSpPr>
          <p:cNvPr id="14" name="Text 12"/>
          <p:cNvSpPr/>
          <p:nvPr/>
        </p:nvSpPr>
        <p:spPr>
          <a:xfrm>
            <a:off x="1143000" y="3648456"/>
            <a:ext cx="3977640" cy="594360"/>
          </a:xfrm>
          <a:prstGeom prst="rect">
            <a:avLst/>
          </a:prstGeom>
          <a:noFill/>
          <a:ln/>
        </p:spPr>
        <p:txBody>
          <a:bodyPr wrap="square" lIns="0" tIns="0" rIns="0" bIns="0" rtlCol="0" anchor="ctr"/>
          <a:lstStyle/>
          <a:p>
            <a:pPr indent="0" marL="0">
              <a:buNone/>
            </a:pPr>
            <a:r>
              <a:rPr lang="en-US" sz="1450" b="1" dirty="0">
                <a:solidFill>
                  <a:srgbClr val="FF5A5F"/>
                </a:solidFill>
                <a:latin typeface="Calibri" pitchFamily="34" charset="0"/>
                <a:ea typeface="Calibri" pitchFamily="34" charset="-122"/>
                <a:cs typeface="Calibri" pitchFamily="34" charset="-120"/>
              </a:rPr>
              <a:t>Machines other dealers claim</a:t>
            </a:r>
            <a:endParaRPr lang="en-US" sz="1450" dirty="0"/>
          </a:p>
        </p:txBody>
      </p:sp>
      <p:sp>
        <p:nvSpPr>
          <p:cNvPr id="15" name="Text 13"/>
          <p:cNvSpPr/>
          <p:nvPr/>
        </p:nvSpPr>
        <p:spPr>
          <a:xfrm>
            <a:off x="5212080" y="3648456"/>
            <a:ext cx="6172200" cy="594360"/>
          </a:xfrm>
          <a:prstGeom prst="rect">
            <a:avLst/>
          </a:prstGeom>
          <a:noFill/>
          <a:ln/>
        </p:spPr>
        <p:txBody>
          <a:bodyPr wrap="square" lIns="0" tIns="0" rIns="0" bIns="0" rtlCol="0" anchor="ctr"/>
          <a:lstStyle/>
          <a:p>
            <a:pPr indent="0" marL="0">
              <a:buNone/>
            </a:pPr>
            <a:r>
              <a:rPr lang="en-US" sz="1350" dirty="0">
                <a:solidFill>
                  <a:srgbClr val="E8EEF5"/>
                </a:solidFill>
                <a:latin typeface="Calibri" pitchFamily="34" charset="0"/>
                <a:ea typeface="Calibri" pitchFamily="34" charset="-122"/>
                <a:cs typeface="Calibri" pitchFamily="34" charset="-120"/>
              </a:rPr>
              <a:t>get reviewed transfers — closing the gaps no amount of data entry can fix</a:t>
            </a:r>
            <a:endParaRPr lang="en-US" sz="1350" dirty="0"/>
          </a:p>
        </p:txBody>
      </p:sp>
      <p:sp>
        <p:nvSpPr>
          <p:cNvPr id="16" name="Shape 14"/>
          <p:cNvSpPr/>
          <p:nvPr/>
        </p:nvSpPr>
        <p:spPr>
          <a:xfrm>
            <a:off x="548640" y="4480560"/>
            <a:ext cx="11064240" cy="822960"/>
          </a:xfrm>
          <a:prstGeom prst="roundRect">
            <a:avLst>
              <a:gd name="adj" fmla="val 8889"/>
            </a:avLst>
          </a:prstGeom>
          <a:solidFill>
            <a:srgbClr val="16283F"/>
          </a:solidFill>
          <a:ln w="12700">
            <a:solidFill>
              <a:srgbClr val="223650"/>
            </a:solidFill>
            <a:prstDash val="solid"/>
          </a:ln>
        </p:spPr>
      </p:sp>
      <p:sp>
        <p:nvSpPr>
          <p:cNvPr id="17" name="Shape 15"/>
          <p:cNvSpPr/>
          <p:nvPr/>
        </p:nvSpPr>
        <p:spPr>
          <a:xfrm>
            <a:off x="822960" y="4809744"/>
            <a:ext cx="164592" cy="164592"/>
          </a:xfrm>
          <a:prstGeom prst="ellipse">
            <a:avLst/>
          </a:prstGeom>
          <a:solidFill>
            <a:srgbClr val="2EC4B6"/>
          </a:solidFill>
          <a:ln/>
        </p:spPr>
      </p:sp>
      <p:sp>
        <p:nvSpPr>
          <p:cNvPr id="18" name="Text 16"/>
          <p:cNvSpPr/>
          <p:nvPr/>
        </p:nvSpPr>
        <p:spPr>
          <a:xfrm>
            <a:off x="1143000" y="4608576"/>
            <a:ext cx="3977640" cy="594360"/>
          </a:xfrm>
          <a:prstGeom prst="rect">
            <a:avLst/>
          </a:prstGeom>
          <a:noFill/>
          <a:ln/>
        </p:spPr>
        <p:txBody>
          <a:bodyPr wrap="square" lIns="0" tIns="0" rIns="0" bIns="0" rtlCol="0" anchor="ctr"/>
          <a:lstStyle/>
          <a:p>
            <a:pPr indent="0" marL="0">
              <a:buNone/>
            </a:pPr>
            <a:r>
              <a:rPr lang="en-US" sz="1450" b="1" dirty="0">
                <a:solidFill>
                  <a:srgbClr val="2EC4B6"/>
                </a:solidFill>
                <a:latin typeface="Calibri" pitchFamily="34" charset="0"/>
                <a:ea typeface="Calibri" pitchFamily="34" charset="-122"/>
                <a:cs typeface="Calibri" pitchFamily="34" charset="-120"/>
              </a:rPr>
              <a:t>Manual upkeep becomes a pipeline</a:t>
            </a:r>
            <a:endParaRPr lang="en-US" sz="1450" dirty="0"/>
          </a:p>
        </p:txBody>
      </p:sp>
      <p:sp>
        <p:nvSpPr>
          <p:cNvPr id="19" name="Text 17"/>
          <p:cNvSpPr/>
          <p:nvPr/>
        </p:nvSpPr>
        <p:spPr>
          <a:xfrm>
            <a:off x="5212080" y="4608576"/>
            <a:ext cx="6172200" cy="594360"/>
          </a:xfrm>
          <a:prstGeom prst="rect">
            <a:avLst/>
          </a:prstGeom>
          <a:noFill/>
          <a:ln/>
        </p:spPr>
        <p:txBody>
          <a:bodyPr wrap="square" lIns="0" tIns="0" rIns="0" bIns="0" rtlCol="0" anchor="ctr"/>
          <a:lstStyle/>
          <a:p>
            <a:pPr indent="0" marL="0">
              <a:buNone/>
            </a:pPr>
            <a:r>
              <a:rPr lang="en-US" sz="1350" dirty="0">
                <a:solidFill>
                  <a:srgbClr val="E8EEF5"/>
                </a:solidFill>
                <a:latin typeface="Calibri" pitchFamily="34" charset="0"/>
                <a:ea typeface="Calibri" pitchFamily="34" charset="-122"/>
                <a:cs typeface="Calibri" pitchFamily="34" charset="-120"/>
              </a:rPr>
              <a:t>nightly detection, audited fixes, and alerts prevented at the source instead of resolved after they fire</a:t>
            </a:r>
            <a:endParaRPr lang="en-US" sz="1350" dirty="0"/>
          </a:p>
        </p:txBody>
      </p:sp>
      <p:sp>
        <p:nvSpPr>
          <p:cNvPr id="20" name="Shape 18"/>
          <p:cNvSpPr/>
          <p:nvPr/>
        </p:nvSpPr>
        <p:spPr>
          <a:xfrm>
            <a:off x="548640" y="5532120"/>
            <a:ext cx="11064240" cy="822960"/>
          </a:xfrm>
          <a:prstGeom prst="roundRect">
            <a:avLst>
              <a:gd name="adj" fmla="val 8889"/>
            </a:avLst>
          </a:prstGeom>
          <a:solidFill>
            <a:srgbClr val="12314A"/>
          </a:solidFill>
          <a:ln w="12700">
            <a:solidFill>
              <a:srgbClr val="223650"/>
            </a:solidFill>
            <a:prstDash val="solid"/>
          </a:ln>
        </p:spPr>
      </p:sp>
      <p:sp>
        <p:nvSpPr>
          <p:cNvPr id="21" name="Text 19"/>
          <p:cNvSpPr/>
          <p:nvPr/>
        </p:nvSpPr>
        <p:spPr>
          <a:xfrm>
            <a:off x="822960" y="5669280"/>
            <a:ext cx="10561320" cy="594360"/>
          </a:xfrm>
          <a:prstGeom prst="rect">
            <a:avLst/>
          </a:prstGeom>
          <a:noFill/>
          <a:ln/>
        </p:spPr>
        <p:txBody>
          <a:bodyPr wrap="square" lIns="0" tIns="0" rIns="0" bIns="0" rtlCol="0" anchor="ctr"/>
          <a:lstStyle/>
          <a:p>
            <a:pPr indent="0" marL="0">
              <a:lnSpc>
                <a:spcPts val="1900"/>
              </a:lnSpc>
              <a:buNone/>
            </a:pPr>
            <a:r>
              <a:rPr lang="en-US" sz="1450" b="1" dirty="0">
                <a:solidFill>
                  <a:srgbClr val="FFC72C"/>
                </a:solidFill>
                <a:latin typeface="Calibri" pitchFamily="34" charset="0"/>
                <a:ea typeface="Calibri" pitchFamily="34" charset="-122"/>
                <a:cs typeface="Calibri" pitchFamily="34" charset="-120"/>
              </a:rPr>
              <a:t>One wrong machine fails its whole customer for Trifecta.  </a:t>
            </a:r>
            <a:pPr indent="0" marL="0">
              <a:lnSpc>
                <a:spcPts val="1900"/>
              </a:lnSpc>
              <a:buNone/>
            </a:pPr>
            <a:r>
              <a:rPr lang="en-US" sz="1450" dirty="0">
                <a:solidFill>
                  <a:srgbClr val="E8EEF5"/>
                </a:solidFill>
                <a:latin typeface="Calibri" pitchFamily="34" charset="0"/>
                <a:ea typeface="Calibri" pitchFamily="34" charset="-122"/>
                <a:cs typeface="Calibri" pitchFamily="34" charset="-120"/>
              </a:rPr>
              <a:t>Every machine this system fixes can flip an entire customer back to valid — the same work, scored twice: Trifecta up, alert queue down.</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300" kern="0" dirty="0">
                <a:solidFill>
                  <a:srgbClr val="FFC72C"/>
                </a:solidFill>
                <a:latin typeface="Calibri" pitchFamily="34" charset="0"/>
                <a:ea typeface="Calibri" pitchFamily="34" charset="-122"/>
                <a:cs typeface="Calibri" pitchFamily="34" charset="-120"/>
              </a:rPr>
              <a:t>THE BIG PICTURE</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E8EEF5"/>
                </a:solidFill>
                <a:latin typeface="Calibri" pitchFamily="34" charset="0"/>
                <a:ea typeface="Calibri" pitchFamily="34" charset="-122"/>
                <a:cs typeface="Calibri" pitchFamily="34" charset="-120"/>
              </a:rPr>
              <a:t>The whole system on one slide</a:t>
            </a:r>
            <a:endParaRPr lang="en-US" sz="3200" dirty="0"/>
          </a:p>
        </p:txBody>
      </p:sp>
      <p:sp>
        <p:nvSpPr>
          <p:cNvPr id="5" name="Shape 2"/>
          <p:cNvSpPr/>
          <p:nvPr/>
        </p:nvSpPr>
        <p:spPr>
          <a:xfrm>
            <a:off x="548640" y="1600200"/>
            <a:ext cx="3520440" cy="3108960"/>
          </a:xfrm>
          <a:prstGeom prst="roundRect">
            <a:avLst>
              <a:gd name="adj" fmla="val 2353"/>
            </a:avLst>
          </a:prstGeom>
          <a:solidFill>
            <a:srgbClr val="16283F"/>
          </a:solidFill>
          <a:ln w="12700">
            <a:solidFill>
              <a:srgbClr val="223650"/>
            </a:solidFill>
            <a:prstDash val="solid"/>
          </a:ln>
        </p:spPr>
      </p:sp>
      <p:sp>
        <p:nvSpPr>
          <p:cNvPr id="6" name="Text 3"/>
          <p:cNvSpPr/>
          <p:nvPr/>
        </p:nvSpPr>
        <p:spPr>
          <a:xfrm>
            <a:off x="822960" y="1874520"/>
            <a:ext cx="2926080" cy="365760"/>
          </a:xfrm>
          <a:prstGeom prst="rect">
            <a:avLst/>
          </a:prstGeom>
          <a:noFill/>
          <a:ln/>
        </p:spPr>
        <p:txBody>
          <a:bodyPr wrap="square" lIns="0" tIns="0" rIns="0" bIns="0" rtlCol="0" anchor="ctr"/>
          <a:lstStyle/>
          <a:p>
            <a:pPr indent="0" marL="0">
              <a:buNone/>
            </a:pPr>
            <a:r>
              <a:rPr lang="en-US" sz="2100" b="1" dirty="0">
                <a:solidFill>
                  <a:srgbClr val="4DA3FF"/>
                </a:solidFill>
                <a:latin typeface="Calibri" pitchFamily="34" charset="0"/>
                <a:ea typeface="Calibri" pitchFamily="34" charset="-122"/>
                <a:cs typeface="Calibri" pitchFamily="34" charset="-120"/>
              </a:rPr>
              <a:t>DETECT</a:t>
            </a:r>
            <a:endParaRPr lang="en-US" sz="2100" dirty="0"/>
          </a:p>
        </p:txBody>
      </p:sp>
      <p:sp>
        <p:nvSpPr>
          <p:cNvPr id="7" name="Text 4"/>
          <p:cNvSpPr/>
          <p:nvPr/>
        </p:nvSpPr>
        <p:spPr>
          <a:xfrm>
            <a:off x="822960" y="2377440"/>
            <a:ext cx="2971800" cy="2194560"/>
          </a:xfrm>
          <a:prstGeom prst="rect">
            <a:avLst/>
          </a:prstGeom>
          <a:noFill/>
          <a:ln/>
        </p:spPr>
        <p:txBody>
          <a:bodyPr wrap="square" lIns="0" tIns="0" rIns="0" bIns="0" rtlCol="0" anchor="ctr"/>
          <a:lstStyle/>
          <a:p>
            <a:pPr indent="0" marL="0">
              <a:lnSpc>
                <a:spcPts val="2100"/>
              </a:lnSpc>
              <a:buNone/>
            </a:pPr>
            <a:r>
              <a:rPr lang="en-US" sz="1450" dirty="0">
                <a:solidFill>
                  <a:srgbClr val="E8EEF5"/>
                </a:solidFill>
                <a:latin typeface="Calibri" pitchFamily="34" charset="0"/>
                <a:ea typeface="Calibri" pitchFamily="34" charset="-122"/>
                <a:cs typeface="Calibri" pitchFamily="34" charset="-120"/>
              </a:rPr>
              <a:t>A nightly, read-only sweep checks each machine against Caterpillar's live API and classifies it. It never writes anything to Caterpillar.</a:t>
            </a:r>
            <a:endParaRPr lang="en-US" sz="1450" dirty="0"/>
          </a:p>
        </p:txBody>
      </p:sp>
      <p:sp>
        <p:nvSpPr>
          <p:cNvPr id="8" name="Shape 5"/>
          <p:cNvSpPr/>
          <p:nvPr/>
        </p:nvSpPr>
        <p:spPr>
          <a:xfrm>
            <a:off x="4343400" y="1600200"/>
            <a:ext cx="3520440" cy="3108960"/>
          </a:xfrm>
          <a:prstGeom prst="roundRect">
            <a:avLst>
              <a:gd name="adj" fmla="val 2353"/>
            </a:avLst>
          </a:prstGeom>
          <a:solidFill>
            <a:srgbClr val="16283F"/>
          </a:solidFill>
          <a:ln w="12700">
            <a:solidFill>
              <a:srgbClr val="223650"/>
            </a:solidFill>
            <a:prstDash val="solid"/>
          </a:ln>
        </p:spPr>
      </p:sp>
      <p:sp>
        <p:nvSpPr>
          <p:cNvPr id="9" name="Text 6"/>
          <p:cNvSpPr/>
          <p:nvPr/>
        </p:nvSpPr>
        <p:spPr>
          <a:xfrm>
            <a:off x="4617720" y="1874520"/>
            <a:ext cx="2926080" cy="365760"/>
          </a:xfrm>
          <a:prstGeom prst="rect">
            <a:avLst/>
          </a:prstGeom>
          <a:noFill/>
          <a:ln/>
        </p:spPr>
        <p:txBody>
          <a:bodyPr wrap="square" lIns="0" tIns="0" rIns="0" bIns="0" rtlCol="0" anchor="ctr"/>
          <a:lstStyle/>
          <a:p>
            <a:pPr indent="0" marL="0">
              <a:buNone/>
            </a:pPr>
            <a:r>
              <a:rPr lang="en-US" sz="2100" b="1" dirty="0">
                <a:solidFill>
                  <a:srgbClr val="FF9F1C"/>
                </a:solidFill>
                <a:latin typeface="Calibri" pitchFamily="34" charset="0"/>
                <a:ea typeface="Calibri" pitchFamily="34" charset="-122"/>
                <a:cs typeface="Calibri" pitchFamily="34" charset="-120"/>
              </a:rPr>
              <a:t>ACT</a:t>
            </a:r>
            <a:endParaRPr lang="en-US" sz="2100" dirty="0"/>
          </a:p>
        </p:txBody>
      </p:sp>
      <p:sp>
        <p:nvSpPr>
          <p:cNvPr id="10" name="Text 7"/>
          <p:cNvSpPr/>
          <p:nvPr/>
        </p:nvSpPr>
        <p:spPr>
          <a:xfrm>
            <a:off x="4617720" y="2377440"/>
            <a:ext cx="2971800" cy="2194560"/>
          </a:xfrm>
          <a:prstGeom prst="rect">
            <a:avLst/>
          </a:prstGeom>
          <a:noFill/>
          <a:ln/>
        </p:spPr>
        <p:txBody>
          <a:bodyPr wrap="square" lIns="0" tIns="0" rIns="0" bIns="0" rtlCol="0" anchor="ctr"/>
          <a:lstStyle/>
          <a:p>
            <a:pPr indent="0" marL="0">
              <a:lnSpc>
                <a:spcPts val="2100"/>
              </a:lnSpc>
              <a:buNone/>
            </a:pPr>
            <a:r>
              <a:rPr lang="en-US" sz="1450" dirty="0">
                <a:solidFill>
                  <a:srgbClr val="E8EEF5"/>
                </a:solidFill>
                <a:latin typeface="Calibri" pitchFamily="34" charset="0"/>
                <a:ea typeface="Calibri" pitchFamily="34" charset="-122"/>
                <a:cs typeface="Calibri" pitchFamily="34" charset="-120"/>
              </a:rPr>
              <a:t>Audited Snowflake procedures do the fixes: adds, customer reassignments, and (reviewed) transfers. Every write previews first and refuses unsafe cases on its own.</a:t>
            </a:r>
            <a:endParaRPr lang="en-US" sz="1450" dirty="0"/>
          </a:p>
        </p:txBody>
      </p:sp>
      <p:sp>
        <p:nvSpPr>
          <p:cNvPr id="11" name="Shape 8"/>
          <p:cNvSpPr/>
          <p:nvPr/>
        </p:nvSpPr>
        <p:spPr>
          <a:xfrm>
            <a:off x="8138160" y="1600200"/>
            <a:ext cx="3520440" cy="3108960"/>
          </a:xfrm>
          <a:prstGeom prst="roundRect">
            <a:avLst>
              <a:gd name="adj" fmla="val 2353"/>
            </a:avLst>
          </a:prstGeom>
          <a:solidFill>
            <a:srgbClr val="16283F"/>
          </a:solidFill>
          <a:ln w="12700">
            <a:solidFill>
              <a:srgbClr val="223650"/>
            </a:solidFill>
            <a:prstDash val="solid"/>
          </a:ln>
        </p:spPr>
      </p:sp>
      <p:sp>
        <p:nvSpPr>
          <p:cNvPr id="12" name="Text 9"/>
          <p:cNvSpPr/>
          <p:nvPr/>
        </p:nvSpPr>
        <p:spPr>
          <a:xfrm>
            <a:off x="8412480" y="1874520"/>
            <a:ext cx="2926080" cy="365760"/>
          </a:xfrm>
          <a:prstGeom prst="rect">
            <a:avLst/>
          </a:prstGeom>
          <a:noFill/>
          <a:ln/>
        </p:spPr>
        <p:txBody>
          <a:bodyPr wrap="square" lIns="0" tIns="0" rIns="0" bIns="0" rtlCol="0" anchor="ctr"/>
          <a:lstStyle/>
          <a:p>
            <a:pPr indent="0" marL="0">
              <a:buNone/>
            </a:pPr>
            <a:r>
              <a:rPr lang="en-US" sz="2100" b="1" dirty="0">
                <a:solidFill>
                  <a:srgbClr val="FFC72C"/>
                </a:solidFill>
                <a:latin typeface="Calibri" pitchFamily="34" charset="0"/>
                <a:ea typeface="Calibri" pitchFamily="34" charset="-122"/>
                <a:cs typeface="Calibri" pitchFamily="34" charset="-120"/>
              </a:rPr>
              <a:t>PROVE</a:t>
            </a:r>
            <a:endParaRPr lang="en-US" sz="2100" dirty="0"/>
          </a:p>
        </p:txBody>
      </p:sp>
      <p:sp>
        <p:nvSpPr>
          <p:cNvPr id="13" name="Text 10"/>
          <p:cNvSpPr/>
          <p:nvPr/>
        </p:nvSpPr>
        <p:spPr>
          <a:xfrm>
            <a:off x="8412480" y="2377440"/>
            <a:ext cx="2971800" cy="2194560"/>
          </a:xfrm>
          <a:prstGeom prst="rect">
            <a:avLst/>
          </a:prstGeom>
          <a:noFill/>
          <a:ln/>
        </p:spPr>
        <p:txBody>
          <a:bodyPr wrap="square" lIns="0" tIns="0" rIns="0" bIns="0" rtlCol="0" anchor="ctr"/>
          <a:lstStyle/>
          <a:p>
            <a:pPr indent="0" marL="0">
              <a:lnSpc>
                <a:spcPts val="2100"/>
              </a:lnSpc>
              <a:buNone/>
            </a:pPr>
            <a:r>
              <a:rPr lang="en-US" sz="1450" dirty="0">
                <a:solidFill>
                  <a:srgbClr val="E8EEF5"/>
                </a:solidFill>
                <a:latin typeface="Calibri" pitchFamily="34" charset="0"/>
                <a:ea typeface="Calibri" pitchFamily="34" charset="-122"/>
                <a:cs typeface="Calibri" pitchFamily="34" charset="-120"/>
              </a:rPr>
              <a:t>Two permanent tables: AUDIT records everything we did; HISTORY records every version of the data anyone ever produced. Nothing is ever edited or deleted.</a:t>
            </a:r>
            <a:endParaRPr lang="en-US" sz="1450" dirty="0"/>
          </a:p>
        </p:txBody>
      </p:sp>
      <p:sp>
        <p:nvSpPr>
          <p:cNvPr id="14" name="Shape 11"/>
          <p:cNvSpPr/>
          <p:nvPr/>
        </p:nvSpPr>
        <p:spPr>
          <a:xfrm>
            <a:off x="548640" y="5029200"/>
            <a:ext cx="11064240" cy="1051560"/>
          </a:xfrm>
          <a:prstGeom prst="roundRect">
            <a:avLst>
              <a:gd name="adj" fmla="val 6957"/>
            </a:avLst>
          </a:prstGeom>
          <a:solidFill>
            <a:srgbClr val="12314A"/>
          </a:solidFill>
          <a:ln w="12700">
            <a:solidFill>
              <a:srgbClr val="223650"/>
            </a:solidFill>
            <a:prstDash val="solid"/>
          </a:ln>
        </p:spPr>
      </p:sp>
      <p:sp>
        <p:nvSpPr>
          <p:cNvPr id="15" name="Text 12"/>
          <p:cNvSpPr/>
          <p:nvPr/>
        </p:nvSpPr>
        <p:spPr>
          <a:xfrm>
            <a:off x="822960" y="5230368"/>
            <a:ext cx="10607040" cy="685800"/>
          </a:xfrm>
          <a:prstGeom prst="rect">
            <a:avLst/>
          </a:prstGeom>
          <a:noFill/>
          <a:ln/>
        </p:spPr>
        <p:txBody>
          <a:bodyPr wrap="square" lIns="0" tIns="0" rIns="0" bIns="0" rtlCol="0" anchor="ctr"/>
          <a:lstStyle/>
          <a:p>
            <a:pPr indent="0" marL="0">
              <a:buNone/>
            </a:pPr>
            <a:r>
              <a:rPr lang="en-US" sz="1550" b="1" dirty="0">
                <a:solidFill>
                  <a:srgbClr val="FFC72C"/>
                </a:solidFill>
                <a:latin typeface="Calibri" pitchFamily="34" charset="0"/>
                <a:ea typeface="Calibri" pitchFamily="34" charset="-122"/>
                <a:cs typeface="Calibri" pitchFamily="34" charset="-120"/>
              </a:rPr>
              <a:t>The loop closes itself:  </a:t>
            </a:r>
            <a:pPr indent="0" marL="0">
              <a:buNone/>
            </a:pPr>
            <a:r>
              <a:rPr lang="en-US" sz="1550" dirty="0">
                <a:solidFill>
                  <a:srgbClr val="E8EEF5"/>
                </a:solidFill>
                <a:latin typeface="Calibri" pitchFamily="34" charset="0"/>
                <a:ea typeface="Calibri" pitchFamily="34" charset="-122"/>
                <a:cs typeface="Calibri" pitchFamily="34" charset="-120"/>
              </a:rPr>
              <a:t>every action's result is verified by the same sweep that found the problem — the system never marks its own homework.</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300" kern="0" dirty="0">
                <a:solidFill>
                  <a:srgbClr val="FFC72C"/>
                </a:solidFill>
                <a:latin typeface="Calibri" pitchFamily="34" charset="0"/>
                <a:ea typeface="Calibri" pitchFamily="34" charset="-122"/>
                <a:cs typeface="Calibri" pitchFamily="34" charset="-120"/>
              </a:rPr>
              <a:t>DETECT</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E8EEF5"/>
                </a:solidFill>
                <a:latin typeface="Calibri" pitchFamily="34" charset="0"/>
                <a:ea typeface="Calibri" pitchFamily="34" charset="-122"/>
                <a:cs typeface="Calibri" pitchFamily="34" charset="-120"/>
              </a:rPr>
              <a:t>The nightly sweep: CCAT_DETECT_DISCREPANCIES</a:t>
            </a:r>
            <a:endParaRPr lang="en-US" sz="3200" dirty="0"/>
          </a:p>
        </p:txBody>
      </p:sp>
      <p:sp>
        <p:nvSpPr>
          <p:cNvPr id="5" name="Shape 2"/>
          <p:cNvSpPr/>
          <p:nvPr/>
        </p:nvSpPr>
        <p:spPr>
          <a:xfrm>
            <a:off x="548640" y="1554480"/>
            <a:ext cx="6949440" cy="4480560"/>
          </a:xfrm>
          <a:prstGeom prst="roundRect">
            <a:avLst>
              <a:gd name="adj" fmla="val 1633"/>
            </a:avLst>
          </a:prstGeom>
          <a:solidFill>
            <a:srgbClr val="16283F"/>
          </a:solidFill>
          <a:ln w="12700">
            <a:solidFill>
              <a:srgbClr val="223650"/>
            </a:solidFill>
            <a:prstDash val="solid"/>
          </a:ln>
        </p:spPr>
      </p:sp>
      <p:sp>
        <p:nvSpPr>
          <p:cNvPr id="6" name="Text 3"/>
          <p:cNvSpPr/>
          <p:nvPr/>
        </p:nvSpPr>
        <p:spPr>
          <a:xfrm>
            <a:off x="868680" y="1828800"/>
            <a:ext cx="6309360" cy="4023360"/>
          </a:xfrm>
          <a:prstGeom prst="rect">
            <a:avLst/>
          </a:prstGeom>
          <a:noFill/>
          <a:ln/>
        </p:spPr>
        <p:txBody>
          <a:bodyPr wrap="square" lIns="0" tIns="0" rIns="0" bIns="0" rtlCol="0" anchor="ctr"/>
          <a:lstStyle/>
          <a:p>
            <a:pPr indent="0" marL="0">
              <a:lnSpc>
                <a:spcPts val="2000"/>
              </a:lnSpc>
              <a:buNone/>
            </a:pPr>
            <a:r>
              <a:rPr lang="en-US" sz="1500" b="1" dirty="0">
                <a:solidFill>
                  <a:srgbClr val="4DA3FF"/>
                </a:solidFill>
                <a:latin typeface="Calibri" pitchFamily="34" charset="0"/>
                <a:ea typeface="Calibri" pitchFamily="34" charset="-122"/>
                <a:cs typeface="Calibri" pitchFamily="34" charset="-120"/>
              </a:rPr>
              <a:t>One live API search per machine</a:t>
            </a:r>
            <a:endParaRPr lang="en-US" sz="1500" dirty="0"/>
          </a:p>
          <a:p>
            <a:pPr indent="0" marL="0">
              <a:lnSpc>
                <a:spcPts val="2000"/>
              </a:lnSpc>
              <a:spcAft>
                <a:spcPts val="1000"/>
              </a:spcAft>
              <a:buNone/>
            </a:pPr>
            <a:r>
              <a:rPr lang="en-US" sz="1500" dirty="0">
                <a:solidFill>
                  <a:srgbClr val="E8EEF5"/>
                </a:solidFill>
                <a:latin typeface="Calibri" pitchFamily="34" charset="0"/>
                <a:ea typeface="Calibri" pitchFamily="34" charset="-122"/>
                <a:cs typeface="Calibri" pitchFamily="34" charset="-120"/>
              </a:rPr>
              <a:t>Compares Caterpillar's answer against our golden equipment view, field by field.</a:t>
            </a:r>
            <a:endParaRPr lang="en-US" sz="1500" dirty="0"/>
          </a:p>
          <a:p>
            <a:pPr indent="0" marL="0">
              <a:lnSpc>
                <a:spcPts val="2000"/>
              </a:lnSpc>
              <a:buNone/>
            </a:pPr>
            <a:r>
              <a:rPr lang="en-US" sz="1500" b="1" dirty="0">
                <a:solidFill>
                  <a:srgbClr val="4DA3FF"/>
                </a:solidFill>
                <a:latin typeface="Calibri" pitchFamily="34" charset="0"/>
                <a:ea typeface="Calibri" pitchFamily="34" charset="-122"/>
                <a:cs typeface="Calibri" pitchFamily="34" charset="-120"/>
              </a:rPr>
              <a:t>Smart about what it re-checks</a:t>
            </a:r>
            <a:endParaRPr lang="en-US" sz="1500" dirty="0"/>
          </a:p>
          <a:p>
            <a:pPr indent="0" marL="0">
              <a:lnSpc>
                <a:spcPts val="2000"/>
              </a:lnSpc>
              <a:spcAft>
                <a:spcPts val="1000"/>
              </a:spcAft>
              <a:buNone/>
            </a:pPr>
            <a:r>
              <a:rPr lang="en-US" sz="1500" dirty="0">
                <a:solidFill>
                  <a:srgbClr val="E8EEF5"/>
                </a:solidFill>
                <a:latin typeface="Calibri" pitchFamily="34" charset="0"/>
                <a:ea typeface="Calibri" pitchFamily="34" charset="-122"/>
                <a:cs typeface="Calibri" pitchFamily="34" charset="-120"/>
              </a:rPr>
              <a:t>A machine is only re-checked if it was never checked, our side changed, the last check errored, or the check has gone stale. Everything else is skipped for free.</a:t>
            </a:r>
            <a:endParaRPr lang="en-US" sz="1500" dirty="0"/>
          </a:p>
          <a:p>
            <a:pPr indent="0" marL="0">
              <a:lnSpc>
                <a:spcPts val="2000"/>
              </a:lnSpc>
              <a:buNone/>
            </a:pPr>
            <a:r>
              <a:rPr lang="en-US" sz="1500" b="1" dirty="0">
                <a:solidFill>
                  <a:srgbClr val="4DA3FF"/>
                </a:solidFill>
                <a:latin typeface="Calibri" pitchFamily="34" charset="0"/>
                <a:ea typeface="Calibri" pitchFamily="34" charset="-122"/>
                <a:cs typeface="Calibri" pitchFamily="34" charset="-120"/>
              </a:rPr>
              <a:t>Writes everything downstream</a:t>
            </a:r>
            <a:endParaRPr lang="en-US" sz="1500" dirty="0"/>
          </a:p>
          <a:p>
            <a:pPr indent="0" marL="0">
              <a:lnSpc>
                <a:spcPts val="2000"/>
              </a:lnSpc>
              <a:buNone/>
            </a:pPr>
            <a:r>
              <a:rPr lang="en-US" sz="1500" dirty="0">
                <a:solidFill>
                  <a:srgbClr val="E8EEF5"/>
                </a:solidFill>
                <a:latin typeface="Calibri" pitchFamily="34" charset="0"/>
                <a:ea typeface="Calibri" pitchFamily="34" charset="-122"/>
                <a:cs typeface="Calibri" pitchFamily="34" charset="-120"/>
              </a:rPr>
              <a:t>Fills the work queues, updates each machine's state, and snapshots any changed CCAT data into history. Returns a summary of every run.</a:t>
            </a:r>
            <a:endParaRPr lang="en-US" sz="1500" dirty="0"/>
          </a:p>
        </p:txBody>
      </p:sp>
      <p:sp>
        <p:nvSpPr>
          <p:cNvPr id="7" name="Shape 4"/>
          <p:cNvSpPr/>
          <p:nvPr/>
        </p:nvSpPr>
        <p:spPr>
          <a:xfrm>
            <a:off x="7772400" y="1554480"/>
            <a:ext cx="3840480" cy="2103120"/>
          </a:xfrm>
          <a:prstGeom prst="roundRect">
            <a:avLst>
              <a:gd name="adj" fmla="val 3478"/>
            </a:avLst>
          </a:prstGeom>
          <a:solidFill>
            <a:srgbClr val="12314A"/>
          </a:solidFill>
          <a:ln w="12700">
            <a:solidFill>
              <a:srgbClr val="223650"/>
            </a:solidFill>
            <a:prstDash val="solid"/>
          </a:ln>
        </p:spPr>
      </p:sp>
      <p:sp>
        <p:nvSpPr>
          <p:cNvPr id="8" name="Text 5"/>
          <p:cNvSpPr/>
          <p:nvPr/>
        </p:nvSpPr>
        <p:spPr>
          <a:xfrm>
            <a:off x="8046720" y="1783080"/>
            <a:ext cx="3291840" cy="731520"/>
          </a:xfrm>
          <a:prstGeom prst="rect">
            <a:avLst/>
          </a:prstGeom>
          <a:noFill/>
          <a:ln/>
        </p:spPr>
        <p:txBody>
          <a:bodyPr wrap="square" lIns="0" tIns="0" rIns="0" bIns="0" rtlCol="0" anchor="ctr"/>
          <a:lstStyle/>
          <a:p>
            <a:pPr indent="0" marL="0">
              <a:buNone/>
            </a:pPr>
            <a:r>
              <a:rPr lang="en-US" sz="4400" b="1" dirty="0">
                <a:solidFill>
                  <a:srgbClr val="FFC72C"/>
                </a:solidFill>
                <a:latin typeface="Calibri" pitchFamily="34" charset="0"/>
                <a:ea typeface="Calibri" pitchFamily="34" charset="-122"/>
                <a:cs typeface="Calibri" pitchFamily="34" charset="-120"/>
              </a:rPr>
              <a:t>~0.9s</a:t>
            </a:r>
            <a:endParaRPr lang="en-US" sz="4400" dirty="0"/>
          </a:p>
        </p:txBody>
      </p:sp>
      <p:sp>
        <p:nvSpPr>
          <p:cNvPr id="9" name="Text 6"/>
          <p:cNvSpPr/>
          <p:nvPr/>
        </p:nvSpPr>
        <p:spPr>
          <a:xfrm>
            <a:off x="8046720" y="2560320"/>
            <a:ext cx="3291840" cy="822960"/>
          </a:xfrm>
          <a:prstGeom prst="rect">
            <a:avLst/>
          </a:prstGeom>
          <a:noFill/>
          <a:ln/>
        </p:spPr>
        <p:txBody>
          <a:bodyPr wrap="square" lIns="0" tIns="0" rIns="0" bIns="0" rtlCol="0" anchor="ctr"/>
          <a:lstStyle/>
          <a:p>
            <a:pPr indent="0" marL="0">
              <a:buNone/>
            </a:pPr>
            <a:r>
              <a:rPr lang="en-US" sz="1400" dirty="0">
                <a:solidFill>
                  <a:srgbClr val="9FB3C8"/>
                </a:solidFill>
                <a:latin typeface="Calibri" pitchFamily="34" charset="0"/>
                <a:ea typeface="Calibri" pitchFamily="34" charset="-122"/>
                <a:cs typeface="Calibri" pitchFamily="34" charset="-120"/>
              </a:rPr>
              <a:t>per machine checked — one polite, paced API call</a:t>
            </a:r>
            <a:endParaRPr lang="en-US" sz="1400" dirty="0"/>
          </a:p>
        </p:txBody>
      </p:sp>
      <p:sp>
        <p:nvSpPr>
          <p:cNvPr id="10" name="Shape 7"/>
          <p:cNvSpPr/>
          <p:nvPr/>
        </p:nvSpPr>
        <p:spPr>
          <a:xfrm>
            <a:off x="7772400" y="3931920"/>
            <a:ext cx="3840480" cy="2103120"/>
          </a:xfrm>
          <a:prstGeom prst="roundRect">
            <a:avLst>
              <a:gd name="adj" fmla="val 3478"/>
            </a:avLst>
          </a:prstGeom>
          <a:solidFill>
            <a:srgbClr val="12314A"/>
          </a:solidFill>
          <a:ln w="12700">
            <a:solidFill>
              <a:srgbClr val="223650"/>
            </a:solidFill>
            <a:prstDash val="solid"/>
          </a:ln>
        </p:spPr>
      </p:sp>
      <p:sp>
        <p:nvSpPr>
          <p:cNvPr id="11" name="Text 8"/>
          <p:cNvSpPr/>
          <p:nvPr/>
        </p:nvSpPr>
        <p:spPr>
          <a:xfrm>
            <a:off x="8046720" y="4160520"/>
            <a:ext cx="3291840" cy="731520"/>
          </a:xfrm>
          <a:prstGeom prst="rect">
            <a:avLst/>
          </a:prstGeom>
          <a:noFill/>
          <a:ln/>
        </p:spPr>
        <p:txBody>
          <a:bodyPr wrap="square" lIns="0" tIns="0" rIns="0" bIns="0" rtlCol="0" anchor="ctr"/>
          <a:lstStyle/>
          <a:p>
            <a:pPr indent="0" marL="0">
              <a:buNone/>
            </a:pPr>
            <a:r>
              <a:rPr lang="en-US" sz="4400" b="1" dirty="0">
                <a:solidFill>
                  <a:srgbClr val="FFC72C"/>
                </a:solidFill>
                <a:latin typeface="Calibri" pitchFamily="34" charset="0"/>
                <a:ea typeface="Calibri" pitchFamily="34" charset="-122"/>
                <a:cs typeface="Calibri" pitchFamily="34" charset="-120"/>
              </a:rPr>
              <a:t>5,000</a:t>
            </a:r>
            <a:endParaRPr lang="en-US" sz="4400" dirty="0"/>
          </a:p>
        </p:txBody>
      </p:sp>
      <p:sp>
        <p:nvSpPr>
          <p:cNvPr id="12" name="Text 9"/>
          <p:cNvSpPr/>
          <p:nvPr/>
        </p:nvSpPr>
        <p:spPr>
          <a:xfrm>
            <a:off x="8046720" y="4937760"/>
            <a:ext cx="3291840" cy="1005840"/>
          </a:xfrm>
          <a:prstGeom prst="rect">
            <a:avLst/>
          </a:prstGeom>
          <a:noFill/>
          <a:ln/>
        </p:spPr>
        <p:txBody>
          <a:bodyPr wrap="square" lIns="0" tIns="0" rIns="0" bIns="0" rtlCol="0" anchor="ctr"/>
          <a:lstStyle/>
          <a:p>
            <a:pPr indent="0" marL="0">
              <a:buNone/>
            </a:pPr>
            <a:r>
              <a:rPr lang="en-US" sz="1400" dirty="0">
                <a:solidFill>
                  <a:srgbClr val="9FB3C8"/>
                </a:solidFill>
                <a:latin typeface="Calibri" pitchFamily="34" charset="0"/>
                <a:ea typeface="Calibri" pitchFamily="34" charset="-122"/>
                <a:cs typeface="Calibri" pitchFamily="34" charset="-120"/>
              </a:rPr>
              <a:t>machines a night in about 75 minutes — full fleet coverage builds in weeks, then maintains itself</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300" kern="0" dirty="0">
                <a:solidFill>
                  <a:srgbClr val="FFC72C"/>
                </a:solidFill>
                <a:latin typeface="Calibri" pitchFamily="34" charset="0"/>
                <a:ea typeface="Calibri" pitchFamily="34" charset="-122"/>
                <a:cs typeface="Calibri" pitchFamily="34" charset="-120"/>
              </a:rPr>
              <a:t>DETECT</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E8EEF5"/>
                </a:solidFill>
                <a:latin typeface="Calibri" pitchFamily="34" charset="0"/>
                <a:ea typeface="Calibri" pitchFamily="34" charset="-122"/>
                <a:cs typeface="Calibri" pitchFamily="34" charset="-120"/>
              </a:rPr>
              <a:t>What the sweep writes: queues, state, and memory</a:t>
            </a:r>
            <a:endParaRPr lang="en-US" sz="3200" dirty="0"/>
          </a:p>
        </p:txBody>
      </p:sp>
      <p:sp>
        <p:nvSpPr>
          <p:cNvPr id="5" name="Shape 2"/>
          <p:cNvSpPr/>
          <p:nvPr/>
        </p:nvSpPr>
        <p:spPr>
          <a:xfrm>
            <a:off x="548640" y="1600200"/>
            <a:ext cx="5394960" cy="2103120"/>
          </a:xfrm>
          <a:prstGeom prst="roundRect">
            <a:avLst>
              <a:gd name="adj" fmla="val 3478"/>
            </a:avLst>
          </a:prstGeom>
          <a:solidFill>
            <a:srgbClr val="16283F"/>
          </a:solidFill>
          <a:ln w="12700">
            <a:solidFill>
              <a:srgbClr val="223650"/>
            </a:solidFill>
            <a:prstDash val="solid"/>
          </a:ln>
        </p:spPr>
      </p:sp>
      <p:sp>
        <p:nvSpPr>
          <p:cNvPr id="6" name="Shape 3"/>
          <p:cNvSpPr/>
          <p:nvPr/>
        </p:nvSpPr>
        <p:spPr>
          <a:xfrm>
            <a:off x="822960" y="1911096"/>
            <a:ext cx="164592" cy="164592"/>
          </a:xfrm>
          <a:prstGeom prst="ellipse">
            <a:avLst/>
          </a:prstGeom>
          <a:solidFill>
            <a:srgbClr val="4DA3FF"/>
          </a:solidFill>
          <a:ln/>
        </p:spPr>
      </p:sp>
      <p:sp>
        <p:nvSpPr>
          <p:cNvPr id="7" name="Text 4"/>
          <p:cNvSpPr/>
          <p:nvPr/>
        </p:nvSpPr>
        <p:spPr>
          <a:xfrm>
            <a:off x="1115568" y="1801368"/>
            <a:ext cx="4572000" cy="365760"/>
          </a:xfrm>
          <a:prstGeom prst="rect">
            <a:avLst/>
          </a:prstGeom>
          <a:noFill/>
          <a:ln/>
        </p:spPr>
        <p:txBody>
          <a:bodyPr wrap="square" lIns="0" tIns="0" rIns="0" bIns="0" rtlCol="0" anchor="ctr"/>
          <a:lstStyle/>
          <a:p>
            <a:pPr indent="0" marL="0">
              <a:buNone/>
            </a:pPr>
            <a:r>
              <a:rPr lang="en-US" sz="1700" b="1" dirty="0">
                <a:solidFill>
                  <a:srgbClr val="4DA3FF"/>
                </a:solidFill>
                <a:latin typeface="Calibri" pitchFamily="34" charset="0"/>
                <a:ea typeface="Calibri" pitchFamily="34" charset="-122"/>
                <a:cs typeface="Calibri" pitchFamily="34" charset="-120"/>
              </a:rPr>
              <a:t>CCAT_MISSING</a:t>
            </a:r>
            <a:endParaRPr lang="en-US" sz="1700" dirty="0"/>
          </a:p>
        </p:txBody>
      </p:sp>
      <p:sp>
        <p:nvSpPr>
          <p:cNvPr id="8" name="Text 5"/>
          <p:cNvSpPr/>
          <p:nvPr/>
        </p:nvSpPr>
        <p:spPr>
          <a:xfrm>
            <a:off x="822960" y="2286000"/>
            <a:ext cx="4846320" cy="1325880"/>
          </a:xfrm>
          <a:prstGeom prst="rect">
            <a:avLst/>
          </a:prstGeom>
          <a:noFill/>
          <a:ln/>
        </p:spPr>
        <p:txBody>
          <a:bodyPr wrap="square" lIns="0" tIns="0" rIns="0" bIns="0" rtlCol="0" anchor="ctr"/>
          <a:lstStyle/>
          <a:p>
            <a:pPr indent="0" marL="0">
              <a:lnSpc>
                <a:spcPts val="1800"/>
              </a:lnSpc>
              <a:buNone/>
            </a:pPr>
            <a:r>
              <a:rPr lang="en-US" sz="1350" dirty="0">
                <a:solidFill>
                  <a:srgbClr val="E8EEF5"/>
                </a:solidFill>
                <a:latin typeface="Calibri" pitchFamily="34" charset="0"/>
                <a:ea typeface="Calibri" pitchFamily="34" charset="-122"/>
                <a:cs typeface="Calibri" pitchFamily="34" charset="-120"/>
              </a:rPr>
              <a:t>Machines with no record under our dealer code — the add and transfer pipeline. Keeps the other dealers' records for triage.</a:t>
            </a:r>
            <a:endParaRPr lang="en-US" sz="1350" dirty="0"/>
          </a:p>
        </p:txBody>
      </p:sp>
      <p:sp>
        <p:nvSpPr>
          <p:cNvPr id="9" name="Shape 6"/>
          <p:cNvSpPr/>
          <p:nvPr/>
        </p:nvSpPr>
        <p:spPr>
          <a:xfrm>
            <a:off x="6217920" y="1600200"/>
            <a:ext cx="5394960" cy="2103120"/>
          </a:xfrm>
          <a:prstGeom prst="roundRect">
            <a:avLst>
              <a:gd name="adj" fmla="val 3478"/>
            </a:avLst>
          </a:prstGeom>
          <a:solidFill>
            <a:srgbClr val="16283F"/>
          </a:solidFill>
          <a:ln w="12700">
            <a:solidFill>
              <a:srgbClr val="223650"/>
            </a:solidFill>
            <a:prstDash val="solid"/>
          </a:ln>
        </p:spPr>
      </p:sp>
      <p:sp>
        <p:nvSpPr>
          <p:cNvPr id="10" name="Shape 7"/>
          <p:cNvSpPr/>
          <p:nvPr/>
        </p:nvSpPr>
        <p:spPr>
          <a:xfrm>
            <a:off x="6492240" y="1911096"/>
            <a:ext cx="164592" cy="164592"/>
          </a:xfrm>
          <a:prstGeom prst="ellipse">
            <a:avLst/>
          </a:prstGeom>
          <a:solidFill>
            <a:srgbClr val="FF9F1C"/>
          </a:solidFill>
          <a:ln/>
        </p:spPr>
      </p:sp>
      <p:sp>
        <p:nvSpPr>
          <p:cNvPr id="11" name="Text 8"/>
          <p:cNvSpPr/>
          <p:nvPr/>
        </p:nvSpPr>
        <p:spPr>
          <a:xfrm>
            <a:off x="6784848" y="1801368"/>
            <a:ext cx="4572000" cy="365760"/>
          </a:xfrm>
          <a:prstGeom prst="rect">
            <a:avLst/>
          </a:prstGeom>
          <a:noFill/>
          <a:ln/>
        </p:spPr>
        <p:txBody>
          <a:bodyPr wrap="square" lIns="0" tIns="0" rIns="0" bIns="0" rtlCol="0" anchor="ctr"/>
          <a:lstStyle/>
          <a:p>
            <a:pPr indent="0" marL="0">
              <a:buNone/>
            </a:pPr>
            <a:r>
              <a:rPr lang="en-US" sz="1700" b="1" dirty="0">
                <a:solidFill>
                  <a:srgbClr val="FF9F1C"/>
                </a:solidFill>
                <a:latin typeface="Calibri" pitchFamily="34" charset="0"/>
                <a:ea typeface="Calibri" pitchFamily="34" charset="-122"/>
                <a:cs typeface="Calibri" pitchFamily="34" charset="-120"/>
              </a:rPr>
              <a:t>CCAT_NON_MATCHING</a:t>
            </a:r>
            <a:endParaRPr lang="en-US" sz="1700" dirty="0"/>
          </a:p>
        </p:txBody>
      </p:sp>
      <p:sp>
        <p:nvSpPr>
          <p:cNvPr id="12" name="Text 9"/>
          <p:cNvSpPr/>
          <p:nvPr/>
        </p:nvSpPr>
        <p:spPr>
          <a:xfrm>
            <a:off x="6492240" y="2286000"/>
            <a:ext cx="4846320" cy="1325880"/>
          </a:xfrm>
          <a:prstGeom prst="rect">
            <a:avLst/>
          </a:prstGeom>
          <a:noFill/>
          <a:ln/>
        </p:spPr>
        <p:txBody>
          <a:bodyPr wrap="square" lIns="0" tIns="0" rIns="0" bIns="0" rtlCol="0" anchor="ctr"/>
          <a:lstStyle/>
          <a:p>
            <a:pPr indent="0" marL="0">
              <a:lnSpc>
                <a:spcPts val="1800"/>
              </a:lnSpc>
              <a:buNone/>
            </a:pPr>
            <a:r>
              <a:rPr lang="en-US" sz="1350" dirty="0">
                <a:solidFill>
                  <a:srgbClr val="E8EEF5"/>
                </a:solidFill>
                <a:latin typeface="Calibri" pitchFamily="34" charset="0"/>
                <a:ea typeface="Calibri" pitchFamily="34" charset="-122"/>
                <a:cs typeface="Calibri" pitchFamily="34" charset="-120"/>
              </a:rPr>
              <a:t>Field-level differences on machines we hold — one row per differing field, judged against our best-matching CCAT record.</a:t>
            </a:r>
            <a:endParaRPr lang="en-US" sz="1350" dirty="0"/>
          </a:p>
        </p:txBody>
      </p:sp>
      <p:sp>
        <p:nvSpPr>
          <p:cNvPr id="13" name="Shape 10"/>
          <p:cNvSpPr/>
          <p:nvPr/>
        </p:nvSpPr>
        <p:spPr>
          <a:xfrm>
            <a:off x="548640" y="3931920"/>
            <a:ext cx="5394960" cy="2103120"/>
          </a:xfrm>
          <a:prstGeom prst="roundRect">
            <a:avLst>
              <a:gd name="adj" fmla="val 3478"/>
            </a:avLst>
          </a:prstGeom>
          <a:solidFill>
            <a:srgbClr val="16283F"/>
          </a:solidFill>
          <a:ln w="12700">
            <a:solidFill>
              <a:srgbClr val="223650"/>
            </a:solidFill>
            <a:prstDash val="solid"/>
          </a:ln>
        </p:spPr>
      </p:sp>
      <p:sp>
        <p:nvSpPr>
          <p:cNvPr id="14" name="Shape 11"/>
          <p:cNvSpPr/>
          <p:nvPr/>
        </p:nvSpPr>
        <p:spPr>
          <a:xfrm>
            <a:off x="822960" y="4242816"/>
            <a:ext cx="164592" cy="164592"/>
          </a:xfrm>
          <a:prstGeom prst="ellipse">
            <a:avLst/>
          </a:prstGeom>
          <a:solidFill>
            <a:srgbClr val="FF5A5F"/>
          </a:solidFill>
          <a:ln/>
        </p:spPr>
      </p:sp>
      <p:sp>
        <p:nvSpPr>
          <p:cNvPr id="15" name="Text 12"/>
          <p:cNvSpPr/>
          <p:nvPr/>
        </p:nvSpPr>
        <p:spPr>
          <a:xfrm>
            <a:off x="1115568" y="4133088"/>
            <a:ext cx="4572000" cy="365760"/>
          </a:xfrm>
          <a:prstGeom prst="rect">
            <a:avLst/>
          </a:prstGeom>
          <a:noFill/>
          <a:ln/>
        </p:spPr>
        <p:txBody>
          <a:bodyPr wrap="square" lIns="0" tIns="0" rIns="0" bIns="0" rtlCol="0" anchor="ctr"/>
          <a:lstStyle/>
          <a:p>
            <a:pPr indent="0" marL="0">
              <a:buNone/>
            </a:pPr>
            <a:r>
              <a:rPr lang="en-US" sz="1700" b="1" dirty="0">
                <a:solidFill>
                  <a:srgbClr val="FF5A5F"/>
                </a:solidFill>
                <a:latin typeface="Calibri" pitchFamily="34" charset="0"/>
                <a:ea typeface="Calibri" pitchFamily="34" charset="-122"/>
                <a:cs typeface="Calibri" pitchFamily="34" charset="-120"/>
              </a:rPr>
              <a:t>CCAT_ERRORS</a:t>
            </a:r>
            <a:endParaRPr lang="en-US" sz="1700" dirty="0"/>
          </a:p>
        </p:txBody>
      </p:sp>
      <p:sp>
        <p:nvSpPr>
          <p:cNvPr id="16" name="Text 13"/>
          <p:cNvSpPr/>
          <p:nvPr/>
        </p:nvSpPr>
        <p:spPr>
          <a:xfrm>
            <a:off x="822960" y="4617720"/>
            <a:ext cx="4846320" cy="1325880"/>
          </a:xfrm>
          <a:prstGeom prst="rect">
            <a:avLst/>
          </a:prstGeom>
          <a:noFill/>
          <a:ln/>
        </p:spPr>
        <p:txBody>
          <a:bodyPr wrap="square" lIns="0" tIns="0" rIns="0" bIns="0" rtlCol="0" anchor="ctr"/>
          <a:lstStyle/>
          <a:p>
            <a:pPr indent="0" marL="0">
              <a:lnSpc>
                <a:spcPts val="1800"/>
              </a:lnSpc>
              <a:buNone/>
            </a:pPr>
            <a:r>
              <a:rPr lang="en-US" sz="1350" dirty="0">
                <a:solidFill>
                  <a:srgbClr val="E8EEF5"/>
                </a:solidFill>
                <a:latin typeface="Calibri" pitchFamily="34" charset="0"/>
                <a:ea typeface="Calibri" pitchFamily="34" charset="-122"/>
                <a:cs typeface="Calibri" pitchFamily="34" charset="-120"/>
              </a:rPr>
              <a:t>Failed checks. A failure is never recorded as a discrepancy — it lands here with Caterpillar's tracking ID for support.</a:t>
            </a:r>
            <a:endParaRPr lang="en-US" sz="1350" dirty="0"/>
          </a:p>
        </p:txBody>
      </p:sp>
      <p:sp>
        <p:nvSpPr>
          <p:cNvPr id="17" name="Shape 14"/>
          <p:cNvSpPr/>
          <p:nvPr/>
        </p:nvSpPr>
        <p:spPr>
          <a:xfrm>
            <a:off x="6217920" y="3931920"/>
            <a:ext cx="5394960" cy="2103120"/>
          </a:xfrm>
          <a:prstGeom prst="roundRect">
            <a:avLst>
              <a:gd name="adj" fmla="val 3478"/>
            </a:avLst>
          </a:prstGeom>
          <a:solidFill>
            <a:srgbClr val="16283F"/>
          </a:solidFill>
          <a:ln w="12700">
            <a:solidFill>
              <a:srgbClr val="223650"/>
            </a:solidFill>
            <a:prstDash val="solid"/>
          </a:ln>
        </p:spPr>
      </p:sp>
      <p:sp>
        <p:nvSpPr>
          <p:cNvPr id="18" name="Shape 15"/>
          <p:cNvSpPr/>
          <p:nvPr/>
        </p:nvSpPr>
        <p:spPr>
          <a:xfrm>
            <a:off x="6492240" y="4242816"/>
            <a:ext cx="164592" cy="164592"/>
          </a:xfrm>
          <a:prstGeom prst="ellipse">
            <a:avLst/>
          </a:prstGeom>
          <a:solidFill>
            <a:srgbClr val="2EC4B6"/>
          </a:solidFill>
          <a:ln/>
        </p:spPr>
      </p:sp>
      <p:sp>
        <p:nvSpPr>
          <p:cNvPr id="19" name="Text 16"/>
          <p:cNvSpPr/>
          <p:nvPr/>
        </p:nvSpPr>
        <p:spPr>
          <a:xfrm>
            <a:off x="6784848" y="4133088"/>
            <a:ext cx="4572000" cy="365760"/>
          </a:xfrm>
          <a:prstGeom prst="rect">
            <a:avLst/>
          </a:prstGeom>
          <a:noFill/>
          <a:ln/>
        </p:spPr>
        <p:txBody>
          <a:bodyPr wrap="square" lIns="0" tIns="0" rIns="0" bIns="0" rtlCol="0" anchor="ctr"/>
          <a:lstStyle/>
          <a:p>
            <a:pPr indent="0" marL="0">
              <a:buNone/>
            </a:pPr>
            <a:r>
              <a:rPr lang="en-US" sz="1700" b="1" dirty="0">
                <a:solidFill>
                  <a:srgbClr val="2EC4B6"/>
                </a:solidFill>
                <a:latin typeface="Calibri" pitchFamily="34" charset="0"/>
                <a:ea typeface="Calibri" pitchFamily="34" charset="-122"/>
                <a:cs typeface="Calibri" pitchFamily="34" charset="-120"/>
              </a:rPr>
              <a:t>CCAT_CHECK_STATE</a:t>
            </a:r>
            <a:endParaRPr lang="en-US" sz="1700" dirty="0"/>
          </a:p>
        </p:txBody>
      </p:sp>
      <p:sp>
        <p:nvSpPr>
          <p:cNvPr id="20" name="Text 17"/>
          <p:cNvSpPr/>
          <p:nvPr/>
        </p:nvSpPr>
        <p:spPr>
          <a:xfrm>
            <a:off x="6492240" y="4617720"/>
            <a:ext cx="4846320" cy="1325880"/>
          </a:xfrm>
          <a:prstGeom prst="rect">
            <a:avLst/>
          </a:prstGeom>
          <a:noFill/>
          <a:ln/>
        </p:spPr>
        <p:txBody>
          <a:bodyPr wrap="square" lIns="0" tIns="0" rIns="0" bIns="0" rtlCol="0" anchor="ctr"/>
          <a:lstStyle/>
          <a:p>
            <a:pPr indent="0" marL="0">
              <a:lnSpc>
                <a:spcPts val="1800"/>
              </a:lnSpc>
              <a:buNone/>
            </a:pPr>
            <a:r>
              <a:rPr lang="en-US" sz="1350" dirty="0">
                <a:solidFill>
                  <a:srgbClr val="E8EEF5"/>
                </a:solidFill>
                <a:latin typeface="Calibri" pitchFamily="34" charset="0"/>
                <a:ea typeface="Calibri" pitchFamily="34" charset="-122"/>
                <a:cs typeface="Calibri" pitchFamily="34" charset="-120"/>
              </a:rPr>
              <a:t>One row per machine ever checked: verdict, ownership type, customer, pending flags — the sweep's memory and the dashboard's engine.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300" kern="0" dirty="0">
                <a:solidFill>
                  <a:srgbClr val="FFC72C"/>
                </a:solidFill>
                <a:latin typeface="Calibri" pitchFamily="34" charset="0"/>
                <a:ea typeface="Calibri" pitchFamily="34" charset="-122"/>
                <a:cs typeface="Calibri" pitchFamily="34" charset="-120"/>
              </a:rPr>
              <a:t>CLASSIFY</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E8EEF5"/>
                </a:solidFill>
                <a:latin typeface="Calibri" pitchFamily="34" charset="0"/>
                <a:ea typeface="Calibri" pitchFamily="34" charset="-122"/>
                <a:cs typeface="Calibri" pitchFamily="34" charset="-120"/>
              </a:rPr>
              <a:t>Every machine gets a phase, an action, and a why</a:t>
            </a:r>
            <a:endParaRPr lang="en-US" sz="3200" dirty="0"/>
          </a:p>
        </p:txBody>
      </p:sp>
      <p:sp>
        <p:nvSpPr>
          <p:cNvPr id="5" name="Shape 2"/>
          <p:cNvSpPr/>
          <p:nvPr/>
        </p:nvSpPr>
        <p:spPr>
          <a:xfrm>
            <a:off x="548640" y="1572768"/>
            <a:ext cx="7315200" cy="640080"/>
          </a:xfrm>
          <a:prstGeom prst="roundRect">
            <a:avLst>
              <a:gd name="adj" fmla="val 11429"/>
            </a:avLst>
          </a:prstGeom>
          <a:solidFill>
            <a:srgbClr val="16283F"/>
          </a:solidFill>
          <a:ln w="12700">
            <a:solidFill>
              <a:srgbClr val="223650"/>
            </a:solidFill>
            <a:prstDash val="solid"/>
          </a:ln>
        </p:spPr>
      </p:sp>
      <p:sp>
        <p:nvSpPr>
          <p:cNvPr id="6" name="Shape 3"/>
          <p:cNvSpPr/>
          <p:nvPr/>
        </p:nvSpPr>
        <p:spPr>
          <a:xfrm>
            <a:off x="804672" y="1810512"/>
            <a:ext cx="164592" cy="164592"/>
          </a:xfrm>
          <a:prstGeom prst="ellipse">
            <a:avLst/>
          </a:prstGeom>
          <a:solidFill>
            <a:srgbClr val="34C759"/>
          </a:solidFill>
          <a:ln/>
        </p:spPr>
      </p:sp>
      <p:sp>
        <p:nvSpPr>
          <p:cNvPr id="7" name="Text 4"/>
          <p:cNvSpPr/>
          <p:nvPr/>
        </p:nvSpPr>
        <p:spPr>
          <a:xfrm>
            <a:off x="1097280" y="1664208"/>
            <a:ext cx="2377440" cy="457200"/>
          </a:xfrm>
          <a:prstGeom prst="rect">
            <a:avLst/>
          </a:prstGeom>
          <a:noFill/>
          <a:ln/>
        </p:spPr>
        <p:txBody>
          <a:bodyPr wrap="square" lIns="0" tIns="0" rIns="0" bIns="0" rtlCol="0" anchor="ctr"/>
          <a:lstStyle/>
          <a:p>
            <a:pPr indent="0" marL="0">
              <a:buNone/>
            </a:pPr>
            <a:r>
              <a:rPr lang="en-US" sz="1450" b="1" dirty="0">
                <a:solidFill>
                  <a:srgbClr val="34C759"/>
                </a:solidFill>
                <a:latin typeface="Calibri" pitchFamily="34" charset="0"/>
                <a:ea typeface="Calibri" pitchFamily="34" charset="-122"/>
                <a:cs typeface="Calibri" pitchFamily="34" charset="-120"/>
              </a:rPr>
              <a:t>Done</a:t>
            </a:r>
            <a:endParaRPr lang="en-US" sz="1450" dirty="0"/>
          </a:p>
        </p:txBody>
      </p:sp>
      <p:sp>
        <p:nvSpPr>
          <p:cNvPr id="8" name="Text 5"/>
          <p:cNvSpPr/>
          <p:nvPr/>
        </p:nvSpPr>
        <p:spPr>
          <a:xfrm>
            <a:off x="3520440" y="1664208"/>
            <a:ext cx="4206240" cy="457200"/>
          </a:xfrm>
          <a:prstGeom prst="rect">
            <a:avLst/>
          </a:prstGeom>
          <a:noFill/>
          <a:ln/>
        </p:spPr>
        <p:txBody>
          <a:bodyPr wrap="square" lIns="0" tIns="0" rIns="0" bIns="0" rtlCol="0" anchor="ctr"/>
          <a:lstStyle/>
          <a:p>
            <a:pPr indent="0" marL="0">
              <a:buNone/>
            </a:pPr>
            <a:r>
              <a:rPr lang="en-US" sz="1250" dirty="0">
                <a:solidFill>
                  <a:srgbClr val="E8EEF5"/>
                </a:solidFill>
                <a:latin typeface="Calibri" pitchFamily="34" charset="0"/>
                <a:ea typeface="Calibri" pitchFamily="34" charset="-122"/>
                <a:cs typeface="Calibri" pitchFamily="34" charset="-120"/>
              </a:rPr>
              <a:t>Record is right. Nothing to do.</a:t>
            </a:r>
            <a:endParaRPr lang="en-US" sz="1250" dirty="0"/>
          </a:p>
        </p:txBody>
      </p:sp>
      <p:sp>
        <p:nvSpPr>
          <p:cNvPr id="9" name="Shape 6"/>
          <p:cNvSpPr/>
          <p:nvPr/>
        </p:nvSpPr>
        <p:spPr>
          <a:xfrm>
            <a:off x="548640" y="2322576"/>
            <a:ext cx="7315200" cy="640080"/>
          </a:xfrm>
          <a:prstGeom prst="roundRect">
            <a:avLst>
              <a:gd name="adj" fmla="val 11429"/>
            </a:avLst>
          </a:prstGeom>
          <a:solidFill>
            <a:srgbClr val="16283F"/>
          </a:solidFill>
          <a:ln w="12700">
            <a:solidFill>
              <a:srgbClr val="223650"/>
            </a:solidFill>
            <a:prstDash val="solid"/>
          </a:ln>
        </p:spPr>
      </p:sp>
      <p:sp>
        <p:nvSpPr>
          <p:cNvPr id="10" name="Shape 7"/>
          <p:cNvSpPr/>
          <p:nvPr/>
        </p:nvSpPr>
        <p:spPr>
          <a:xfrm>
            <a:off x="804672" y="2560320"/>
            <a:ext cx="164592" cy="164592"/>
          </a:xfrm>
          <a:prstGeom prst="ellipse">
            <a:avLst/>
          </a:prstGeom>
          <a:solidFill>
            <a:srgbClr val="4DA3FF"/>
          </a:solidFill>
          <a:ln/>
        </p:spPr>
      </p:sp>
      <p:sp>
        <p:nvSpPr>
          <p:cNvPr id="11" name="Text 8"/>
          <p:cNvSpPr/>
          <p:nvPr/>
        </p:nvSpPr>
        <p:spPr>
          <a:xfrm>
            <a:off x="1097280" y="2414016"/>
            <a:ext cx="2377440" cy="457200"/>
          </a:xfrm>
          <a:prstGeom prst="rect">
            <a:avLst/>
          </a:prstGeom>
          <a:noFill/>
          <a:ln/>
        </p:spPr>
        <p:txBody>
          <a:bodyPr wrap="square" lIns="0" tIns="0" rIns="0" bIns="0" rtlCol="0" anchor="ctr"/>
          <a:lstStyle/>
          <a:p>
            <a:pPr indent="0" marL="0">
              <a:buNone/>
            </a:pPr>
            <a:r>
              <a:rPr lang="en-US" sz="1450" b="1" dirty="0">
                <a:solidFill>
                  <a:srgbClr val="4DA3FF"/>
                </a:solidFill>
                <a:latin typeface="Calibri" pitchFamily="34" charset="0"/>
                <a:ea typeface="Calibri" pitchFamily="34" charset="-122"/>
                <a:cs typeface="Calibri" pitchFamily="34" charset="-120"/>
              </a:rPr>
              <a:t>Phase 1 — Add</a:t>
            </a:r>
            <a:endParaRPr lang="en-US" sz="1450" dirty="0"/>
          </a:p>
        </p:txBody>
      </p:sp>
      <p:sp>
        <p:nvSpPr>
          <p:cNvPr id="12" name="Text 9"/>
          <p:cNvSpPr/>
          <p:nvPr/>
        </p:nvSpPr>
        <p:spPr>
          <a:xfrm>
            <a:off x="3520440" y="2414016"/>
            <a:ext cx="4206240" cy="457200"/>
          </a:xfrm>
          <a:prstGeom prst="rect">
            <a:avLst/>
          </a:prstGeom>
          <a:noFill/>
          <a:ln/>
        </p:spPr>
        <p:txBody>
          <a:bodyPr wrap="square" lIns="0" tIns="0" rIns="0" bIns="0" rtlCol="0" anchor="ctr"/>
          <a:lstStyle/>
          <a:p>
            <a:pPr indent="0" marL="0">
              <a:buNone/>
            </a:pPr>
            <a:r>
              <a:rPr lang="en-US" sz="1250" dirty="0">
                <a:solidFill>
                  <a:srgbClr val="E8EEF5"/>
                </a:solidFill>
                <a:latin typeface="Calibri" pitchFamily="34" charset="0"/>
                <a:ea typeface="Calibri" pitchFamily="34" charset="-122"/>
                <a:cs typeface="Calibri" pitchFamily="34" charset="-120"/>
              </a:rPr>
              <a:t>Not in CCAT anywhere. Adding affects nobody. Batchable.</a:t>
            </a:r>
            <a:endParaRPr lang="en-US" sz="1250" dirty="0"/>
          </a:p>
        </p:txBody>
      </p:sp>
      <p:sp>
        <p:nvSpPr>
          <p:cNvPr id="13" name="Shape 10"/>
          <p:cNvSpPr/>
          <p:nvPr/>
        </p:nvSpPr>
        <p:spPr>
          <a:xfrm>
            <a:off x="548640" y="3072384"/>
            <a:ext cx="7315200" cy="640080"/>
          </a:xfrm>
          <a:prstGeom prst="roundRect">
            <a:avLst>
              <a:gd name="adj" fmla="val 11429"/>
            </a:avLst>
          </a:prstGeom>
          <a:solidFill>
            <a:srgbClr val="16283F"/>
          </a:solidFill>
          <a:ln w="12700">
            <a:solidFill>
              <a:srgbClr val="223650"/>
            </a:solidFill>
            <a:prstDash val="solid"/>
          </a:ln>
        </p:spPr>
      </p:sp>
      <p:sp>
        <p:nvSpPr>
          <p:cNvPr id="14" name="Shape 11"/>
          <p:cNvSpPr/>
          <p:nvPr/>
        </p:nvSpPr>
        <p:spPr>
          <a:xfrm>
            <a:off x="804672" y="3310128"/>
            <a:ext cx="164592" cy="164592"/>
          </a:xfrm>
          <a:prstGeom prst="ellipse">
            <a:avLst/>
          </a:prstGeom>
          <a:solidFill>
            <a:srgbClr val="2EC4B6"/>
          </a:solidFill>
          <a:ln/>
        </p:spPr>
      </p:sp>
      <p:sp>
        <p:nvSpPr>
          <p:cNvPr id="15" name="Text 12"/>
          <p:cNvSpPr/>
          <p:nvPr/>
        </p:nvSpPr>
        <p:spPr>
          <a:xfrm>
            <a:off x="1097280" y="3163824"/>
            <a:ext cx="2377440" cy="457200"/>
          </a:xfrm>
          <a:prstGeom prst="rect">
            <a:avLst/>
          </a:prstGeom>
          <a:noFill/>
          <a:ln/>
        </p:spPr>
        <p:txBody>
          <a:bodyPr wrap="square" lIns="0" tIns="0" rIns="0" bIns="0" rtlCol="0" anchor="ctr"/>
          <a:lstStyle/>
          <a:p>
            <a:pPr indent="0" marL="0">
              <a:buNone/>
            </a:pPr>
            <a:r>
              <a:rPr lang="en-US" sz="1450" b="1" dirty="0">
                <a:solidFill>
                  <a:srgbClr val="2EC4B6"/>
                </a:solidFill>
                <a:latin typeface="Calibri" pitchFamily="34" charset="0"/>
                <a:ea typeface="Calibri" pitchFamily="34" charset="-122"/>
                <a:cs typeface="Calibri" pitchFamily="34" charset="-120"/>
              </a:rPr>
              <a:t>Phase 2 — Quiet fix</a:t>
            </a:r>
            <a:endParaRPr lang="en-US" sz="1450" dirty="0"/>
          </a:p>
        </p:txBody>
      </p:sp>
      <p:sp>
        <p:nvSpPr>
          <p:cNvPr id="16" name="Text 13"/>
          <p:cNvSpPr/>
          <p:nvPr/>
        </p:nvSpPr>
        <p:spPr>
          <a:xfrm>
            <a:off x="3520440" y="3163824"/>
            <a:ext cx="4206240" cy="457200"/>
          </a:xfrm>
          <a:prstGeom prst="rect">
            <a:avLst/>
          </a:prstGeom>
          <a:noFill/>
          <a:ln/>
        </p:spPr>
        <p:txBody>
          <a:bodyPr wrap="square" lIns="0" tIns="0" rIns="0" bIns="0" rtlCol="0" anchor="ctr"/>
          <a:lstStyle/>
          <a:p>
            <a:pPr indent="0" marL="0">
              <a:buNone/>
            </a:pPr>
            <a:r>
              <a:rPr lang="en-US" sz="1250" dirty="0">
                <a:solidFill>
                  <a:srgbClr val="E8EEF5"/>
                </a:solidFill>
                <a:latin typeface="Calibri" pitchFamily="34" charset="0"/>
                <a:ea typeface="Calibri" pitchFamily="34" charset="-122"/>
                <a:cs typeface="Calibri" pitchFamily="34" charset="-120"/>
              </a:rPr>
              <a:t>Other records exist but none are exclusive. Completes without notifying anyone.</a:t>
            </a:r>
            <a:endParaRPr lang="en-US" sz="1250" dirty="0"/>
          </a:p>
        </p:txBody>
      </p:sp>
      <p:sp>
        <p:nvSpPr>
          <p:cNvPr id="17" name="Shape 14"/>
          <p:cNvSpPr/>
          <p:nvPr/>
        </p:nvSpPr>
        <p:spPr>
          <a:xfrm>
            <a:off x="548640" y="3822192"/>
            <a:ext cx="7315200" cy="640080"/>
          </a:xfrm>
          <a:prstGeom prst="roundRect">
            <a:avLst>
              <a:gd name="adj" fmla="val 11429"/>
            </a:avLst>
          </a:prstGeom>
          <a:solidFill>
            <a:srgbClr val="16283F"/>
          </a:solidFill>
          <a:ln w="12700">
            <a:solidFill>
              <a:srgbClr val="223650"/>
            </a:solidFill>
            <a:prstDash val="solid"/>
          </a:ln>
        </p:spPr>
      </p:sp>
      <p:sp>
        <p:nvSpPr>
          <p:cNvPr id="18" name="Shape 15"/>
          <p:cNvSpPr/>
          <p:nvPr/>
        </p:nvSpPr>
        <p:spPr>
          <a:xfrm>
            <a:off x="804672" y="4059936"/>
            <a:ext cx="164592" cy="164592"/>
          </a:xfrm>
          <a:prstGeom prst="ellipse">
            <a:avLst/>
          </a:prstGeom>
          <a:solidFill>
            <a:srgbClr val="FF9F1C"/>
          </a:solidFill>
          <a:ln/>
        </p:spPr>
      </p:sp>
      <p:sp>
        <p:nvSpPr>
          <p:cNvPr id="19" name="Text 16"/>
          <p:cNvSpPr/>
          <p:nvPr/>
        </p:nvSpPr>
        <p:spPr>
          <a:xfrm>
            <a:off x="1097280" y="3913632"/>
            <a:ext cx="2377440" cy="457200"/>
          </a:xfrm>
          <a:prstGeom prst="rect">
            <a:avLst/>
          </a:prstGeom>
          <a:noFill/>
          <a:ln/>
        </p:spPr>
        <p:txBody>
          <a:bodyPr wrap="square" lIns="0" tIns="0" rIns="0" bIns="0" rtlCol="0" anchor="ctr"/>
          <a:lstStyle/>
          <a:p>
            <a:pPr indent="0" marL="0">
              <a:buNone/>
            </a:pPr>
            <a:r>
              <a:rPr lang="en-US" sz="1450" b="1" dirty="0">
                <a:solidFill>
                  <a:srgbClr val="FF9F1C"/>
                </a:solidFill>
                <a:latin typeface="Calibri" pitchFamily="34" charset="0"/>
                <a:ea typeface="Calibri" pitchFamily="34" charset="-122"/>
                <a:cs typeface="Calibri" pitchFamily="34" charset="-120"/>
              </a:rPr>
              <a:t>Phase 3 — Fix ours</a:t>
            </a:r>
            <a:endParaRPr lang="en-US" sz="1450" dirty="0"/>
          </a:p>
        </p:txBody>
      </p:sp>
      <p:sp>
        <p:nvSpPr>
          <p:cNvPr id="20" name="Text 17"/>
          <p:cNvSpPr/>
          <p:nvPr/>
        </p:nvSpPr>
        <p:spPr>
          <a:xfrm>
            <a:off x="3520440" y="3913632"/>
            <a:ext cx="4206240" cy="457200"/>
          </a:xfrm>
          <a:prstGeom prst="rect">
            <a:avLst/>
          </a:prstGeom>
          <a:noFill/>
          <a:ln/>
        </p:spPr>
        <p:txBody>
          <a:bodyPr wrap="square" lIns="0" tIns="0" rIns="0" bIns="0" rtlCol="0" anchor="ctr"/>
          <a:lstStyle/>
          <a:p>
            <a:pPr indent="0" marL="0">
              <a:buNone/>
            </a:pPr>
            <a:r>
              <a:rPr lang="en-US" sz="1250" dirty="0">
                <a:solidFill>
                  <a:srgbClr val="E8EEF5"/>
                </a:solidFill>
                <a:latin typeface="Calibri" pitchFamily="34" charset="0"/>
                <a:ea typeface="Calibri" pitchFamily="34" charset="-122"/>
                <a:cs typeface="Calibri" pitchFamily="34" charset="-120"/>
              </a:rPr>
              <a:t>We own the record: backfill missing values, or move it to the correct customer.</a:t>
            </a:r>
            <a:endParaRPr lang="en-US" sz="1250" dirty="0"/>
          </a:p>
        </p:txBody>
      </p:sp>
      <p:sp>
        <p:nvSpPr>
          <p:cNvPr id="21" name="Shape 18"/>
          <p:cNvSpPr/>
          <p:nvPr/>
        </p:nvSpPr>
        <p:spPr>
          <a:xfrm>
            <a:off x="548640" y="4572000"/>
            <a:ext cx="7315200" cy="640080"/>
          </a:xfrm>
          <a:prstGeom prst="roundRect">
            <a:avLst>
              <a:gd name="adj" fmla="val 11429"/>
            </a:avLst>
          </a:prstGeom>
          <a:solidFill>
            <a:srgbClr val="16283F"/>
          </a:solidFill>
          <a:ln w="12700">
            <a:solidFill>
              <a:srgbClr val="223650"/>
            </a:solidFill>
            <a:prstDash val="solid"/>
          </a:ln>
        </p:spPr>
      </p:sp>
      <p:sp>
        <p:nvSpPr>
          <p:cNvPr id="22" name="Shape 19"/>
          <p:cNvSpPr/>
          <p:nvPr/>
        </p:nvSpPr>
        <p:spPr>
          <a:xfrm>
            <a:off x="804672" y="4809744"/>
            <a:ext cx="164592" cy="164592"/>
          </a:xfrm>
          <a:prstGeom prst="ellipse">
            <a:avLst/>
          </a:prstGeom>
          <a:solidFill>
            <a:srgbClr val="FF5A5F"/>
          </a:solidFill>
          <a:ln/>
        </p:spPr>
      </p:sp>
      <p:sp>
        <p:nvSpPr>
          <p:cNvPr id="23" name="Text 20"/>
          <p:cNvSpPr/>
          <p:nvPr/>
        </p:nvSpPr>
        <p:spPr>
          <a:xfrm>
            <a:off x="1097280" y="4663440"/>
            <a:ext cx="2377440" cy="457200"/>
          </a:xfrm>
          <a:prstGeom prst="rect">
            <a:avLst/>
          </a:prstGeom>
          <a:noFill/>
          <a:ln/>
        </p:spPr>
        <p:txBody>
          <a:bodyPr wrap="square" lIns="0" tIns="0" rIns="0" bIns="0" rtlCol="0" anchor="ctr"/>
          <a:lstStyle/>
          <a:p>
            <a:pPr indent="0" marL="0">
              <a:buNone/>
            </a:pPr>
            <a:r>
              <a:rPr lang="en-US" sz="1450" b="1" dirty="0">
                <a:solidFill>
                  <a:srgbClr val="FF5A5F"/>
                </a:solidFill>
                <a:latin typeface="Calibri" pitchFamily="34" charset="0"/>
                <a:ea typeface="Calibri" pitchFamily="34" charset="-122"/>
                <a:cs typeface="Calibri" pitchFamily="34" charset="-120"/>
              </a:rPr>
              <a:t>Phase 4 — Review</a:t>
            </a:r>
            <a:endParaRPr lang="en-US" sz="1450" dirty="0"/>
          </a:p>
        </p:txBody>
      </p:sp>
      <p:sp>
        <p:nvSpPr>
          <p:cNvPr id="24" name="Text 21"/>
          <p:cNvSpPr/>
          <p:nvPr/>
        </p:nvSpPr>
        <p:spPr>
          <a:xfrm>
            <a:off x="3520440" y="4663440"/>
            <a:ext cx="4206240" cy="457200"/>
          </a:xfrm>
          <a:prstGeom prst="rect">
            <a:avLst/>
          </a:prstGeom>
          <a:noFill/>
          <a:ln/>
        </p:spPr>
        <p:txBody>
          <a:bodyPr wrap="square" lIns="0" tIns="0" rIns="0" bIns="0" rtlCol="0" anchor="ctr"/>
          <a:lstStyle/>
          <a:p>
            <a:pPr indent="0" marL="0">
              <a:buNone/>
            </a:pPr>
            <a:r>
              <a:rPr lang="en-US" sz="1250" dirty="0">
                <a:solidFill>
                  <a:srgbClr val="E8EEF5"/>
                </a:solidFill>
                <a:latin typeface="Calibri" pitchFamily="34" charset="0"/>
                <a:ea typeface="Calibri" pitchFamily="34" charset="-122"/>
                <a:cs typeface="Calibri" pitchFamily="34" charset="-120"/>
              </a:rPr>
              <a:t>Transfers and shared ownership. A person decides, about ten per shift.</a:t>
            </a:r>
            <a:endParaRPr lang="en-US" sz="1250" dirty="0"/>
          </a:p>
        </p:txBody>
      </p:sp>
      <p:sp>
        <p:nvSpPr>
          <p:cNvPr id="25" name="Shape 22"/>
          <p:cNvSpPr/>
          <p:nvPr/>
        </p:nvSpPr>
        <p:spPr>
          <a:xfrm>
            <a:off x="548640" y="5321808"/>
            <a:ext cx="7315200" cy="640080"/>
          </a:xfrm>
          <a:prstGeom prst="roundRect">
            <a:avLst>
              <a:gd name="adj" fmla="val 11429"/>
            </a:avLst>
          </a:prstGeom>
          <a:solidFill>
            <a:srgbClr val="16283F"/>
          </a:solidFill>
          <a:ln w="12700">
            <a:solidFill>
              <a:srgbClr val="223650"/>
            </a:solidFill>
            <a:prstDash val="solid"/>
          </a:ln>
        </p:spPr>
      </p:sp>
      <p:sp>
        <p:nvSpPr>
          <p:cNvPr id="26" name="Shape 23"/>
          <p:cNvSpPr/>
          <p:nvPr/>
        </p:nvSpPr>
        <p:spPr>
          <a:xfrm>
            <a:off x="804672" y="5559552"/>
            <a:ext cx="164592" cy="164592"/>
          </a:xfrm>
          <a:prstGeom prst="ellipse">
            <a:avLst/>
          </a:prstGeom>
          <a:solidFill>
            <a:srgbClr val="8496AB"/>
          </a:solidFill>
          <a:ln/>
        </p:spPr>
      </p:sp>
      <p:sp>
        <p:nvSpPr>
          <p:cNvPr id="27" name="Text 24"/>
          <p:cNvSpPr/>
          <p:nvPr/>
        </p:nvSpPr>
        <p:spPr>
          <a:xfrm>
            <a:off x="1097280" y="5413248"/>
            <a:ext cx="2377440" cy="457200"/>
          </a:xfrm>
          <a:prstGeom prst="rect">
            <a:avLst/>
          </a:prstGeom>
          <a:noFill/>
          <a:ln/>
        </p:spPr>
        <p:txBody>
          <a:bodyPr wrap="square" lIns="0" tIns="0" rIns="0" bIns="0" rtlCol="0" anchor="ctr"/>
          <a:lstStyle/>
          <a:p>
            <a:pPr indent="0" marL="0">
              <a:buNone/>
            </a:pPr>
            <a:r>
              <a:rPr lang="en-US" sz="1450" b="1" dirty="0">
                <a:solidFill>
                  <a:srgbClr val="8496AB"/>
                </a:solidFill>
                <a:latin typeface="Calibri" pitchFamily="34" charset="0"/>
                <a:ea typeface="Calibri" pitchFamily="34" charset="-122"/>
                <a:cs typeface="Calibri" pitchFamily="34" charset="-120"/>
              </a:rPr>
              <a:t>Info only</a:t>
            </a:r>
            <a:endParaRPr lang="en-US" sz="1450" dirty="0"/>
          </a:p>
        </p:txBody>
      </p:sp>
      <p:sp>
        <p:nvSpPr>
          <p:cNvPr id="28" name="Text 25"/>
          <p:cNvSpPr/>
          <p:nvPr/>
        </p:nvSpPr>
        <p:spPr>
          <a:xfrm>
            <a:off x="3520440" y="5413248"/>
            <a:ext cx="4206240" cy="457200"/>
          </a:xfrm>
          <a:prstGeom prst="rect">
            <a:avLst/>
          </a:prstGeom>
          <a:noFill/>
          <a:ln/>
        </p:spPr>
        <p:txBody>
          <a:bodyPr wrap="square" lIns="0" tIns="0" rIns="0" bIns="0" rtlCol="0" anchor="ctr"/>
          <a:lstStyle/>
          <a:p>
            <a:pPr indent="0" marL="0">
              <a:buNone/>
            </a:pPr>
            <a:r>
              <a:rPr lang="en-US" sz="1250" dirty="0">
                <a:solidFill>
                  <a:srgbClr val="E8EEF5"/>
                </a:solidFill>
                <a:latin typeface="Calibri" pitchFamily="34" charset="0"/>
                <a:ea typeface="Calibri" pitchFamily="34" charset="-122"/>
                <a:cs typeface="Calibri" pitchFamily="34" charset="-120"/>
              </a:rPr>
              <a:t>Model differs but CCAT is the authority — reported, no action queued.</a:t>
            </a:r>
            <a:endParaRPr lang="en-US" sz="1250" dirty="0"/>
          </a:p>
        </p:txBody>
      </p:sp>
      <p:sp>
        <p:nvSpPr>
          <p:cNvPr id="29" name="Shape 26"/>
          <p:cNvSpPr/>
          <p:nvPr/>
        </p:nvSpPr>
        <p:spPr>
          <a:xfrm>
            <a:off x="8138160" y="1572768"/>
            <a:ext cx="3474720" cy="4407408"/>
          </a:xfrm>
          <a:prstGeom prst="roundRect">
            <a:avLst>
              <a:gd name="adj" fmla="val 2105"/>
            </a:avLst>
          </a:prstGeom>
          <a:solidFill>
            <a:srgbClr val="12314A"/>
          </a:solidFill>
          <a:ln w="12700">
            <a:solidFill>
              <a:srgbClr val="223650"/>
            </a:solidFill>
            <a:prstDash val="solid"/>
          </a:ln>
        </p:spPr>
      </p:sp>
      <p:sp>
        <p:nvSpPr>
          <p:cNvPr id="30" name="Text 27"/>
          <p:cNvSpPr/>
          <p:nvPr/>
        </p:nvSpPr>
        <p:spPr>
          <a:xfrm>
            <a:off x="8412480" y="1828800"/>
            <a:ext cx="2926080" cy="548640"/>
          </a:xfrm>
          <a:prstGeom prst="rect">
            <a:avLst/>
          </a:prstGeom>
          <a:noFill/>
          <a:ln/>
        </p:spPr>
        <p:txBody>
          <a:bodyPr wrap="square" lIns="0" tIns="0" rIns="0" bIns="0" rtlCol="0" anchor="ctr"/>
          <a:lstStyle/>
          <a:p>
            <a:pPr indent="0" marL="0">
              <a:buNone/>
            </a:pPr>
            <a:r>
              <a:rPr lang="en-US" sz="1700" b="1" dirty="0">
                <a:solidFill>
                  <a:srgbClr val="FFC72C"/>
                </a:solidFill>
                <a:latin typeface="Calibri" pitchFamily="34" charset="0"/>
                <a:ea typeface="Calibri" pitchFamily="34" charset="-122"/>
                <a:cs typeface="Calibri" pitchFamily="34" charset="-120"/>
              </a:rPr>
              <a:t>One query answers it all</a:t>
            </a:r>
            <a:endParaRPr lang="en-US" sz="1700" dirty="0"/>
          </a:p>
        </p:txBody>
      </p:sp>
      <p:sp>
        <p:nvSpPr>
          <p:cNvPr id="31" name="Text 28"/>
          <p:cNvSpPr/>
          <p:nvPr/>
        </p:nvSpPr>
        <p:spPr>
          <a:xfrm>
            <a:off x="8412480" y="2377440"/>
            <a:ext cx="2971800" cy="3291840"/>
          </a:xfrm>
          <a:prstGeom prst="rect">
            <a:avLst/>
          </a:prstGeom>
          <a:noFill/>
          <a:ln/>
        </p:spPr>
        <p:txBody>
          <a:bodyPr wrap="square" lIns="0" tIns="0" rIns="0" bIns="0" rtlCol="0" anchor="ctr"/>
          <a:lstStyle/>
          <a:p>
            <a:pPr indent="0" marL="0">
              <a:lnSpc>
                <a:spcPts val="1900"/>
              </a:lnSpc>
              <a:buNone/>
            </a:pPr>
            <a:r>
              <a:rPr lang="en-US" sz="1350" dirty="0">
                <a:solidFill>
                  <a:srgbClr val="E8EEF5"/>
                </a:solidFill>
                <a:latin typeface="Calibri" pitchFamily="34" charset="0"/>
                <a:ea typeface="Calibri" pitchFamily="34" charset="-122"/>
                <a:cs typeface="Calibri" pitchFamily="34" charset="-120"/>
              </a:rPr>
              <a:t>The phase dashboard shows, per machine:</a:t>
            </a:r>
            <a:endParaRPr lang="en-US" sz="1350" dirty="0"/>
          </a:p>
          <a:p>
            <a:pPr indent="0" marL="0">
              <a:lnSpc>
                <a:spcPts val="1900"/>
              </a:lnSpc>
              <a:buNone/>
            </a:pPr>
            <a:endParaRPr lang="en-US" sz="1350" dirty="0"/>
          </a:p>
          <a:p>
            <a:pPr indent="0" marL="0">
              <a:lnSpc>
                <a:spcPts val="1900"/>
              </a:lnSpc>
              <a:buNone/>
            </a:pPr>
            <a:r>
              <a:rPr lang="en-US" sz="1350" dirty="0">
                <a:solidFill>
                  <a:srgbClr val="E8EEF5"/>
                </a:solidFill>
                <a:latin typeface="Calibri" pitchFamily="34" charset="0"/>
                <a:ea typeface="Calibri" pitchFamily="34" charset="-122"/>
                <a:cs typeface="Calibri" pitchFamily="34" charset="-120"/>
              </a:rPr>
              <a:t>PHASE  ·  ACTION  ·  WHY</a:t>
            </a:r>
            <a:endParaRPr lang="en-US" sz="1350" dirty="0"/>
          </a:p>
          <a:p>
            <a:pPr indent="0" marL="0">
              <a:lnSpc>
                <a:spcPts val="1900"/>
              </a:lnSpc>
              <a:buNone/>
            </a:pPr>
            <a:endParaRPr lang="en-US" sz="1350" dirty="0"/>
          </a:p>
          <a:p>
            <a:pPr indent="0" marL="0">
              <a:lnSpc>
                <a:spcPts val="1900"/>
              </a:lnSpc>
              <a:buNone/>
            </a:pPr>
            <a:r>
              <a:rPr lang="en-US" sz="1350" dirty="0">
                <a:solidFill>
                  <a:srgbClr val="E8EEF5"/>
                </a:solidFill>
                <a:latin typeface="Calibri" pitchFamily="34" charset="0"/>
                <a:ea typeface="Calibri" pitchFamily="34" charset="-122"/>
                <a:cs typeface="Calibri" pitchFamily="34" charset="-120"/>
              </a:rPr>
              <a:t>plus both customer numbers, ownership type, and which other dealers are involved. The rollout plan, applied to live data.</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300" kern="0" dirty="0">
                <a:solidFill>
                  <a:srgbClr val="FFC72C"/>
                </a:solidFill>
                <a:latin typeface="Calibri" pitchFamily="34" charset="0"/>
                <a:ea typeface="Calibri" pitchFamily="34" charset="-122"/>
                <a:cs typeface="Calibri" pitchFamily="34" charset="-120"/>
              </a:rPr>
              <a:t>CLASSIFY</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E8EEF5"/>
                </a:solidFill>
                <a:latin typeface="Calibri" pitchFamily="34" charset="0"/>
                <a:ea typeface="Calibri" pitchFamily="34" charset="-122"/>
                <a:cs typeface="Calibri" pitchFamily="34" charset="-120"/>
              </a:rPr>
              <a:t>The decision key, animated</a:t>
            </a:r>
            <a:endParaRPr lang="en-US" sz="3200" dirty="0"/>
          </a:p>
        </p:txBody>
      </p:sp>
      <p:pic>
        <p:nvPicPr>
          <p:cNvPr id="3" name="Media 0">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00200"/>
            <a:ext cx="7680960" cy="4320540"/>
          </a:xfrm>
          <a:prstGeom prst="rect">
            <a:avLst/>
          </a:prstGeom>
        </p:spPr>
      </p:pic>
      <p:sp>
        <p:nvSpPr>
          <p:cNvPr id="6" name="Shape 2"/>
          <p:cNvSpPr/>
          <p:nvPr/>
        </p:nvSpPr>
        <p:spPr>
          <a:xfrm>
            <a:off x="8503920" y="1600200"/>
            <a:ext cx="3108960" cy="4320540"/>
          </a:xfrm>
          <a:prstGeom prst="roundRect">
            <a:avLst>
              <a:gd name="adj" fmla="val 2353"/>
            </a:avLst>
          </a:prstGeom>
          <a:solidFill>
            <a:srgbClr val="12314A"/>
          </a:solidFill>
          <a:ln w="12700">
            <a:solidFill>
              <a:srgbClr val="223650"/>
            </a:solidFill>
            <a:prstDash val="solid"/>
          </a:ln>
        </p:spPr>
      </p:sp>
      <p:sp>
        <p:nvSpPr>
          <p:cNvPr id="7" name="Text 3"/>
          <p:cNvSpPr/>
          <p:nvPr/>
        </p:nvSpPr>
        <p:spPr>
          <a:xfrm>
            <a:off x="8778240" y="1874520"/>
            <a:ext cx="2606040" cy="548640"/>
          </a:xfrm>
          <a:prstGeom prst="rect">
            <a:avLst/>
          </a:prstGeom>
          <a:noFill/>
          <a:ln/>
        </p:spPr>
        <p:txBody>
          <a:bodyPr wrap="square" lIns="0" tIns="0" rIns="0" bIns="0" rtlCol="0" anchor="ctr"/>
          <a:lstStyle/>
          <a:p>
            <a:pPr indent="0" marL="0">
              <a:buNone/>
            </a:pPr>
            <a:r>
              <a:rPr lang="en-US" sz="1600" b="1" dirty="0">
                <a:solidFill>
                  <a:srgbClr val="FFC72C"/>
                </a:solidFill>
                <a:latin typeface="Calibri" pitchFamily="34" charset="0"/>
                <a:ea typeface="Calibri" pitchFamily="34" charset="-122"/>
                <a:cs typeface="Calibri" pitchFamily="34" charset="-120"/>
              </a:rPr>
              <a:t>83 seconds, narrated</a:t>
            </a:r>
            <a:endParaRPr lang="en-US" sz="1600" dirty="0"/>
          </a:p>
        </p:txBody>
      </p:sp>
      <p:sp>
        <p:nvSpPr>
          <p:cNvPr id="8" name="Text 4"/>
          <p:cNvSpPr/>
          <p:nvPr/>
        </p:nvSpPr>
        <p:spPr>
          <a:xfrm>
            <a:off x="8778240" y="2423160"/>
            <a:ext cx="2606040" cy="3108960"/>
          </a:xfrm>
          <a:prstGeom prst="rect">
            <a:avLst/>
          </a:prstGeom>
          <a:noFill/>
          <a:ln/>
        </p:spPr>
        <p:txBody>
          <a:bodyPr wrap="square" lIns="0" tIns="0" rIns="0" bIns="0" rtlCol="0" anchor="ctr"/>
          <a:lstStyle/>
          <a:p>
            <a:pPr indent="0" marL="0">
              <a:lnSpc>
                <a:spcPts val="1900"/>
              </a:lnSpc>
              <a:buNone/>
            </a:pPr>
            <a:r>
              <a:rPr lang="en-US" sz="1350" dirty="0">
                <a:solidFill>
                  <a:srgbClr val="E8EEF5"/>
                </a:solidFill>
                <a:latin typeface="Calibri" pitchFamily="34" charset="0"/>
                <a:ea typeface="Calibri" pitchFamily="34" charset="-122"/>
                <a:cs typeface="Calibri" pitchFamily="34" charset="-120"/>
              </a:rPr>
              <a:t>Three real machines walk the decision tree:</a:t>
            </a:r>
            <a:endParaRPr lang="en-US" sz="1350" dirty="0"/>
          </a:p>
          <a:p>
            <a:pPr indent="0" marL="0">
              <a:lnSpc>
                <a:spcPts val="1900"/>
              </a:lnSpc>
              <a:buNone/>
            </a:pPr>
            <a:endParaRPr lang="en-US" sz="1350" dirty="0"/>
          </a:p>
          <a:p>
            <a:pPr indent="0" marL="0">
              <a:lnSpc>
                <a:spcPts val="1900"/>
              </a:lnSpc>
              <a:buNone/>
            </a:pPr>
            <a:r>
              <a:rPr lang="en-US" sz="1350" dirty="0">
                <a:solidFill>
                  <a:srgbClr val="E8EEF5"/>
                </a:solidFill>
                <a:latin typeface="Calibri" pitchFamily="34" charset="0"/>
                <a:ea typeface="Calibri" pitchFamily="34" charset="-122"/>
                <a:cs typeface="Calibri" pitchFamily="34" charset="-120"/>
              </a:rPr>
              <a:t>a safe add,</a:t>
            </a:r>
            <a:endParaRPr lang="en-US" sz="1350" dirty="0"/>
          </a:p>
          <a:p>
            <a:pPr indent="0" marL="0">
              <a:lnSpc>
                <a:spcPts val="1900"/>
              </a:lnSpc>
              <a:buNone/>
            </a:pPr>
            <a:r>
              <a:rPr lang="en-US" sz="1350" dirty="0">
                <a:solidFill>
                  <a:srgbClr val="E8EEF5"/>
                </a:solidFill>
                <a:latin typeface="Calibri" pitchFamily="34" charset="0"/>
                <a:ea typeface="Calibri" pitchFamily="34" charset="-122"/>
                <a:cs typeface="Calibri" pitchFamily="34" charset="-120"/>
              </a:rPr>
              <a:t>a quiet add,</a:t>
            </a:r>
            <a:endParaRPr lang="en-US" sz="1350" dirty="0"/>
          </a:p>
          <a:p>
            <a:pPr indent="0" marL="0">
              <a:lnSpc>
                <a:spcPts val="1900"/>
              </a:lnSpc>
              <a:buNone/>
            </a:pPr>
            <a:r>
              <a:rPr lang="en-US" sz="1350" dirty="0">
                <a:solidFill>
                  <a:srgbClr val="E8EEF5"/>
                </a:solidFill>
                <a:latin typeface="Calibri" pitchFamily="34" charset="0"/>
                <a:ea typeface="Calibri" pitchFamily="34" charset="-122"/>
                <a:cs typeface="Calibri" pitchFamily="34" charset="-120"/>
              </a:rPr>
              <a:t>and a reviewed transfer.</a:t>
            </a:r>
            <a:endParaRPr lang="en-US" sz="1350" dirty="0"/>
          </a:p>
          <a:p>
            <a:pPr indent="0" marL="0">
              <a:lnSpc>
                <a:spcPts val="1900"/>
              </a:lnSpc>
              <a:buNone/>
            </a:pPr>
            <a:endParaRPr lang="en-US" sz="1350" dirty="0"/>
          </a:p>
          <a:p>
            <a:pPr indent="0" marL="0">
              <a:lnSpc>
                <a:spcPts val="1900"/>
              </a:lnSpc>
              <a:buNone/>
            </a:pPr>
            <a:r>
              <a:rPr lang="en-US" sz="1350" dirty="0">
                <a:solidFill>
                  <a:srgbClr val="E8EEF5"/>
                </a:solidFill>
                <a:latin typeface="Calibri" pitchFamily="34" charset="0"/>
                <a:ea typeface="Calibri" pitchFamily="34" charset="-122"/>
                <a:cs typeface="Calibri" pitchFamily="34" charset="-120"/>
              </a:rPr>
              <a:t>Click to play.</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300" kern="0" dirty="0">
                <a:solidFill>
                  <a:srgbClr val="FFC72C"/>
                </a:solidFill>
                <a:latin typeface="Calibri" pitchFamily="34" charset="0"/>
                <a:ea typeface="Calibri" pitchFamily="34" charset="-122"/>
                <a:cs typeface="Calibri" pitchFamily="34" charset="-120"/>
              </a:rPr>
              <a:t>ACT</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E8EEF5"/>
                </a:solidFill>
                <a:latin typeface="Calibri" pitchFamily="34" charset="0"/>
                <a:ea typeface="Calibri" pitchFamily="34" charset="-122"/>
                <a:cs typeface="Calibri" pitchFamily="34" charset="-120"/>
              </a:rPr>
              <a:t>Acting: every write goes through an audited procedure</a:t>
            </a:r>
            <a:endParaRPr lang="en-US" sz="3200" dirty="0"/>
          </a:p>
        </p:txBody>
      </p:sp>
      <p:sp>
        <p:nvSpPr>
          <p:cNvPr id="5" name="Shape 2"/>
          <p:cNvSpPr/>
          <p:nvPr/>
        </p:nvSpPr>
        <p:spPr>
          <a:xfrm>
            <a:off x="548640" y="1554480"/>
            <a:ext cx="5486400" cy="4480560"/>
          </a:xfrm>
          <a:prstGeom prst="roundRect">
            <a:avLst>
              <a:gd name="adj" fmla="val 1633"/>
            </a:avLst>
          </a:prstGeom>
          <a:solidFill>
            <a:srgbClr val="16283F"/>
          </a:solidFill>
          <a:ln w="12700">
            <a:solidFill>
              <a:srgbClr val="223650"/>
            </a:solidFill>
            <a:prstDash val="solid"/>
          </a:ln>
        </p:spPr>
      </p:sp>
      <p:sp>
        <p:nvSpPr>
          <p:cNvPr id="6" name="Text 3"/>
          <p:cNvSpPr/>
          <p:nvPr/>
        </p:nvSpPr>
        <p:spPr>
          <a:xfrm>
            <a:off x="822960" y="1783080"/>
            <a:ext cx="4846320" cy="365760"/>
          </a:xfrm>
          <a:prstGeom prst="rect">
            <a:avLst/>
          </a:prstGeom>
          <a:noFill/>
          <a:ln/>
        </p:spPr>
        <p:txBody>
          <a:bodyPr wrap="square" lIns="0" tIns="0" rIns="0" bIns="0" rtlCol="0" anchor="ctr"/>
          <a:lstStyle/>
          <a:p>
            <a:pPr indent="0" marL="0">
              <a:buNone/>
            </a:pPr>
            <a:r>
              <a:rPr lang="en-US" sz="1600" b="1" dirty="0">
                <a:solidFill>
                  <a:srgbClr val="4DA3FF"/>
                </a:solidFill>
                <a:latin typeface="Calibri" pitchFamily="34" charset="0"/>
                <a:ea typeface="Calibri" pitchFamily="34" charset="-122"/>
                <a:cs typeface="Calibri" pitchFamily="34" charset="-120"/>
              </a:rPr>
              <a:t>CCAT_ADD_ASSET  ·  CCAT_ADD_INVENTORY</a:t>
            </a:r>
            <a:endParaRPr lang="en-US" sz="1600" dirty="0"/>
          </a:p>
        </p:txBody>
      </p:sp>
      <p:sp>
        <p:nvSpPr>
          <p:cNvPr id="7" name="Text 4"/>
          <p:cNvSpPr/>
          <p:nvPr/>
        </p:nvSpPr>
        <p:spPr>
          <a:xfrm>
            <a:off x="822960" y="2148840"/>
            <a:ext cx="4846320" cy="365760"/>
          </a:xfrm>
          <a:prstGeom prst="rect">
            <a:avLst/>
          </a:prstGeom>
          <a:noFill/>
          <a:ln/>
        </p:spPr>
        <p:txBody>
          <a:bodyPr wrap="square" lIns="0" tIns="0" rIns="0" bIns="0" rtlCol="0" anchor="ctr"/>
          <a:lstStyle/>
          <a:p>
            <a:pPr indent="0" marL="0">
              <a:buNone/>
            </a:pPr>
            <a:r>
              <a:rPr lang="en-US" sz="1600" b="1" dirty="0">
                <a:solidFill>
                  <a:srgbClr val="FF9F1C"/>
                </a:solidFill>
                <a:latin typeface="Calibri" pitchFamily="34" charset="0"/>
                <a:ea typeface="Calibri" pitchFamily="34" charset="-122"/>
                <a:cs typeface="Calibri" pitchFamily="34" charset="-120"/>
              </a:rPr>
              <a:t>CCAT_REASSIGN_CUSTOMER</a:t>
            </a:r>
            <a:endParaRPr lang="en-US" sz="1600" dirty="0"/>
          </a:p>
        </p:txBody>
      </p:sp>
      <p:sp>
        <p:nvSpPr>
          <p:cNvPr id="8" name="Text 5"/>
          <p:cNvSpPr/>
          <p:nvPr/>
        </p:nvSpPr>
        <p:spPr>
          <a:xfrm>
            <a:off x="822960" y="2697480"/>
            <a:ext cx="4937760" cy="3200400"/>
          </a:xfrm>
          <a:prstGeom prst="rect">
            <a:avLst/>
          </a:prstGeom>
          <a:noFill/>
          <a:ln/>
        </p:spPr>
        <p:txBody>
          <a:bodyPr wrap="square" lIns="0" tIns="0" rIns="0" bIns="0" rtlCol="0" anchor="ctr"/>
          <a:lstStyle/>
          <a:p>
            <a:pPr marL="342900" indent="-342900">
              <a:lnSpc>
                <a:spcPts val="1800"/>
              </a:lnSpc>
              <a:spcAft>
                <a:spcPts val="600"/>
              </a:spcAft>
              <a:buSzPct val="100000"/>
              <a:buChar char="•"/>
            </a:pPr>
            <a:r>
              <a:rPr lang="en-US" sz="1350" dirty="0">
                <a:solidFill>
                  <a:srgbClr val="E8EEF5"/>
                </a:solidFill>
                <a:latin typeface="Calibri" pitchFamily="34" charset="0"/>
                <a:ea typeface="Calibri" pitchFamily="34" charset="-122"/>
                <a:cs typeface="Calibri" pitchFamily="34" charset="-120"/>
              </a:rPr>
              <a:t>Look up the machine by serial number, pull everything else from our records</a:t>
            </a:r>
            <a:endParaRPr lang="en-US" sz="1350" dirty="0"/>
          </a:p>
          <a:p>
            <a:pPr marL="342900" indent="-342900">
              <a:lnSpc>
                <a:spcPts val="1800"/>
              </a:lnSpc>
              <a:spcAft>
                <a:spcPts val="600"/>
              </a:spcAft>
              <a:buSzPct val="100000"/>
              <a:buChar char="•"/>
            </a:pPr>
            <a:r>
              <a:rPr lang="en-US" sz="1350" dirty="0">
                <a:solidFill>
                  <a:srgbClr val="E8EEF5"/>
                </a:solidFill>
                <a:latin typeface="Calibri" pitchFamily="34" charset="0"/>
                <a:ea typeface="Calibri" pitchFamily="34" charset="-122"/>
                <a:cs typeface="Calibri" pitchFamily="34" charset="-120"/>
              </a:rPr>
              <a:t>Search CCAT live before acting — never write blind</a:t>
            </a:r>
            <a:endParaRPr lang="en-US" sz="1350" dirty="0"/>
          </a:p>
          <a:p>
            <a:pPr marL="342900" indent="-342900">
              <a:lnSpc>
                <a:spcPts val="1800"/>
              </a:lnSpc>
              <a:spcAft>
                <a:spcPts val="600"/>
              </a:spcAft>
              <a:buSzPct val="100000"/>
              <a:buChar char="•"/>
            </a:pPr>
            <a:r>
              <a:rPr lang="en-US" sz="1350" dirty="0">
                <a:solidFill>
                  <a:srgbClr val="E8EEF5"/>
                </a:solidFill>
                <a:latin typeface="Calibri" pitchFamily="34" charset="0"/>
                <a:ea typeface="Calibri" pitchFamily="34" charset="-122"/>
                <a:cs typeface="Calibri" pitchFamily="34" charset="-120"/>
              </a:rPr>
              <a:t>Refuse anything outside their lane: existing records, other owners, attachments, known-bad serials</a:t>
            </a:r>
            <a:endParaRPr lang="en-US" sz="1350" dirty="0"/>
          </a:p>
          <a:p>
            <a:pPr marL="342900" indent="-342900">
              <a:lnSpc>
                <a:spcPts val="1800"/>
              </a:lnSpc>
              <a:spcAft>
                <a:spcPts val="600"/>
              </a:spcAft>
              <a:buSzPct val="100000"/>
              <a:buChar char="•"/>
            </a:pPr>
            <a:r>
              <a:rPr lang="en-US" sz="1350" dirty="0">
                <a:solidFill>
                  <a:srgbClr val="E8EEF5"/>
                </a:solidFill>
                <a:latin typeface="Calibri" pitchFamily="34" charset="0"/>
                <a:ea typeface="Calibri" pitchFamily="34" charset="-122"/>
                <a:cs typeface="Calibri" pitchFamily="34" charset="-120"/>
              </a:rPr>
              <a:t>Dry-run by default — show exactly what would be sent, send nothing</a:t>
            </a:r>
            <a:endParaRPr lang="en-US" sz="1350" dirty="0"/>
          </a:p>
          <a:p>
            <a:pPr marL="342900" indent="-342900">
              <a:lnSpc>
                <a:spcPts val="1800"/>
              </a:lnSpc>
              <a:buSzPct val="100000"/>
              <a:buChar char="•"/>
            </a:pPr>
            <a:r>
              <a:rPr lang="en-US" sz="1350" dirty="0">
                <a:solidFill>
                  <a:srgbClr val="E8EEF5"/>
                </a:solidFill>
                <a:latin typeface="Calibri" pitchFamily="34" charset="0"/>
                <a:ea typeface="Calibri" pitchFamily="34" charset="-122"/>
                <a:cs typeface="Calibri" pitchFamily="34" charset="-120"/>
              </a:rPr>
              <a:t>On execute: one API call, one audit row, one history snapshot</a:t>
            </a:r>
            <a:endParaRPr lang="en-US" sz="1350" dirty="0"/>
          </a:p>
        </p:txBody>
      </p:sp>
      <p:sp>
        <p:nvSpPr>
          <p:cNvPr id="9" name="Shape 6"/>
          <p:cNvSpPr/>
          <p:nvPr/>
        </p:nvSpPr>
        <p:spPr>
          <a:xfrm>
            <a:off x="6309360" y="1554480"/>
            <a:ext cx="5303520" cy="2103120"/>
          </a:xfrm>
          <a:prstGeom prst="roundRect">
            <a:avLst>
              <a:gd name="adj" fmla="val 3478"/>
            </a:avLst>
          </a:prstGeom>
          <a:solidFill>
            <a:srgbClr val="16283F"/>
          </a:solidFill>
          <a:ln w="12700">
            <a:solidFill>
              <a:srgbClr val="223650"/>
            </a:solidFill>
            <a:prstDash val="solid"/>
          </a:ln>
        </p:spPr>
      </p:sp>
      <p:sp>
        <p:nvSpPr>
          <p:cNvPr id="10" name="Text 7"/>
          <p:cNvSpPr/>
          <p:nvPr/>
        </p:nvSpPr>
        <p:spPr>
          <a:xfrm>
            <a:off x="6583680" y="1783080"/>
            <a:ext cx="4754880" cy="365760"/>
          </a:xfrm>
          <a:prstGeom prst="rect">
            <a:avLst/>
          </a:prstGeom>
          <a:noFill/>
          <a:ln/>
        </p:spPr>
        <p:txBody>
          <a:bodyPr wrap="square" lIns="0" tIns="0" rIns="0" bIns="0" rtlCol="0" anchor="ctr"/>
          <a:lstStyle/>
          <a:p>
            <a:pPr indent="0" marL="0">
              <a:buNone/>
            </a:pPr>
            <a:r>
              <a:rPr lang="en-US" sz="1600" b="1" dirty="0">
                <a:solidFill>
                  <a:srgbClr val="FFC72C"/>
                </a:solidFill>
                <a:latin typeface="Calibri" pitchFamily="34" charset="0"/>
                <a:ea typeface="Calibri" pitchFamily="34" charset="-122"/>
                <a:cs typeface="Calibri" pitchFamily="34" charset="-120"/>
              </a:rPr>
              <a:t>Payload rule</a:t>
            </a:r>
            <a:endParaRPr lang="en-US" sz="1600" dirty="0"/>
          </a:p>
        </p:txBody>
      </p:sp>
      <p:sp>
        <p:nvSpPr>
          <p:cNvPr id="11" name="Text 8"/>
          <p:cNvSpPr/>
          <p:nvPr/>
        </p:nvSpPr>
        <p:spPr>
          <a:xfrm>
            <a:off x="6583680" y="2212848"/>
            <a:ext cx="4754880" cy="1371600"/>
          </a:xfrm>
          <a:prstGeom prst="rect">
            <a:avLst/>
          </a:prstGeom>
          <a:noFill/>
          <a:ln/>
        </p:spPr>
        <p:txBody>
          <a:bodyPr wrap="square" lIns="0" tIns="0" rIns="0" bIns="0" rtlCol="0" anchor="ctr"/>
          <a:lstStyle/>
          <a:p>
            <a:pPr indent="0" marL="0">
              <a:lnSpc>
                <a:spcPts val="1800"/>
              </a:lnSpc>
              <a:buNone/>
            </a:pPr>
            <a:r>
              <a:rPr lang="en-US" sz="1350" dirty="0">
                <a:solidFill>
                  <a:srgbClr val="E8EEF5"/>
                </a:solidFill>
                <a:latin typeface="Calibri" pitchFamily="34" charset="0"/>
                <a:ea typeface="Calibri" pitchFamily="34" charset="-122"/>
                <a:cs typeface="Calibri" pitchFamily="34" charset="-120"/>
              </a:rPr>
              <a:t>Where CCAT already has a record, its model and year are the versions Caterpillar recognizes — our requests reuse them. Our data only goes to Caterpillar for machines it has never seen.</a:t>
            </a:r>
            <a:endParaRPr lang="en-US" sz="1350" dirty="0"/>
          </a:p>
        </p:txBody>
      </p:sp>
      <p:sp>
        <p:nvSpPr>
          <p:cNvPr id="12" name="Shape 9"/>
          <p:cNvSpPr/>
          <p:nvPr/>
        </p:nvSpPr>
        <p:spPr>
          <a:xfrm>
            <a:off x="6309360" y="3931920"/>
            <a:ext cx="5303520" cy="2103120"/>
          </a:xfrm>
          <a:prstGeom prst="roundRect">
            <a:avLst>
              <a:gd name="adj" fmla="val 3478"/>
            </a:avLst>
          </a:prstGeom>
          <a:solidFill>
            <a:srgbClr val="16283F"/>
          </a:solidFill>
          <a:ln w="12700">
            <a:solidFill>
              <a:srgbClr val="223650"/>
            </a:solidFill>
            <a:prstDash val="solid"/>
          </a:ln>
        </p:spPr>
      </p:sp>
      <p:sp>
        <p:nvSpPr>
          <p:cNvPr id="13" name="Text 10"/>
          <p:cNvSpPr/>
          <p:nvPr/>
        </p:nvSpPr>
        <p:spPr>
          <a:xfrm>
            <a:off x="6583680" y="4160520"/>
            <a:ext cx="4754880" cy="365760"/>
          </a:xfrm>
          <a:prstGeom prst="rect">
            <a:avLst/>
          </a:prstGeom>
          <a:noFill/>
          <a:ln/>
        </p:spPr>
        <p:txBody>
          <a:bodyPr wrap="square" lIns="0" tIns="0" rIns="0" bIns="0" rtlCol="0" anchor="ctr"/>
          <a:lstStyle/>
          <a:p>
            <a:pPr indent="0" marL="0">
              <a:buNone/>
            </a:pPr>
            <a:r>
              <a:rPr lang="en-US" sz="1600" b="1" dirty="0">
                <a:solidFill>
                  <a:srgbClr val="FF5A5F"/>
                </a:solidFill>
                <a:latin typeface="Calibri" pitchFamily="34" charset="0"/>
                <a:ea typeface="Calibri" pitchFamily="34" charset="-122"/>
                <a:cs typeface="Calibri" pitchFamily="34" charset="-120"/>
              </a:rPr>
              <a:t>Raw API tools still exist</a:t>
            </a:r>
            <a:endParaRPr lang="en-US" sz="1600" dirty="0"/>
          </a:p>
        </p:txBody>
      </p:sp>
      <p:sp>
        <p:nvSpPr>
          <p:cNvPr id="14" name="Text 11"/>
          <p:cNvSpPr/>
          <p:nvPr/>
        </p:nvSpPr>
        <p:spPr>
          <a:xfrm>
            <a:off x="6583680" y="4590288"/>
            <a:ext cx="4754880" cy="1280160"/>
          </a:xfrm>
          <a:prstGeom prst="rect">
            <a:avLst/>
          </a:prstGeom>
          <a:noFill/>
          <a:ln/>
        </p:spPr>
        <p:txBody>
          <a:bodyPr wrap="square" lIns="0" tIns="0" rIns="0" bIns="0" rtlCol="0" anchor="ctr"/>
          <a:lstStyle/>
          <a:p>
            <a:pPr indent="0" marL="0">
              <a:lnSpc>
                <a:spcPts val="1800"/>
              </a:lnSpc>
              <a:buNone/>
            </a:pPr>
            <a:r>
              <a:rPr lang="en-US" sz="1350" dirty="0">
                <a:solidFill>
                  <a:srgbClr val="E8EEF5"/>
                </a:solidFill>
                <a:latin typeface="Calibri" pitchFamily="34" charset="0"/>
                <a:ea typeface="Calibri" pitchFamily="34" charset="-122"/>
                <a:cs typeface="Calibri" pitchFamily="34" charset="-120"/>
              </a:rPr>
              <a:t>The low-level add/expire/transfer procedures are diagnostics only. They are not audited, and when access rolls out, other users will only ever be granted the wrappers.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300" kern="0" dirty="0">
                <a:solidFill>
                  <a:srgbClr val="FFC72C"/>
                </a:solidFill>
                <a:latin typeface="Calibri" pitchFamily="34" charset="0"/>
                <a:ea typeface="Calibri" pitchFamily="34" charset="-122"/>
                <a:cs typeface="Calibri" pitchFamily="34" charset="-120"/>
              </a:rPr>
              <a:t>ACT · FLOW</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E8EEF5"/>
                </a:solidFill>
                <a:latin typeface="Calibri" pitchFamily="34" charset="0"/>
                <a:ea typeface="Calibri" pitchFamily="34" charset="-122"/>
                <a:cs typeface="Calibri" pitchFamily="34" charset="-120"/>
              </a:rPr>
              <a:t>Phase one flow: inventory adds (live)</a:t>
            </a:r>
            <a:endParaRPr lang="en-US" sz="3200" dirty="0"/>
          </a:p>
        </p:txBody>
      </p:sp>
      <p:sp>
        <p:nvSpPr>
          <p:cNvPr id="5" name="Shape 2"/>
          <p:cNvSpPr/>
          <p:nvPr/>
        </p:nvSpPr>
        <p:spPr>
          <a:xfrm>
            <a:off x="548640" y="1600200"/>
            <a:ext cx="2514600" cy="1417320"/>
          </a:xfrm>
          <a:prstGeom prst="roundRect">
            <a:avLst>
              <a:gd name="adj" fmla="val 5161"/>
            </a:avLst>
          </a:prstGeom>
          <a:solidFill>
            <a:srgbClr val="16283F"/>
          </a:solidFill>
          <a:ln w="12700">
            <a:solidFill>
              <a:srgbClr val="223650"/>
            </a:solidFill>
            <a:prstDash val="solid"/>
          </a:ln>
        </p:spPr>
      </p:sp>
      <p:sp>
        <p:nvSpPr>
          <p:cNvPr id="6" name="Text 3"/>
          <p:cNvSpPr/>
          <p:nvPr/>
        </p:nvSpPr>
        <p:spPr>
          <a:xfrm>
            <a:off x="676656" y="1691640"/>
            <a:ext cx="2258568" cy="457200"/>
          </a:xfrm>
          <a:prstGeom prst="rect">
            <a:avLst/>
          </a:prstGeom>
          <a:noFill/>
          <a:ln/>
        </p:spPr>
        <p:txBody>
          <a:bodyPr wrap="square" lIns="0" tIns="0" rIns="0" bIns="0" rtlCol="0" anchor="ctr"/>
          <a:lstStyle/>
          <a:p>
            <a:pPr indent="0" marL="0">
              <a:lnSpc>
                <a:spcPts val="1400"/>
              </a:lnSpc>
              <a:buNone/>
            </a:pPr>
            <a:r>
              <a:rPr lang="en-US" sz="1250" b="1" dirty="0">
                <a:solidFill>
                  <a:srgbClr val="4DA3FF"/>
                </a:solidFill>
                <a:latin typeface="Calibri" pitchFamily="34" charset="0"/>
                <a:ea typeface="Calibri" pitchFamily="34" charset="-122"/>
                <a:cs typeface="Calibri" pitchFamily="34" charset="-120"/>
              </a:rPr>
              <a:t>1 · NAXT refresh</a:t>
            </a:r>
            <a:endParaRPr lang="en-US" sz="1250" dirty="0"/>
          </a:p>
        </p:txBody>
      </p:sp>
      <p:sp>
        <p:nvSpPr>
          <p:cNvPr id="7" name="Text 4"/>
          <p:cNvSpPr/>
          <p:nvPr/>
        </p:nvSpPr>
        <p:spPr>
          <a:xfrm>
            <a:off x="676656" y="2148840"/>
            <a:ext cx="2258568" cy="822960"/>
          </a:xfrm>
          <a:prstGeom prst="rect">
            <a:avLst/>
          </a:prstGeom>
          <a:noFill/>
          <a:ln/>
        </p:spPr>
        <p:txBody>
          <a:bodyPr wrap="square" lIns="0" tIns="0" rIns="0" bIns="0" rtlCol="0" anchor="ctr"/>
          <a:lstStyle/>
          <a:p>
            <a:pPr indent="0" marL="0">
              <a:lnSpc>
                <a:spcPts val="1300"/>
              </a:lnSpc>
              <a:buNone/>
            </a:pPr>
            <a:r>
              <a:rPr lang="en-US" sz="1000" dirty="0">
                <a:solidFill>
                  <a:srgbClr val="E8EEF5"/>
                </a:solidFill>
                <a:latin typeface="Calibri" pitchFamily="34" charset="0"/>
                <a:ea typeface="Calibri" pitchFamily="34" charset="-122"/>
                <a:cs typeface="Calibri" pitchFamily="34" charset="-120"/>
              </a:rPr>
              <a:t>Golden equipment data lands in Snowflake each morning</a:t>
            </a:r>
            <a:endParaRPr lang="en-US" sz="1000" dirty="0"/>
          </a:p>
        </p:txBody>
      </p:sp>
      <p:sp>
        <p:nvSpPr>
          <p:cNvPr id="8" name="Shape 5"/>
          <p:cNvSpPr/>
          <p:nvPr/>
        </p:nvSpPr>
        <p:spPr>
          <a:xfrm>
            <a:off x="3429000" y="1600200"/>
            <a:ext cx="2514600" cy="1417320"/>
          </a:xfrm>
          <a:prstGeom prst="roundRect">
            <a:avLst>
              <a:gd name="adj" fmla="val 5161"/>
            </a:avLst>
          </a:prstGeom>
          <a:solidFill>
            <a:srgbClr val="16283F"/>
          </a:solidFill>
          <a:ln w="12700">
            <a:solidFill>
              <a:srgbClr val="223650"/>
            </a:solidFill>
            <a:prstDash val="solid"/>
          </a:ln>
        </p:spPr>
      </p:sp>
      <p:sp>
        <p:nvSpPr>
          <p:cNvPr id="9" name="Text 6"/>
          <p:cNvSpPr/>
          <p:nvPr/>
        </p:nvSpPr>
        <p:spPr>
          <a:xfrm>
            <a:off x="3557016" y="1691640"/>
            <a:ext cx="2258568" cy="457200"/>
          </a:xfrm>
          <a:prstGeom prst="rect">
            <a:avLst/>
          </a:prstGeom>
          <a:noFill/>
          <a:ln/>
        </p:spPr>
        <p:txBody>
          <a:bodyPr wrap="square" lIns="0" tIns="0" rIns="0" bIns="0" rtlCol="0" anchor="ctr"/>
          <a:lstStyle/>
          <a:p>
            <a:pPr indent="0" marL="0">
              <a:lnSpc>
                <a:spcPts val="1400"/>
              </a:lnSpc>
              <a:buNone/>
            </a:pPr>
            <a:r>
              <a:rPr lang="en-US" sz="1250" b="1" dirty="0">
                <a:solidFill>
                  <a:srgbClr val="4DA3FF"/>
                </a:solidFill>
                <a:latin typeface="Calibri" pitchFamily="34" charset="0"/>
                <a:ea typeface="Calibri" pitchFamily="34" charset="-122"/>
                <a:cs typeface="Calibri" pitchFamily="34" charset="-120"/>
              </a:rPr>
              <a:t>2 · Candidate scan</a:t>
            </a:r>
            <a:endParaRPr lang="en-US" sz="1250" dirty="0"/>
          </a:p>
        </p:txBody>
      </p:sp>
      <p:sp>
        <p:nvSpPr>
          <p:cNvPr id="10" name="Text 7"/>
          <p:cNvSpPr/>
          <p:nvPr/>
        </p:nvSpPr>
        <p:spPr>
          <a:xfrm>
            <a:off x="3557016" y="2148840"/>
            <a:ext cx="2258568" cy="822960"/>
          </a:xfrm>
          <a:prstGeom prst="rect">
            <a:avLst/>
          </a:prstGeom>
          <a:noFill/>
          <a:ln/>
        </p:spPr>
        <p:txBody>
          <a:bodyPr wrap="square" lIns="0" tIns="0" rIns="0" bIns="0" rtlCol="0" anchor="ctr"/>
          <a:lstStyle/>
          <a:p>
            <a:pPr indent="0" marL="0">
              <a:lnSpc>
                <a:spcPts val="1300"/>
              </a:lnSpc>
              <a:buNone/>
            </a:pPr>
            <a:r>
              <a:rPr lang="en-US" sz="1000" dirty="0">
                <a:solidFill>
                  <a:srgbClr val="E8EEF5"/>
                </a:solidFill>
                <a:latin typeface="Calibri" pitchFamily="34" charset="0"/>
                <a:ea typeface="Calibri" pitchFamily="34" charset="-122"/>
                <a:cs typeface="Calibri" pitchFamily="34" charset="-120"/>
              </a:rPr>
              <a:t>Blank customer · Cat make · active · New · no attachments — oldest first by modified date</a:t>
            </a:r>
            <a:endParaRPr lang="en-US" sz="1000" dirty="0"/>
          </a:p>
        </p:txBody>
      </p:sp>
      <p:sp>
        <p:nvSpPr>
          <p:cNvPr id="11" name="Shape 8"/>
          <p:cNvSpPr/>
          <p:nvPr/>
        </p:nvSpPr>
        <p:spPr>
          <a:xfrm>
            <a:off x="6309360" y="1600200"/>
            <a:ext cx="2514600" cy="1417320"/>
          </a:xfrm>
          <a:prstGeom prst="roundRect">
            <a:avLst>
              <a:gd name="adj" fmla="val 5161"/>
            </a:avLst>
          </a:prstGeom>
          <a:solidFill>
            <a:srgbClr val="16283F"/>
          </a:solidFill>
          <a:ln w="12700">
            <a:solidFill>
              <a:srgbClr val="223650"/>
            </a:solidFill>
            <a:prstDash val="solid"/>
          </a:ln>
        </p:spPr>
      </p:sp>
      <p:sp>
        <p:nvSpPr>
          <p:cNvPr id="12" name="Text 9"/>
          <p:cNvSpPr/>
          <p:nvPr/>
        </p:nvSpPr>
        <p:spPr>
          <a:xfrm>
            <a:off x="6437376" y="1691640"/>
            <a:ext cx="2258568" cy="457200"/>
          </a:xfrm>
          <a:prstGeom prst="rect">
            <a:avLst/>
          </a:prstGeom>
          <a:noFill/>
          <a:ln/>
        </p:spPr>
        <p:txBody>
          <a:bodyPr wrap="square" lIns="0" tIns="0" rIns="0" bIns="0" rtlCol="0" anchor="ctr"/>
          <a:lstStyle/>
          <a:p>
            <a:pPr indent="0" marL="0">
              <a:lnSpc>
                <a:spcPts val="1400"/>
              </a:lnSpc>
              <a:buNone/>
            </a:pPr>
            <a:r>
              <a:rPr lang="en-US" sz="1250" b="1" dirty="0">
                <a:solidFill>
                  <a:srgbClr val="2EC4B6"/>
                </a:solidFill>
                <a:latin typeface="Calibri" pitchFamily="34" charset="0"/>
                <a:ea typeface="Calibri" pitchFamily="34" charset="-122"/>
                <a:cs typeface="Calibri" pitchFamily="34" charset="-120"/>
              </a:rPr>
              <a:t>3 · Free skips</a:t>
            </a:r>
            <a:endParaRPr lang="en-US" sz="1250" dirty="0"/>
          </a:p>
        </p:txBody>
      </p:sp>
      <p:sp>
        <p:nvSpPr>
          <p:cNvPr id="13" name="Text 10"/>
          <p:cNvSpPr/>
          <p:nvPr/>
        </p:nvSpPr>
        <p:spPr>
          <a:xfrm>
            <a:off x="6437376" y="2148840"/>
            <a:ext cx="2258568" cy="822960"/>
          </a:xfrm>
          <a:prstGeom prst="rect">
            <a:avLst/>
          </a:prstGeom>
          <a:noFill/>
          <a:ln/>
        </p:spPr>
        <p:txBody>
          <a:bodyPr wrap="square" lIns="0" tIns="0" rIns="0" bIns="0" rtlCol="0" anchor="ctr"/>
          <a:lstStyle/>
          <a:p>
            <a:pPr indent="0" marL="0">
              <a:lnSpc>
                <a:spcPts val="1300"/>
              </a:lnSpc>
              <a:buNone/>
            </a:pPr>
            <a:r>
              <a:rPr lang="en-US" sz="1000" dirty="0">
                <a:solidFill>
                  <a:srgbClr val="E8EEF5"/>
                </a:solidFill>
                <a:latin typeface="Calibri" pitchFamily="34" charset="0"/>
                <a:ea typeface="Calibri" pitchFamily="34" charset="-122"/>
                <a:cs typeface="Calibri" pitchFamily="34" charset="-120"/>
              </a:rPr>
              <a:t>Already added, already in CCAT, or dealer-blocked — dropped from history at zero API cost</a:t>
            </a:r>
            <a:endParaRPr lang="en-US" sz="1000" dirty="0"/>
          </a:p>
        </p:txBody>
      </p:sp>
      <p:sp>
        <p:nvSpPr>
          <p:cNvPr id="14" name="Shape 11"/>
          <p:cNvSpPr/>
          <p:nvPr/>
        </p:nvSpPr>
        <p:spPr>
          <a:xfrm>
            <a:off x="9189720" y="1600200"/>
            <a:ext cx="2514600" cy="1417320"/>
          </a:xfrm>
          <a:prstGeom prst="roundRect">
            <a:avLst>
              <a:gd name="adj" fmla="val 5161"/>
            </a:avLst>
          </a:prstGeom>
          <a:solidFill>
            <a:srgbClr val="16283F"/>
          </a:solidFill>
          <a:ln w="12700">
            <a:solidFill>
              <a:srgbClr val="223650"/>
            </a:solidFill>
            <a:prstDash val="solid"/>
          </a:ln>
        </p:spPr>
      </p:sp>
      <p:sp>
        <p:nvSpPr>
          <p:cNvPr id="15" name="Text 12"/>
          <p:cNvSpPr/>
          <p:nvPr/>
        </p:nvSpPr>
        <p:spPr>
          <a:xfrm>
            <a:off x="9317736" y="1691640"/>
            <a:ext cx="2258568" cy="457200"/>
          </a:xfrm>
          <a:prstGeom prst="rect">
            <a:avLst/>
          </a:prstGeom>
          <a:noFill/>
          <a:ln/>
        </p:spPr>
        <p:txBody>
          <a:bodyPr wrap="square" lIns="0" tIns="0" rIns="0" bIns="0" rtlCol="0" anchor="ctr"/>
          <a:lstStyle/>
          <a:p>
            <a:pPr indent="0" marL="0">
              <a:lnSpc>
                <a:spcPts val="1400"/>
              </a:lnSpc>
              <a:buNone/>
            </a:pPr>
            <a:r>
              <a:rPr lang="en-US" sz="1250" b="1" dirty="0">
                <a:solidFill>
                  <a:srgbClr val="2EC4B6"/>
                </a:solidFill>
                <a:latin typeface="Calibri" pitchFamily="34" charset="0"/>
                <a:ea typeface="Calibri" pitchFamily="34" charset="-122"/>
                <a:cs typeface="Calibri" pitchFamily="34" charset="-120"/>
              </a:rPr>
              <a:t>4 · Live CCAT search</a:t>
            </a:r>
            <a:endParaRPr lang="en-US" sz="1250" dirty="0"/>
          </a:p>
        </p:txBody>
      </p:sp>
      <p:sp>
        <p:nvSpPr>
          <p:cNvPr id="16" name="Text 13"/>
          <p:cNvSpPr/>
          <p:nvPr/>
        </p:nvSpPr>
        <p:spPr>
          <a:xfrm>
            <a:off x="9317736" y="2148840"/>
            <a:ext cx="2258568" cy="822960"/>
          </a:xfrm>
          <a:prstGeom prst="rect">
            <a:avLst/>
          </a:prstGeom>
          <a:noFill/>
          <a:ln/>
        </p:spPr>
        <p:txBody>
          <a:bodyPr wrap="square" lIns="0" tIns="0" rIns="0" bIns="0" rtlCol="0" anchor="ctr"/>
          <a:lstStyle/>
          <a:p>
            <a:pPr indent="0" marL="0">
              <a:lnSpc>
                <a:spcPts val="1300"/>
              </a:lnSpc>
              <a:buNone/>
            </a:pPr>
            <a:r>
              <a:rPr lang="en-US" sz="1000" dirty="0">
                <a:solidFill>
                  <a:srgbClr val="E8EEF5"/>
                </a:solidFill>
                <a:latin typeface="Calibri" pitchFamily="34" charset="0"/>
                <a:ea typeface="Calibri" pitchFamily="34" charset="-122"/>
                <a:cs typeface="Calibri" pitchFamily="34" charset="-120"/>
              </a:rPr>
              <a:t>One API search per machine; every answer saved to history</a:t>
            </a:r>
            <a:endParaRPr lang="en-US" sz="1000" dirty="0"/>
          </a:p>
        </p:txBody>
      </p:sp>
      <p:sp>
        <p:nvSpPr>
          <p:cNvPr id="17" name="Shape 14"/>
          <p:cNvSpPr/>
          <p:nvPr/>
        </p:nvSpPr>
        <p:spPr>
          <a:xfrm>
            <a:off x="3127248" y="2194560"/>
            <a:ext cx="292608" cy="237744"/>
          </a:xfrm>
          <a:prstGeom prst="rightArrow">
            <a:avLst/>
          </a:prstGeom>
          <a:solidFill>
            <a:srgbClr val="9FB3C8"/>
          </a:solidFill>
          <a:ln/>
        </p:spPr>
      </p:sp>
      <p:sp>
        <p:nvSpPr>
          <p:cNvPr id="18" name="Shape 15"/>
          <p:cNvSpPr/>
          <p:nvPr/>
        </p:nvSpPr>
        <p:spPr>
          <a:xfrm>
            <a:off x="6007608" y="2194560"/>
            <a:ext cx="292608" cy="237744"/>
          </a:xfrm>
          <a:prstGeom prst="rightArrow">
            <a:avLst/>
          </a:prstGeom>
          <a:solidFill>
            <a:srgbClr val="9FB3C8"/>
          </a:solidFill>
          <a:ln/>
        </p:spPr>
      </p:sp>
      <p:sp>
        <p:nvSpPr>
          <p:cNvPr id="19" name="Shape 16"/>
          <p:cNvSpPr/>
          <p:nvPr/>
        </p:nvSpPr>
        <p:spPr>
          <a:xfrm>
            <a:off x="8887968" y="2194560"/>
            <a:ext cx="292608" cy="237744"/>
          </a:xfrm>
          <a:prstGeom prst="rightArrow">
            <a:avLst/>
          </a:prstGeom>
          <a:solidFill>
            <a:srgbClr val="9FB3C8"/>
          </a:solidFill>
          <a:ln/>
        </p:spPr>
      </p:sp>
      <p:sp>
        <p:nvSpPr>
          <p:cNvPr id="20" name="Shape 17"/>
          <p:cNvSpPr/>
          <p:nvPr/>
        </p:nvSpPr>
        <p:spPr>
          <a:xfrm>
            <a:off x="10314432" y="3127248"/>
            <a:ext cx="256032" cy="694944"/>
          </a:xfrm>
          <a:prstGeom prst="downArrow">
            <a:avLst/>
          </a:prstGeom>
          <a:solidFill>
            <a:srgbClr val="9FB3C8"/>
          </a:solidFill>
          <a:ln/>
        </p:spPr>
      </p:sp>
      <p:sp>
        <p:nvSpPr>
          <p:cNvPr id="21" name="Shape 18"/>
          <p:cNvSpPr/>
          <p:nvPr/>
        </p:nvSpPr>
        <p:spPr>
          <a:xfrm>
            <a:off x="9189720" y="3931920"/>
            <a:ext cx="2514600" cy="1417320"/>
          </a:xfrm>
          <a:prstGeom prst="roundRect">
            <a:avLst>
              <a:gd name="adj" fmla="val 5161"/>
            </a:avLst>
          </a:prstGeom>
          <a:solidFill>
            <a:srgbClr val="16283F"/>
          </a:solidFill>
          <a:ln w="12700">
            <a:solidFill>
              <a:srgbClr val="223650"/>
            </a:solidFill>
            <a:prstDash val="solid"/>
          </a:ln>
        </p:spPr>
      </p:sp>
      <p:sp>
        <p:nvSpPr>
          <p:cNvPr id="22" name="Text 19"/>
          <p:cNvSpPr/>
          <p:nvPr/>
        </p:nvSpPr>
        <p:spPr>
          <a:xfrm>
            <a:off x="9317736" y="4023360"/>
            <a:ext cx="2258568" cy="457200"/>
          </a:xfrm>
          <a:prstGeom prst="rect">
            <a:avLst/>
          </a:prstGeom>
          <a:noFill/>
          <a:ln/>
        </p:spPr>
        <p:txBody>
          <a:bodyPr wrap="square" lIns="0" tIns="0" rIns="0" bIns="0" rtlCol="0" anchor="ctr"/>
          <a:lstStyle/>
          <a:p>
            <a:pPr indent="0" marL="0">
              <a:lnSpc>
                <a:spcPts val="1400"/>
              </a:lnSpc>
              <a:buNone/>
            </a:pPr>
            <a:r>
              <a:rPr lang="en-US" sz="1250" b="1" dirty="0">
                <a:solidFill>
                  <a:srgbClr val="FFC72C"/>
                </a:solidFill>
                <a:latin typeface="Calibri" pitchFamily="34" charset="0"/>
                <a:ea typeface="Calibri" pitchFamily="34" charset="-122"/>
                <a:cs typeface="Calibri" pitchFamily="34" charset="-120"/>
              </a:rPr>
              <a:t>5 · Dry-run review</a:t>
            </a:r>
            <a:endParaRPr lang="en-US" sz="1250" dirty="0"/>
          </a:p>
        </p:txBody>
      </p:sp>
      <p:sp>
        <p:nvSpPr>
          <p:cNvPr id="23" name="Text 20"/>
          <p:cNvSpPr/>
          <p:nvPr/>
        </p:nvSpPr>
        <p:spPr>
          <a:xfrm>
            <a:off x="9317736" y="4480560"/>
            <a:ext cx="2258568" cy="822960"/>
          </a:xfrm>
          <a:prstGeom prst="rect">
            <a:avLst/>
          </a:prstGeom>
          <a:noFill/>
          <a:ln/>
        </p:spPr>
        <p:txBody>
          <a:bodyPr wrap="square" lIns="0" tIns="0" rIns="0" bIns="0" rtlCol="0" anchor="ctr"/>
          <a:lstStyle/>
          <a:p>
            <a:pPr indent="0" marL="0">
              <a:lnSpc>
                <a:spcPts val="1300"/>
              </a:lnSpc>
              <a:buNone/>
            </a:pPr>
            <a:r>
              <a:rPr lang="en-US" sz="1000" dirty="0">
                <a:solidFill>
                  <a:srgbClr val="E8EEF5"/>
                </a:solidFill>
                <a:latin typeface="Calibri" pitchFamily="34" charset="0"/>
                <a:ea typeface="Calibri" pitchFamily="34" charset="-122"/>
                <a:cs typeface="Calibri" pitchFamily="34" charset="-120"/>
              </a:rPr>
              <a:t>The would_add list previewed — nothing sent yet</a:t>
            </a:r>
            <a:endParaRPr lang="en-US" sz="1000" dirty="0"/>
          </a:p>
        </p:txBody>
      </p:sp>
      <p:sp>
        <p:nvSpPr>
          <p:cNvPr id="24" name="Shape 21"/>
          <p:cNvSpPr/>
          <p:nvPr/>
        </p:nvSpPr>
        <p:spPr>
          <a:xfrm>
            <a:off x="6309360" y="3931920"/>
            <a:ext cx="2514600" cy="1417320"/>
          </a:xfrm>
          <a:prstGeom prst="roundRect">
            <a:avLst>
              <a:gd name="adj" fmla="val 5161"/>
            </a:avLst>
          </a:prstGeom>
          <a:solidFill>
            <a:srgbClr val="16283F"/>
          </a:solidFill>
          <a:ln w="12700">
            <a:solidFill>
              <a:srgbClr val="223650"/>
            </a:solidFill>
            <a:prstDash val="solid"/>
          </a:ln>
        </p:spPr>
      </p:sp>
      <p:sp>
        <p:nvSpPr>
          <p:cNvPr id="25" name="Text 22"/>
          <p:cNvSpPr/>
          <p:nvPr/>
        </p:nvSpPr>
        <p:spPr>
          <a:xfrm>
            <a:off x="6437376" y="4023360"/>
            <a:ext cx="2258568" cy="457200"/>
          </a:xfrm>
          <a:prstGeom prst="rect">
            <a:avLst/>
          </a:prstGeom>
          <a:noFill/>
          <a:ln/>
        </p:spPr>
        <p:txBody>
          <a:bodyPr wrap="square" lIns="0" tIns="0" rIns="0" bIns="0" rtlCol="0" anchor="ctr"/>
          <a:lstStyle/>
          <a:p>
            <a:pPr indent="0" marL="0">
              <a:lnSpc>
                <a:spcPts val="1400"/>
              </a:lnSpc>
              <a:buNone/>
            </a:pPr>
            <a:r>
              <a:rPr lang="en-US" sz="1250" b="1" dirty="0">
                <a:solidFill>
                  <a:srgbClr val="34C759"/>
                </a:solidFill>
                <a:latin typeface="Calibri" pitchFamily="34" charset="0"/>
                <a:ea typeface="Calibri" pitchFamily="34" charset="-122"/>
                <a:cs typeface="Calibri" pitchFamily="34" charset="-120"/>
              </a:rPr>
              <a:t>6 · Add to INT00495</a:t>
            </a:r>
            <a:endParaRPr lang="en-US" sz="1250" dirty="0"/>
          </a:p>
        </p:txBody>
      </p:sp>
      <p:sp>
        <p:nvSpPr>
          <p:cNvPr id="26" name="Text 23"/>
          <p:cNvSpPr/>
          <p:nvPr/>
        </p:nvSpPr>
        <p:spPr>
          <a:xfrm>
            <a:off x="6437376" y="4480560"/>
            <a:ext cx="2258568" cy="822960"/>
          </a:xfrm>
          <a:prstGeom prst="rect">
            <a:avLst/>
          </a:prstGeom>
          <a:noFill/>
          <a:ln/>
        </p:spPr>
        <p:txBody>
          <a:bodyPr wrap="square" lIns="0" tIns="0" rIns="0" bIns="0" rtlCol="0" anchor="ctr"/>
          <a:lstStyle/>
          <a:p>
            <a:pPr indent="0" marL="0">
              <a:lnSpc>
                <a:spcPts val="1300"/>
              </a:lnSpc>
              <a:buNone/>
            </a:pPr>
            <a:r>
              <a:rPr lang="en-US" sz="1000" dirty="0">
                <a:solidFill>
                  <a:srgbClr val="E8EEF5"/>
                </a:solidFill>
                <a:latin typeface="Calibri" pitchFamily="34" charset="0"/>
                <a:ea typeface="Calibri" pitchFamily="34" charset="-122"/>
                <a:cs typeface="Calibri" pitchFamily="34" charset="-120"/>
              </a:rPr>
              <a:t>Executed with audit row + Cat tracking ID; failures logged once, auto-skipped after</a:t>
            </a:r>
            <a:endParaRPr lang="en-US" sz="1000" dirty="0"/>
          </a:p>
        </p:txBody>
      </p:sp>
      <p:sp>
        <p:nvSpPr>
          <p:cNvPr id="27" name="Shape 24"/>
          <p:cNvSpPr/>
          <p:nvPr/>
        </p:nvSpPr>
        <p:spPr>
          <a:xfrm>
            <a:off x="3429000" y="3931920"/>
            <a:ext cx="2514600" cy="1417320"/>
          </a:xfrm>
          <a:prstGeom prst="roundRect">
            <a:avLst>
              <a:gd name="adj" fmla="val 5161"/>
            </a:avLst>
          </a:prstGeom>
          <a:solidFill>
            <a:srgbClr val="16283F"/>
          </a:solidFill>
          <a:ln w="12700">
            <a:solidFill>
              <a:srgbClr val="223650"/>
            </a:solidFill>
            <a:prstDash val="solid"/>
          </a:ln>
        </p:spPr>
      </p:sp>
      <p:sp>
        <p:nvSpPr>
          <p:cNvPr id="28" name="Text 25"/>
          <p:cNvSpPr/>
          <p:nvPr/>
        </p:nvSpPr>
        <p:spPr>
          <a:xfrm>
            <a:off x="3557016" y="4023360"/>
            <a:ext cx="2258568" cy="457200"/>
          </a:xfrm>
          <a:prstGeom prst="rect">
            <a:avLst/>
          </a:prstGeom>
          <a:noFill/>
          <a:ln/>
        </p:spPr>
        <p:txBody>
          <a:bodyPr wrap="square" lIns="0" tIns="0" rIns="0" bIns="0" rtlCol="0" anchor="ctr"/>
          <a:lstStyle/>
          <a:p>
            <a:pPr indent="0" marL="0">
              <a:lnSpc>
                <a:spcPts val="1400"/>
              </a:lnSpc>
              <a:buNone/>
            </a:pPr>
            <a:r>
              <a:rPr lang="en-US" sz="1250" b="1" dirty="0">
                <a:solidFill>
                  <a:srgbClr val="FF9F1C"/>
                </a:solidFill>
                <a:latin typeface="Calibri" pitchFamily="34" charset="0"/>
                <a:ea typeface="Calibri" pitchFamily="34" charset="-122"/>
                <a:cs typeface="Calibri" pitchFamily="34" charset="-120"/>
              </a:rPr>
              <a:t>7 · Subscription</a:t>
            </a:r>
            <a:endParaRPr lang="en-US" sz="1250" dirty="0"/>
          </a:p>
        </p:txBody>
      </p:sp>
      <p:sp>
        <p:nvSpPr>
          <p:cNvPr id="29" name="Text 26"/>
          <p:cNvSpPr/>
          <p:nvPr/>
        </p:nvSpPr>
        <p:spPr>
          <a:xfrm>
            <a:off x="3557016" y="4480560"/>
            <a:ext cx="2258568" cy="822960"/>
          </a:xfrm>
          <a:prstGeom prst="rect">
            <a:avLst/>
          </a:prstGeom>
          <a:noFill/>
          <a:ln/>
        </p:spPr>
        <p:txBody>
          <a:bodyPr wrap="square" lIns="0" tIns="0" rIns="0" bIns="0" rtlCol="0" anchor="ctr"/>
          <a:lstStyle/>
          <a:p>
            <a:pPr indent="0" marL="0">
              <a:lnSpc>
                <a:spcPts val="1300"/>
              </a:lnSpc>
              <a:buNone/>
            </a:pPr>
            <a:r>
              <a:rPr lang="en-US" sz="1000" dirty="0">
                <a:solidFill>
                  <a:srgbClr val="E8EEF5"/>
                </a:solidFill>
                <a:latin typeface="Calibri" pitchFamily="34" charset="0"/>
                <a:ea typeface="Calibri" pitchFamily="34" charset="-122"/>
                <a:cs typeface="Calibri" pitchFamily="34" charset="-120"/>
              </a:rPr>
              <a:t>Lindsay registers Product Link in the dealer portal — the manual step that sets the pace</a:t>
            </a:r>
            <a:endParaRPr lang="en-US" sz="1000" dirty="0"/>
          </a:p>
        </p:txBody>
      </p:sp>
      <p:sp>
        <p:nvSpPr>
          <p:cNvPr id="30" name="Shape 27"/>
          <p:cNvSpPr/>
          <p:nvPr/>
        </p:nvSpPr>
        <p:spPr>
          <a:xfrm>
            <a:off x="548640" y="3931920"/>
            <a:ext cx="2514600" cy="1417320"/>
          </a:xfrm>
          <a:prstGeom prst="roundRect">
            <a:avLst>
              <a:gd name="adj" fmla="val 5161"/>
            </a:avLst>
          </a:prstGeom>
          <a:solidFill>
            <a:srgbClr val="16283F"/>
          </a:solidFill>
          <a:ln w="12700">
            <a:solidFill>
              <a:srgbClr val="223650"/>
            </a:solidFill>
            <a:prstDash val="solid"/>
          </a:ln>
        </p:spPr>
      </p:sp>
      <p:sp>
        <p:nvSpPr>
          <p:cNvPr id="31" name="Text 28"/>
          <p:cNvSpPr/>
          <p:nvPr/>
        </p:nvSpPr>
        <p:spPr>
          <a:xfrm>
            <a:off x="676656" y="4023360"/>
            <a:ext cx="2258568" cy="457200"/>
          </a:xfrm>
          <a:prstGeom prst="rect">
            <a:avLst/>
          </a:prstGeom>
          <a:noFill/>
          <a:ln/>
        </p:spPr>
        <p:txBody>
          <a:bodyPr wrap="square" lIns="0" tIns="0" rIns="0" bIns="0" rtlCol="0" anchor="ctr"/>
          <a:lstStyle/>
          <a:p>
            <a:pPr indent="0" marL="0">
              <a:lnSpc>
                <a:spcPts val="1400"/>
              </a:lnSpc>
              <a:buNone/>
            </a:pPr>
            <a:r>
              <a:rPr lang="en-US" sz="1250" b="1" dirty="0">
                <a:solidFill>
                  <a:srgbClr val="34C759"/>
                </a:solidFill>
                <a:latin typeface="Calibri" pitchFamily="34" charset="0"/>
                <a:ea typeface="Calibri" pitchFamily="34" charset="-122"/>
                <a:cs typeface="Calibri" pitchFamily="34" charset="-120"/>
              </a:rPr>
              <a:t>8 · Sweep verifies</a:t>
            </a:r>
            <a:endParaRPr lang="en-US" sz="1250" dirty="0"/>
          </a:p>
        </p:txBody>
      </p:sp>
      <p:sp>
        <p:nvSpPr>
          <p:cNvPr id="32" name="Text 29"/>
          <p:cNvSpPr/>
          <p:nvPr/>
        </p:nvSpPr>
        <p:spPr>
          <a:xfrm>
            <a:off x="676656" y="4480560"/>
            <a:ext cx="2258568" cy="822960"/>
          </a:xfrm>
          <a:prstGeom prst="rect">
            <a:avLst/>
          </a:prstGeom>
          <a:noFill/>
          <a:ln/>
        </p:spPr>
        <p:txBody>
          <a:bodyPr wrap="square" lIns="0" tIns="0" rIns="0" bIns="0" rtlCol="0" anchor="ctr"/>
          <a:lstStyle/>
          <a:p>
            <a:pPr indent="0" marL="0">
              <a:lnSpc>
                <a:spcPts val="1300"/>
              </a:lnSpc>
              <a:buNone/>
            </a:pPr>
            <a:r>
              <a:rPr lang="en-US" sz="1000" dirty="0">
                <a:solidFill>
                  <a:srgbClr val="E8EEF5"/>
                </a:solidFill>
                <a:latin typeface="Calibri" pitchFamily="34" charset="0"/>
                <a:ea typeface="Calibri" pitchFamily="34" charset="-122"/>
                <a:cs typeface="Calibri" pitchFamily="34" charset="-120"/>
              </a:rPr>
              <a:t>Machine lands DONE_INVENTORY on the dashboard — loop closed</a:t>
            </a:r>
            <a:endParaRPr lang="en-US" sz="1000" dirty="0"/>
          </a:p>
        </p:txBody>
      </p:sp>
      <p:sp>
        <p:nvSpPr>
          <p:cNvPr id="33" name="Shape 30"/>
          <p:cNvSpPr/>
          <p:nvPr/>
        </p:nvSpPr>
        <p:spPr>
          <a:xfrm>
            <a:off x="8887968" y="4526280"/>
            <a:ext cx="292608" cy="237744"/>
          </a:xfrm>
          <a:prstGeom prst="leftArrow">
            <a:avLst/>
          </a:prstGeom>
          <a:solidFill>
            <a:srgbClr val="9FB3C8"/>
          </a:solidFill>
          <a:ln/>
        </p:spPr>
      </p:sp>
      <p:sp>
        <p:nvSpPr>
          <p:cNvPr id="34" name="Shape 31"/>
          <p:cNvSpPr/>
          <p:nvPr/>
        </p:nvSpPr>
        <p:spPr>
          <a:xfrm>
            <a:off x="6007608" y="4526280"/>
            <a:ext cx="292608" cy="237744"/>
          </a:xfrm>
          <a:prstGeom prst="leftArrow">
            <a:avLst/>
          </a:prstGeom>
          <a:solidFill>
            <a:srgbClr val="9FB3C8"/>
          </a:solidFill>
          <a:ln/>
        </p:spPr>
      </p:sp>
      <p:sp>
        <p:nvSpPr>
          <p:cNvPr id="35" name="Shape 32"/>
          <p:cNvSpPr/>
          <p:nvPr/>
        </p:nvSpPr>
        <p:spPr>
          <a:xfrm>
            <a:off x="3127248" y="4526280"/>
            <a:ext cx="292608" cy="237744"/>
          </a:xfrm>
          <a:prstGeom prst="leftArrow">
            <a:avLst/>
          </a:prstGeom>
          <a:solidFill>
            <a:srgbClr val="9FB3C8"/>
          </a:solidFill>
          <a:ln/>
        </p:spPr>
      </p:sp>
      <p:sp>
        <p:nvSpPr>
          <p:cNvPr id="36" name="Shape 33"/>
          <p:cNvSpPr/>
          <p:nvPr/>
        </p:nvSpPr>
        <p:spPr>
          <a:xfrm>
            <a:off x="548640" y="5623560"/>
            <a:ext cx="11064240" cy="822960"/>
          </a:xfrm>
          <a:prstGeom prst="roundRect">
            <a:avLst>
              <a:gd name="adj" fmla="val 8889"/>
            </a:avLst>
          </a:prstGeom>
          <a:solidFill>
            <a:srgbClr val="12314A"/>
          </a:solidFill>
          <a:ln w="12700">
            <a:solidFill>
              <a:srgbClr val="223650"/>
            </a:solidFill>
            <a:prstDash val="solid"/>
          </a:ln>
        </p:spPr>
      </p:sp>
      <p:sp>
        <p:nvSpPr>
          <p:cNvPr id="37" name="Text 34"/>
          <p:cNvSpPr/>
          <p:nvPr/>
        </p:nvSpPr>
        <p:spPr>
          <a:xfrm>
            <a:off x="822960" y="5779008"/>
            <a:ext cx="10561320" cy="548640"/>
          </a:xfrm>
          <a:prstGeom prst="rect">
            <a:avLst/>
          </a:prstGeom>
          <a:noFill/>
          <a:ln/>
        </p:spPr>
        <p:txBody>
          <a:bodyPr wrap="square" lIns="0" tIns="0" rIns="0" bIns="0" rtlCol="0" anchor="ctr"/>
          <a:lstStyle/>
          <a:p>
            <a:pPr indent="0" marL="0">
              <a:buNone/>
            </a:pPr>
            <a:r>
              <a:rPr lang="en-US" sz="1400" b="1" dirty="0">
                <a:solidFill>
                  <a:srgbClr val="34C759"/>
                </a:solidFill>
                <a:latin typeface="Calibri" pitchFamily="34" charset="0"/>
                <a:ea typeface="Calibri" pitchFamily="34" charset="-122"/>
                <a:cs typeface="Calibri" pitchFamily="34" charset="-120"/>
              </a:rPr>
              <a:t>Live since August 10.  </a:t>
            </a:r>
            <a:pPr indent="0" marL="0">
              <a:buNone/>
            </a:pPr>
            <a:r>
              <a:rPr lang="en-US" sz="1400" dirty="0">
                <a:solidFill>
                  <a:srgbClr val="E8EEF5"/>
                </a:solidFill>
                <a:latin typeface="Calibri" pitchFamily="34" charset="0"/>
                <a:ea typeface="Calibri" pitchFamily="34" charset="-122"/>
                <a:cs typeface="Calibri" pitchFamily="34" charset="-120"/>
              </a:rPr>
              <a:t>100 machines through this pipe in week one (50 Monday + 50 Wednesday) — capped on purpose: step 7 is a person.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300" kern="0" dirty="0">
                <a:solidFill>
                  <a:srgbClr val="FFC72C"/>
                </a:solidFill>
                <a:latin typeface="Calibri" pitchFamily="34" charset="0"/>
                <a:ea typeface="Calibri" pitchFamily="34" charset="-122"/>
                <a:cs typeface="Calibri" pitchFamily="34" charset="-120"/>
              </a:rPr>
              <a:t>ACT · FLOW</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E8EEF5"/>
                </a:solidFill>
                <a:latin typeface="Calibri" pitchFamily="34" charset="0"/>
                <a:ea typeface="Calibri" pitchFamily="34" charset="-122"/>
                <a:cs typeface="Calibri" pitchFamily="34" charset="-120"/>
              </a:rPr>
              <a:t>Phase two flow: sold machine → its buyer (designed)</a:t>
            </a:r>
            <a:endParaRPr lang="en-US" sz="3200" dirty="0"/>
          </a:p>
        </p:txBody>
      </p:sp>
      <p:sp>
        <p:nvSpPr>
          <p:cNvPr id="5" name="Shape 2"/>
          <p:cNvSpPr/>
          <p:nvPr/>
        </p:nvSpPr>
        <p:spPr>
          <a:xfrm>
            <a:off x="548640" y="2377440"/>
            <a:ext cx="2468880" cy="1554480"/>
          </a:xfrm>
          <a:prstGeom prst="roundRect">
            <a:avLst>
              <a:gd name="adj" fmla="val 4706"/>
            </a:avLst>
          </a:prstGeom>
          <a:solidFill>
            <a:srgbClr val="16283F"/>
          </a:solidFill>
          <a:ln w="12700">
            <a:solidFill>
              <a:srgbClr val="223650"/>
            </a:solidFill>
            <a:prstDash val="solid"/>
          </a:ln>
        </p:spPr>
      </p:sp>
      <p:sp>
        <p:nvSpPr>
          <p:cNvPr id="6" name="Text 3"/>
          <p:cNvSpPr/>
          <p:nvPr/>
        </p:nvSpPr>
        <p:spPr>
          <a:xfrm>
            <a:off x="694944" y="2487168"/>
            <a:ext cx="2176272" cy="502920"/>
          </a:xfrm>
          <a:prstGeom prst="rect">
            <a:avLst/>
          </a:prstGeom>
          <a:noFill/>
          <a:ln/>
        </p:spPr>
        <p:txBody>
          <a:bodyPr wrap="square" lIns="0" tIns="0" rIns="0" bIns="0" rtlCol="0" anchor="ctr"/>
          <a:lstStyle/>
          <a:p>
            <a:pPr indent="0" marL="0">
              <a:lnSpc>
                <a:spcPts val="1500"/>
              </a:lnSpc>
              <a:buNone/>
            </a:pPr>
            <a:r>
              <a:rPr lang="en-US" sz="1300" b="1" dirty="0">
                <a:solidFill>
                  <a:srgbClr val="4DA3FF"/>
                </a:solidFill>
                <a:latin typeface="Calibri" pitchFamily="34" charset="0"/>
                <a:ea typeface="Calibri" pitchFamily="34" charset="-122"/>
                <a:cs typeface="Calibri" pitchFamily="34" charset="-120"/>
              </a:rPr>
              <a:t>1 · Machine sells</a:t>
            </a:r>
            <a:endParaRPr lang="en-US" sz="1300" dirty="0"/>
          </a:p>
        </p:txBody>
      </p:sp>
      <p:sp>
        <p:nvSpPr>
          <p:cNvPr id="7" name="Text 4"/>
          <p:cNvSpPr/>
          <p:nvPr/>
        </p:nvSpPr>
        <p:spPr>
          <a:xfrm>
            <a:off x="694944" y="2999232"/>
            <a:ext cx="2176272" cy="822960"/>
          </a:xfrm>
          <a:prstGeom prst="rect">
            <a:avLst/>
          </a:prstGeom>
          <a:noFill/>
          <a:ln/>
        </p:spPr>
        <p:txBody>
          <a:bodyPr wrap="square" lIns="0" tIns="0" rIns="0" bIns="0" rtlCol="0" anchor="ctr"/>
          <a:lstStyle/>
          <a:p>
            <a:pPr indent="0" marL="0">
              <a:lnSpc>
                <a:spcPts val="1400"/>
              </a:lnSpc>
              <a:buNone/>
            </a:pPr>
            <a:r>
              <a:rPr lang="en-US" sz="1050" dirty="0">
                <a:solidFill>
                  <a:srgbClr val="E8EEF5"/>
                </a:solidFill>
                <a:latin typeface="Calibri" pitchFamily="34" charset="0"/>
                <a:ea typeface="Calibri" pitchFamily="34" charset="-122"/>
                <a:cs typeface="Calibri" pitchFamily="34" charset="-120"/>
              </a:rPr>
              <a:t>A customer number appears on an inventory machine in NAXT</a:t>
            </a:r>
            <a:endParaRPr lang="en-US" sz="1050" dirty="0"/>
          </a:p>
        </p:txBody>
      </p:sp>
      <p:sp>
        <p:nvSpPr>
          <p:cNvPr id="8" name="Shape 5"/>
          <p:cNvSpPr/>
          <p:nvPr/>
        </p:nvSpPr>
        <p:spPr>
          <a:xfrm>
            <a:off x="3429000" y="2377440"/>
            <a:ext cx="2468880" cy="1554480"/>
          </a:xfrm>
          <a:prstGeom prst="roundRect">
            <a:avLst>
              <a:gd name="adj" fmla="val 4706"/>
            </a:avLst>
          </a:prstGeom>
          <a:solidFill>
            <a:srgbClr val="16283F"/>
          </a:solidFill>
          <a:ln w="12700">
            <a:solidFill>
              <a:srgbClr val="223650"/>
            </a:solidFill>
            <a:prstDash val="solid"/>
          </a:ln>
        </p:spPr>
      </p:sp>
      <p:sp>
        <p:nvSpPr>
          <p:cNvPr id="9" name="Text 6"/>
          <p:cNvSpPr/>
          <p:nvPr/>
        </p:nvSpPr>
        <p:spPr>
          <a:xfrm>
            <a:off x="3575304" y="2487168"/>
            <a:ext cx="2176272" cy="502920"/>
          </a:xfrm>
          <a:prstGeom prst="rect">
            <a:avLst/>
          </a:prstGeom>
          <a:noFill/>
          <a:ln/>
        </p:spPr>
        <p:txBody>
          <a:bodyPr wrap="square" lIns="0" tIns="0" rIns="0" bIns="0" rtlCol="0" anchor="ctr"/>
          <a:lstStyle/>
          <a:p>
            <a:pPr indent="0" marL="0">
              <a:lnSpc>
                <a:spcPts val="1500"/>
              </a:lnSpc>
              <a:buNone/>
            </a:pPr>
            <a:r>
              <a:rPr lang="en-US" sz="1300" b="1" dirty="0">
                <a:solidFill>
                  <a:srgbClr val="FFC72C"/>
                </a:solidFill>
                <a:latin typeface="Calibri" pitchFamily="34" charset="0"/>
                <a:ea typeface="Calibri" pitchFamily="34" charset="-122"/>
                <a:cs typeface="Calibri" pitchFamily="34" charset="-120"/>
              </a:rPr>
              <a:t>2 · Dashboard flags it</a:t>
            </a:r>
            <a:endParaRPr lang="en-US" sz="1300" dirty="0"/>
          </a:p>
        </p:txBody>
      </p:sp>
      <p:sp>
        <p:nvSpPr>
          <p:cNvPr id="10" name="Text 7"/>
          <p:cNvSpPr/>
          <p:nvPr/>
        </p:nvSpPr>
        <p:spPr>
          <a:xfrm>
            <a:off x="3575304" y="2999232"/>
            <a:ext cx="2176272" cy="822960"/>
          </a:xfrm>
          <a:prstGeom prst="rect">
            <a:avLst/>
          </a:prstGeom>
          <a:noFill/>
          <a:ln/>
        </p:spPr>
        <p:txBody>
          <a:bodyPr wrap="square" lIns="0" tIns="0" rIns="0" bIns="0" rtlCol="0" anchor="ctr"/>
          <a:lstStyle/>
          <a:p>
            <a:pPr indent="0" marL="0">
              <a:lnSpc>
                <a:spcPts val="1400"/>
              </a:lnSpc>
              <a:buNone/>
            </a:pPr>
            <a:r>
              <a:rPr lang="en-US" sz="1050" dirty="0">
                <a:solidFill>
                  <a:srgbClr val="E8EEF5"/>
                </a:solidFill>
                <a:latin typeface="Calibri" pitchFamily="34" charset="0"/>
                <a:ea typeface="Calibri" pitchFamily="34" charset="-122"/>
                <a:cs typeface="Calibri" pitchFamily="34" charset="-120"/>
              </a:rPr>
              <a:t>P3_INV_TO_CUSTOMER — caught by the daily sweep. 41 machines on this list today</a:t>
            </a:r>
            <a:endParaRPr lang="en-US" sz="1050" dirty="0"/>
          </a:p>
        </p:txBody>
      </p:sp>
      <p:sp>
        <p:nvSpPr>
          <p:cNvPr id="11" name="Shape 8"/>
          <p:cNvSpPr/>
          <p:nvPr/>
        </p:nvSpPr>
        <p:spPr>
          <a:xfrm>
            <a:off x="6309360" y="2377440"/>
            <a:ext cx="2468880" cy="1554480"/>
          </a:xfrm>
          <a:prstGeom prst="roundRect">
            <a:avLst>
              <a:gd name="adj" fmla="val 4706"/>
            </a:avLst>
          </a:prstGeom>
          <a:solidFill>
            <a:srgbClr val="16283F"/>
          </a:solidFill>
          <a:ln w="12700">
            <a:solidFill>
              <a:srgbClr val="223650"/>
            </a:solidFill>
            <a:prstDash val="solid"/>
          </a:ln>
        </p:spPr>
      </p:sp>
      <p:sp>
        <p:nvSpPr>
          <p:cNvPr id="12" name="Text 9"/>
          <p:cNvSpPr/>
          <p:nvPr/>
        </p:nvSpPr>
        <p:spPr>
          <a:xfrm>
            <a:off x="6455664" y="2487168"/>
            <a:ext cx="2176272" cy="502920"/>
          </a:xfrm>
          <a:prstGeom prst="rect">
            <a:avLst/>
          </a:prstGeom>
          <a:noFill/>
          <a:ln/>
        </p:spPr>
        <p:txBody>
          <a:bodyPr wrap="square" lIns="0" tIns="0" rIns="0" bIns="0" rtlCol="0" anchor="ctr"/>
          <a:lstStyle/>
          <a:p>
            <a:pPr indent="0" marL="0">
              <a:lnSpc>
                <a:spcPts val="1500"/>
              </a:lnSpc>
              <a:buNone/>
            </a:pPr>
            <a:r>
              <a:rPr lang="en-US" sz="1300" b="1" dirty="0">
                <a:solidFill>
                  <a:srgbClr val="2EC4B6"/>
                </a:solidFill>
                <a:latin typeface="Calibri" pitchFamily="34" charset="0"/>
                <a:ea typeface="Calibri" pitchFamily="34" charset="-122"/>
                <a:cs typeface="Calibri" pitchFamily="34" charset="-120"/>
              </a:rPr>
              <a:t>3 · CCID check</a:t>
            </a:r>
            <a:endParaRPr lang="en-US" sz="1300" dirty="0"/>
          </a:p>
        </p:txBody>
      </p:sp>
      <p:sp>
        <p:nvSpPr>
          <p:cNvPr id="13" name="Text 10"/>
          <p:cNvSpPr/>
          <p:nvPr/>
        </p:nvSpPr>
        <p:spPr>
          <a:xfrm>
            <a:off x="6455664" y="2999232"/>
            <a:ext cx="2176272" cy="822960"/>
          </a:xfrm>
          <a:prstGeom prst="rect">
            <a:avLst/>
          </a:prstGeom>
          <a:noFill/>
          <a:ln/>
        </p:spPr>
        <p:txBody>
          <a:bodyPr wrap="square" lIns="0" tIns="0" rIns="0" bIns="0" rtlCol="0" anchor="ctr"/>
          <a:lstStyle/>
          <a:p>
            <a:pPr indent="0" marL="0">
              <a:lnSpc>
                <a:spcPts val="1400"/>
              </a:lnSpc>
              <a:buNone/>
            </a:pPr>
            <a:r>
              <a:rPr lang="en-US" sz="1050" dirty="0">
                <a:solidFill>
                  <a:srgbClr val="E8EEF5"/>
                </a:solidFill>
                <a:latin typeface="Calibri" pitchFamily="34" charset="0"/>
                <a:ea typeface="Calibri" pitchFamily="34" charset="-122"/>
                <a:cs typeface="Calibri" pitchFamily="34" charset="-120"/>
              </a:rPr>
              <a:t>Cat's customer master, shared into Snowflake, answers: does the buyer resolve to a CCID?</a:t>
            </a:r>
            <a:endParaRPr lang="en-US" sz="1050" dirty="0"/>
          </a:p>
        </p:txBody>
      </p:sp>
      <p:sp>
        <p:nvSpPr>
          <p:cNvPr id="14" name="Shape 11"/>
          <p:cNvSpPr/>
          <p:nvPr/>
        </p:nvSpPr>
        <p:spPr>
          <a:xfrm>
            <a:off x="3127248" y="3035808"/>
            <a:ext cx="292608" cy="237744"/>
          </a:xfrm>
          <a:prstGeom prst="rightArrow">
            <a:avLst/>
          </a:prstGeom>
          <a:solidFill>
            <a:srgbClr val="9FB3C8"/>
          </a:solidFill>
          <a:ln/>
        </p:spPr>
      </p:sp>
      <p:sp>
        <p:nvSpPr>
          <p:cNvPr id="15" name="Shape 12"/>
          <p:cNvSpPr/>
          <p:nvPr/>
        </p:nvSpPr>
        <p:spPr>
          <a:xfrm>
            <a:off x="6007608" y="3035808"/>
            <a:ext cx="292608" cy="237744"/>
          </a:xfrm>
          <a:prstGeom prst="rightArrow">
            <a:avLst/>
          </a:prstGeom>
          <a:solidFill>
            <a:srgbClr val="9FB3C8"/>
          </a:solidFill>
          <a:ln/>
        </p:spPr>
      </p:sp>
      <p:sp>
        <p:nvSpPr>
          <p:cNvPr id="16" name="Shape 13"/>
          <p:cNvSpPr/>
          <p:nvPr/>
        </p:nvSpPr>
        <p:spPr>
          <a:xfrm flipV="1">
            <a:off x="8851392" y="2487168"/>
            <a:ext cx="457200" cy="566928"/>
          </a:xfrm>
          <a:prstGeom prst="line">
            <a:avLst/>
          </a:prstGeom>
          <a:noFill/>
          <a:ln w="28575">
            <a:solidFill>
              <a:srgbClr val="34C759"/>
            </a:solidFill>
            <a:prstDash val="solid"/>
            <a:tailEnd type="triangle"/>
          </a:ln>
        </p:spPr>
      </p:sp>
      <p:sp>
        <p:nvSpPr>
          <p:cNvPr id="17" name="Shape 14"/>
          <p:cNvSpPr/>
          <p:nvPr/>
        </p:nvSpPr>
        <p:spPr>
          <a:xfrm>
            <a:off x="8851392" y="3246120"/>
            <a:ext cx="457200" cy="1371600"/>
          </a:xfrm>
          <a:prstGeom prst="line">
            <a:avLst/>
          </a:prstGeom>
          <a:noFill/>
          <a:ln w="28575">
            <a:solidFill>
              <a:srgbClr val="FF9F1C"/>
            </a:solidFill>
            <a:prstDash val="solid"/>
            <a:tailEnd type="triangle"/>
          </a:ln>
        </p:spPr>
      </p:sp>
      <p:sp>
        <p:nvSpPr>
          <p:cNvPr id="18" name="Text 15"/>
          <p:cNvSpPr/>
          <p:nvPr/>
        </p:nvSpPr>
        <p:spPr>
          <a:xfrm>
            <a:off x="8613648" y="2084832"/>
            <a:ext cx="1188720" cy="274320"/>
          </a:xfrm>
          <a:prstGeom prst="rect">
            <a:avLst/>
          </a:prstGeom>
          <a:noFill/>
          <a:ln/>
        </p:spPr>
        <p:txBody>
          <a:bodyPr wrap="square" lIns="0" tIns="0" rIns="0" bIns="0" rtlCol="0" anchor="ctr"/>
          <a:lstStyle/>
          <a:p>
            <a:pPr indent="0" marL="0">
              <a:buNone/>
            </a:pPr>
            <a:r>
              <a:rPr lang="en-US" sz="1000" b="1" dirty="0">
                <a:solidFill>
                  <a:srgbClr val="34C759"/>
                </a:solidFill>
                <a:latin typeface="Calibri" pitchFamily="34" charset="0"/>
                <a:ea typeface="Calibri" pitchFamily="34" charset="-122"/>
                <a:cs typeface="Calibri" pitchFamily="34" charset="-120"/>
              </a:rPr>
              <a:t>CCID exists</a:t>
            </a:r>
            <a:endParaRPr lang="en-US" sz="1000" dirty="0"/>
          </a:p>
        </p:txBody>
      </p:sp>
      <p:sp>
        <p:nvSpPr>
          <p:cNvPr id="19" name="Text 16"/>
          <p:cNvSpPr/>
          <p:nvPr/>
        </p:nvSpPr>
        <p:spPr>
          <a:xfrm>
            <a:off x="8686800" y="4069080"/>
            <a:ext cx="1005840" cy="274320"/>
          </a:xfrm>
          <a:prstGeom prst="rect">
            <a:avLst/>
          </a:prstGeom>
          <a:noFill/>
          <a:ln/>
        </p:spPr>
        <p:txBody>
          <a:bodyPr wrap="square" lIns="0" tIns="0" rIns="0" bIns="0" rtlCol="0" anchor="ctr"/>
          <a:lstStyle/>
          <a:p>
            <a:pPr indent="0" marL="0">
              <a:buNone/>
            </a:pPr>
            <a:r>
              <a:rPr lang="en-US" sz="1000" b="1" dirty="0">
                <a:solidFill>
                  <a:srgbClr val="FF9F1C"/>
                </a:solidFill>
                <a:latin typeface="Calibri" pitchFamily="34" charset="0"/>
                <a:ea typeface="Calibri" pitchFamily="34" charset="-122"/>
                <a:cs typeface="Calibri" pitchFamily="34" charset="-120"/>
              </a:rPr>
              <a:t>no CCID</a:t>
            </a:r>
            <a:endParaRPr lang="en-US" sz="1000" dirty="0"/>
          </a:p>
        </p:txBody>
      </p:sp>
      <p:sp>
        <p:nvSpPr>
          <p:cNvPr id="20" name="Shape 17"/>
          <p:cNvSpPr/>
          <p:nvPr/>
        </p:nvSpPr>
        <p:spPr>
          <a:xfrm>
            <a:off x="9372600" y="1645920"/>
            <a:ext cx="2286000" cy="1874520"/>
          </a:xfrm>
          <a:prstGeom prst="roundRect">
            <a:avLst>
              <a:gd name="adj" fmla="val 3902"/>
            </a:avLst>
          </a:prstGeom>
          <a:solidFill>
            <a:srgbClr val="16283F"/>
          </a:solidFill>
          <a:ln w="12700">
            <a:solidFill>
              <a:srgbClr val="223650"/>
            </a:solidFill>
            <a:prstDash val="solid"/>
          </a:ln>
        </p:spPr>
      </p:sp>
      <p:sp>
        <p:nvSpPr>
          <p:cNvPr id="21" name="Text 18"/>
          <p:cNvSpPr/>
          <p:nvPr/>
        </p:nvSpPr>
        <p:spPr>
          <a:xfrm>
            <a:off x="9518904" y="1755648"/>
            <a:ext cx="1993392" cy="502920"/>
          </a:xfrm>
          <a:prstGeom prst="rect">
            <a:avLst/>
          </a:prstGeom>
          <a:noFill/>
          <a:ln/>
        </p:spPr>
        <p:txBody>
          <a:bodyPr wrap="square" lIns="0" tIns="0" rIns="0" bIns="0" rtlCol="0" anchor="ctr"/>
          <a:lstStyle/>
          <a:p>
            <a:pPr indent="0" marL="0">
              <a:lnSpc>
                <a:spcPts val="1500"/>
              </a:lnSpc>
              <a:buNone/>
            </a:pPr>
            <a:r>
              <a:rPr lang="en-US" sz="1300" b="1" dirty="0">
                <a:solidFill>
                  <a:srgbClr val="34C759"/>
                </a:solidFill>
                <a:latin typeface="Calibri" pitchFamily="34" charset="0"/>
                <a:ea typeface="Calibri" pitchFamily="34" charset="-122"/>
                <a:cs typeface="Calibri" pitchFamily="34" charset="-120"/>
              </a:rPr>
              <a:t>4a · Automated move</a:t>
            </a:r>
            <a:endParaRPr lang="en-US" sz="1300" dirty="0"/>
          </a:p>
        </p:txBody>
      </p:sp>
      <p:sp>
        <p:nvSpPr>
          <p:cNvPr id="22" name="Text 19"/>
          <p:cNvSpPr/>
          <p:nvPr/>
        </p:nvSpPr>
        <p:spPr>
          <a:xfrm>
            <a:off x="9518904" y="2267712"/>
            <a:ext cx="1993392" cy="1143000"/>
          </a:xfrm>
          <a:prstGeom prst="rect">
            <a:avLst/>
          </a:prstGeom>
          <a:noFill/>
          <a:ln/>
        </p:spPr>
        <p:txBody>
          <a:bodyPr wrap="square" lIns="0" tIns="0" rIns="0" bIns="0" rtlCol="0" anchor="ctr"/>
          <a:lstStyle/>
          <a:p>
            <a:pPr indent="0" marL="0">
              <a:lnSpc>
                <a:spcPts val="1400"/>
              </a:lnSpc>
              <a:buNone/>
            </a:pPr>
            <a:r>
              <a:rPr lang="en-US" sz="1050" dirty="0">
                <a:solidFill>
                  <a:srgbClr val="E8EEF5"/>
                </a:solidFill>
                <a:latin typeface="Calibri" pitchFamily="34" charset="0"/>
                <a:ea typeface="Calibri" pitchFamily="34" charset="-122"/>
                <a:cs typeface="Calibri" pitchFamily="34" charset="-120"/>
              </a:rPr>
              <a:t>Reassign INT00495 → the buyer's account. Old record auto-expires. One audit row, one API call.</a:t>
            </a:r>
            <a:endParaRPr lang="en-US" sz="1050" dirty="0"/>
          </a:p>
        </p:txBody>
      </p:sp>
      <p:sp>
        <p:nvSpPr>
          <p:cNvPr id="23" name="Shape 20"/>
          <p:cNvSpPr/>
          <p:nvPr/>
        </p:nvSpPr>
        <p:spPr>
          <a:xfrm>
            <a:off x="9372600" y="3977640"/>
            <a:ext cx="2286000" cy="1874520"/>
          </a:xfrm>
          <a:prstGeom prst="roundRect">
            <a:avLst>
              <a:gd name="adj" fmla="val 3902"/>
            </a:avLst>
          </a:prstGeom>
          <a:solidFill>
            <a:srgbClr val="16283F"/>
          </a:solidFill>
          <a:ln w="12700">
            <a:solidFill>
              <a:srgbClr val="223650"/>
            </a:solidFill>
            <a:prstDash val="solid"/>
          </a:ln>
        </p:spPr>
      </p:sp>
      <p:sp>
        <p:nvSpPr>
          <p:cNvPr id="24" name="Text 21"/>
          <p:cNvSpPr/>
          <p:nvPr/>
        </p:nvSpPr>
        <p:spPr>
          <a:xfrm>
            <a:off x="9518904" y="4087368"/>
            <a:ext cx="1993392" cy="502920"/>
          </a:xfrm>
          <a:prstGeom prst="rect">
            <a:avLst/>
          </a:prstGeom>
          <a:noFill/>
          <a:ln/>
        </p:spPr>
        <p:txBody>
          <a:bodyPr wrap="square" lIns="0" tIns="0" rIns="0" bIns="0" rtlCol="0" anchor="ctr"/>
          <a:lstStyle/>
          <a:p>
            <a:pPr indent="0" marL="0">
              <a:lnSpc>
                <a:spcPts val="1500"/>
              </a:lnSpc>
              <a:buNone/>
            </a:pPr>
            <a:r>
              <a:rPr lang="en-US" sz="1300" b="1" dirty="0">
                <a:solidFill>
                  <a:srgbClr val="FF9F1C"/>
                </a:solidFill>
                <a:latin typeface="Calibri" pitchFamily="34" charset="0"/>
                <a:ea typeface="Calibri" pitchFamily="34" charset="-122"/>
                <a:cs typeface="Calibri" pitchFamily="34" charset="-120"/>
              </a:rPr>
              <a:t>4b · Human queue</a:t>
            </a:r>
            <a:endParaRPr lang="en-US" sz="1300" dirty="0"/>
          </a:p>
        </p:txBody>
      </p:sp>
      <p:sp>
        <p:nvSpPr>
          <p:cNvPr id="25" name="Text 22"/>
          <p:cNvSpPr/>
          <p:nvPr/>
        </p:nvSpPr>
        <p:spPr>
          <a:xfrm>
            <a:off x="9518904" y="4599432"/>
            <a:ext cx="1993392" cy="1143000"/>
          </a:xfrm>
          <a:prstGeom prst="rect">
            <a:avLst/>
          </a:prstGeom>
          <a:noFill/>
          <a:ln/>
        </p:spPr>
        <p:txBody>
          <a:bodyPr wrap="square" lIns="0" tIns="0" rIns="0" bIns="0" rtlCol="0" anchor="ctr"/>
          <a:lstStyle/>
          <a:p>
            <a:pPr indent="0" marL="0">
              <a:lnSpc>
                <a:spcPts val="1400"/>
              </a:lnSpc>
              <a:buNone/>
            </a:pPr>
            <a:r>
              <a:rPr lang="en-US" sz="1050" dirty="0">
                <a:solidFill>
                  <a:srgbClr val="E8EEF5"/>
                </a:solidFill>
                <a:latin typeface="Calibri" pitchFamily="34" charset="0"/>
                <a:ea typeface="Calibri" pitchFamily="34" charset="-122"/>
                <a:cs typeface="Calibri" pitchFamily="34" charset="-120"/>
              </a:rPr>
              <a:t>Customer Admin Tool creates the CCID first — then the move retries. No mid-flight failures.</a:t>
            </a:r>
            <a:endParaRPr lang="en-US" sz="1050" dirty="0"/>
          </a:p>
        </p:txBody>
      </p:sp>
      <p:sp>
        <p:nvSpPr>
          <p:cNvPr id="26" name="Shape 23"/>
          <p:cNvSpPr/>
          <p:nvPr/>
        </p:nvSpPr>
        <p:spPr>
          <a:xfrm>
            <a:off x="548640" y="5989320"/>
            <a:ext cx="8503920" cy="685800"/>
          </a:xfrm>
          <a:prstGeom prst="roundRect">
            <a:avLst>
              <a:gd name="adj" fmla="val 10667"/>
            </a:avLst>
          </a:prstGeom>
          <a:solidFill>
            <a:srgbClr val="12314A"/>
          </a:solidFill>
          <a:ln w="12700">
            <a:solidFill>
              <a:srgbClr val="223650"/>
            </a:solidFill>
            <a:prstDash val="solid"/>
          </a:ln>
        </p:spPr>
      </p:sp>
      <p:sp>
        <p:nvSpPr>
          <p:cNvPr id="27" name="Text 24"/>
          <p:cNvSpPr/>
          <p:nvPr/>
        </p:nvSpPr>
        <p:spPr>
          <a:xfrm>
            <a:off x="777240" y="6108192"/>
            <a:ext cx="8138160" cy="457200"/>
          </a:xfrm>
          <a:prstGeom prst="rect">
            <a:avLst/>
          </a:prstGeom>
          <a:noFill/>
          <a:ln/>
        </p:spPr>
        <p:txBody>
          <a:bodyPr wrap="square" lIns="0" tIns="0" rIns="0" bIns="0" rtlCol="0" anchor="ctr"/>
          <a:lstStyle/>
          <a:p>
            <a:pPr indent="0" marL="0">
              <a:buNone/>
            </a:pPr>
            <a:r>
              <a:rPr lang="en-US" sz="1250" b="1" dirty="0">
                <a:solidFill>
                  <a:srgbClr val="FFC72C"/>
                </a:solidFill>
                <a:latin typeface="Calibri" pitchFamily="34" charset="0"/>
                <a:ea typeface="Calibri" pitchFamily="34" charset="-122"/>
                <a:cs typeface="Calibri" pitchFamily="34" charset="-120"/>
              </a:rPr>
              <a:t>Until built &amp; approved:  </a:t>
            </a:r>
            <a:pPr indent="0" marL="0">
              <a:buNone/>
            </a:pPr>
            <a:r>
              <a:rPr lang="en-US" sz="1250" dirty="0">
                <a:solidFill>
                  <a:srgbClr val="E8EEF5"/>
                </a:solidFill>
                <a:latin typeface="Calibri" pitchFamily="34" charset="0"/>
                <a:ea typeface="Calibri" pitchFamily="34" charset="-122"/>
                <a:cs typeface="Calibri" pitchFamily="34" charset="-120"/>
              </a:rPr>
              <a:t>PDI email → Lindsay moves the machine by hand (~24 h). This flow replaces exactly that step.</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300" kern="0" dirty="0">
                <a:solidFill>
                  <a:srgbClr val="FFC72C"/>
                </a:solidFill>
                <a:latin typeface="Calibri" pitchFamily="34" charset="0"/>
                <a:ea typeface="Calibri" pitchFamily="34" charset="-122"/>
                <a:cs typeface="Calibri" pitchFamily="34" charset="-120"/>
              </a:rPr>
              <a:t>PROVE</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E8EEF5"/>
                </a:solidFill>
                <a:latin typeface="Calibri" pitchFamily="34" charset="0"/>
                <a:ea typeface="Calibri" pitchFamily="34" charset="-122"/>
                <a:cs typeface="Calibri" pitchFamily="34" charset="-120"/>
              </a:rPr>
              <a:t>CCAT_AUDIT: what we did, forever</a:t>
            </a:r>
            <a:endParaRPr lang="en-US" sz="3200" dirty="0"/>
          </a:p>
        </p:txBody>
      </p:sp>
      <p:sp>
        <p:nvSpPr>
          <p:cNvPr id="5" name="Shape 2"/>
          <p:cNvSpPr/>
          <p:nvPr/>
        </p:nvSpPr>
        <p:spPr>
          <a:xfrm>
            <a:off x="548640" y="1554480"/>
            <a:ext cx="7040880" cy="4480560"/>
          </a:xfrm>
          <a:prstGeom prst="roundRect">
            <a:avLst>
              <a:gd name="adj" fmla="val 1633"/>
            </a:avLst>
          </a:prstGeom>
          <a:solidFill>
            <a:srgbClr val="16283F"/>
          </a:solidFill>
          <a:ln w="12700">
            <a:solidFill>
              <a:srgbClr val="223650"/>
            </a:solidFill>
            <a:prstDash val="solid"/>
          </a:ln>
        </p:spPr>
      </p:sp>
      <p:sp>
        <p:nvSpPr>
          <p:cNvPr id="6" name="Text 3"/>
          <p:cNvSpPr/>
          <p:nvPr/>
        </p:nvSpPr>
        <p:spPr>
          <a:xfrm>
            <a:off x="868680" y="1828800"/>
            <a:ext cx="6309360" cy="365760"/>
          </a:xfrm>
          <a:prstGeom prst="rect">
            <a:avLst/>
          </a:prstGeom>
          <a:noFill/>
          <a:ln/>
        </p:spPr>
        <p:txBody>
          <a:bodyPr wrap="square" lIns="0" tIns="0" rIns="0" bIns="0" rtlCol="0" anchor="ctr"/>
          <a:lstStyle/>
          <a:p>
            <a:pPr indent="0" marL="0">
              <a:buNone/>
            </a:pPr>
            <a:r>
              <a:rPr lang="en-US" sz="1500" b="1" dirty="0">
                <a:solidFill>
                  <a:srgbClr val="E8EEF5"/>
                </a:solidFill>
                <a:latin typeface="Calibri" pitchFamily="34" charset="0"/>
                <a:ea typeface="Calibri" pitchFamily="34" charset="-122"/>
                <a:cs typeface="Calibri" pitchFamily="34" charset="-120"/>
              </a:rPr>
              <a:t>Every executed or failed action writes one row:</a:t>
            </a:r>
            <a:endParaRPr lang="en-US" sz="1500" dirty="0"/>
          </a:p>
        </p:txBody>
      </p:sp>
      <p:sp>
        <p:nvSpPr>
          <p:cNvPr id="7" name="Text 4"/>
          <p:cNvSpPr/>
          <p:nvPr/>
        </p:nvSpPr>
        <p:spPr>
          <a:xfrm>
            <a:off x="868680" y="2286000"/>
            <a:ext cx="6400800" cy="356616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400" dirty="0">
                <a:solidFill>
                  <a:srgbClr val="E8EEF5"/>
                </a:solidFill>
                <a:latin typeface="Calibri" pitchFamily="34" charset="0"/>
                <a:ea typeface="Calibri" pitchFamily="34" charset="-122"/>
                <a:cs typeface="Calibri" pitchFamily="34" charset="-120"/>
              </a:rPr>
              <a:t>What: action type, phase, machine, model, ownership type</a:t>
            </a:r>
            <a:endParaRPr lang="en-US" sz="1400" dirty="0"/>
          </a:p>
          <a:p>
            <a:pPr marL="342900" indent="-342900">
              <a:lnSpc>
                <a:spcPts val="1900"/>
              </a:lnSpc>
              <a:spcAft>
                <a:spcPts val="600"/>
              </a:spcAft>
              <a:buSzPct val="100000"/>
              <a:buChar char="•"/>
            </a:pPr>
            <a:r>
              <a:rPr lang="en-US" sz="1400" dirty="0">
                <a:solidFill>
                  <a:srgbClr val="E8EEF5"/>
                </a:solidFill>
                <a:latin typeface="Calibri" pitchFamily="34" charset="0"/>
                <a:ea typeface="Calibri" pitchFamily="34" charset="-122"/>
                <a:cs typeface="Calibri" pitchFamily="34" charset="-120"/>
              </a:rPr>
              <a:t>Customer before  →  customer after (the reassignment story)</a:t>
            </a:r>
            <a:endParaRPr lang="en-US" sz="1400" dirty="0"/>
          </a:p>
          <a:p>
            <a:pPr marL="342900" indent="-342900">
              <a:lnSpc>
                <a:spcPts val="1900"/>
              </a:lnSpc>
              <a:spcAft>
                <a:spcPts val="600"/>
              </a:spcAft>
              <a:buSzPct val="100000"/>
              <a:buChar char="•"/>
            </a:pPr>
            <a:r>
              <a:rPr lang="en-US" sz="1400" dirty="0">
                <a:solidFill>
                  <a:srgbClr val="E8EEF5"/>
                </a:solidFill>
                <a:latin typeface="Calibri" pitchFamily="34" charset="0"/>
                <a:ea typeface="Calibri" pitchFamily="34" charset="-122"/>
                <a:cs typeface="Calibri" pitchFamily="34" charset="-120"/>
              </a:rPr>
              <a:t>The exact payload sent, and Caterpillar's full response</a:t>
            </a:r>
            <a:endParaRPr lang="en-US" sz="1400" dirty="0"/>
          </a:p>
          <a:p>
            <a:pPr marL="342900" indent="-342900">
              <a:lnSpc>
                <a:spcPts val="1900"/>
              </a:lnSpc>
              <a:spcAft>
                <a:spcPts val="600"/>
              </a:spcAft>
              <a:buSzPct val="100000"/>
              <a:buChar char="•"/>
            </a:pPr>
            <a:r>
              <a:rPr lang="en-US" sz="1400" dirty="0">
                <a:solidFill>
                  <a:srgbClr val="E8EEF5"/>
                </a:solidFill>
                <a:latin typeface="Calibri" pitchFamily="34" charset="0"/>
                <a:ea typeface="Calibri" pitchFamily="34" charset="-122"/>
                <a:cs typeface="Calibri" pitchFamily="34" charset="-120"/>
              </a:rPr>
              <a:t>Caterpillar's tracking ID — their support can trace any call</a:t>
            </a:r>
            <a:endParaRPr lang="en-US" sz="1400" dirty="0"/>
          </a:p>
          <a:p>
            <a:pPr marL="342900" indent="-342900">
              <a:lnSpc>
                <a:spcPts val="1900"/>
              </a:lnSpc>
              <a:spcAft>
                <a:spcPts val="600"/>
              </a:spcAft>
              <a:buSzPct val="100000"/>
              <a:buChar char="•"/>
            </a:pPr>
            <a:r>
              <a:rPr lang="en-US" sz="1400" dirty="0">
                <a:solidFill>
                  <a:srgbClr val="E8EEF5"/>
                </a:solidFill>
                <a:latin typeface="Calibri" pitchFamily="34" charset="0"/>
                <a:ea typeface="Calibri" pitchFamily="34" charset="-122"/>
                <a:cs typeface="Calibri" pitchFamily="34" charset="-120"/>
              </a:rPr>
              <a:t>A snapshot of CCAT taken just before we acted (the undo reference)</a:t>
            </a:r>
            <a:endParaRPr lang="en-US" sz="1400" dirty="0"/>
          </a:p>
          <a:p>
            <a:pPr marL="342900" indent="-342900">
              <a:lnSpc>
                <a:spcPts val="1900"/>
              </a:lnSpc>
              <a:buSzPct val="100000"/>
              <a:buChar char="•"/>
            </a:pPr>
            <a:r>
              <a:rPr lang="en-US" sz="1400" dirty="0">
                <a:solidFill>
                  <a:srgbClr val="E8EEF5"/>
                </a:solidFill>
                <a:latin typeface="Calibri" pitchFamily="34" charset="0"/>
                <a:ea typeface="Calibri" pitchFamily="34" charset="-122"/>
                <a:cs typeface="Calibri" pitchFamily="34" charset="-120"/>
              </a:rPr>
              <a:t>Who, when, and which shift — feeds the per-shift reporting</a:t>
            </a:r>
            <a:endParaRPr lang="en-US" sz="1400" dirty="0"/>
          </a:p>
        </p:txBody>
      </p:sp>
      <p:sp>
        <p:nvSpPr>
          <p:cNvPr id="8" name="Shape 5"/>
          <p:cNvSpPr/>
          <p:nvPr/>
        </p:nvSpPr>
        <p:spPr>
          <a:xfrm>
            <a:off x="7863840" y="1554480"/>
            <a:ext cx="3749040" cy="4480560"/>
          </a:xfrm>
          <a:prstGeom prst="roundRect">
            <a:avLst>
              <a:gd name="adj" fmla="val 1951"/>
            </a:avLst>
          </a:prstGeom>
          <a:solidFill>
            <a:srgbClr val="12314A"/>
          </a:solidFill>
          <a:ln w="12700">
            <a:solidFill>
              <a:srgbClr val="223650"/>
            </a:solidFill>
            <a:prstDash val="solid"/>
          </a:ln>
        </p:spPr>
      </p:sp>
      <p:sp>
        <p:nvSpPr>
          <p:cNvPr id="9" name="Text 6"/>
          <p:cNvSpPr/>
          <p:nvPr/>
        </p:nvSpPr>
        <p:spPr>
          <a:xfrm>
            <a:off x="8138160" y="1920240"/>
            <a:ext cx="3200400" cy="1005840"/>
          </a:xfrm>
          <a:prstGeom prst="rect">
            <a:avLst/>
          </a:prstGeom>
          <a:noFill/>
          <a:ln/>
        </p:spPr>
        <p:txBody>
          <a:bodyPr wrap="square" lIns="0" tIns="0" rIns="0" bIns="0" rtlCol="0" anchor="ctr"/>
          <a:lstStyle/>
          <a:p>
            <a:pPr indent="0" marL="0">
              <a:buNone/>
            </a:pPr>
            <a:r>
              <a:rPr lang="en-US" sz="2200" b="1" dirty="0">
                <a:solidFill>
                  <a:srgbClr val="FFC72C"/>
                </a:solidFill>
                <a:latin typeface="Calibri" pitchFamily="34" charset="0"/>
                <a:ea typeface="Calibri" pitchFamily="34" charset="-122"/>
                <a:cs typeface="Calibri" pitchFamily="34" charset="-120"/>
              </a:rPr>
              <a:t>Append-only</a:t>
            </a:r>
            <a:endParaRPr lang="en-US" sz="2200" dirty="0"/>
          </a:p>
          <a:p>
            <a:pPr indent="0" marL="0">
              <a:buNone/>
            </a:pPr>
            <a:r>
              <a:rPr lang="en-US" sz="2200" b="1" dirty="0">
                <a:solidFill>
                  <a:srgbClr val="FFC72C"/>
                </a:solidFill>
                <a:latin typeface="Calibri" pitchFamily="34" charset="0"/>
                <a:ea typeface="Calibri" pitchFamily="34" charset="-122"/>
                <a:cs typeface="Calibri" pitchFamily="34" charset="-120"/>
              </a:rPr>
              <a:t>by permission</a:t>
            </a:r>
            <a:endParaRPr lang="en-US" sz="2200" dirty="0"/>
          </a:p>
        </p:txBody>
      </p:sp>
      <p:sp>
        <p:nvSpPr>
          <p:cNvPr id="10" name="Text 7"/>
          <p:cNvSpPr/>
          <p:nvPr/>
        </p:nvSpPr>
        <p:spPr>
          <a:xfrm>
            <a:off x="8138160" y="3063240"/>
            <a:ext cx="3200400" cy="2743200"/>
          </a:xfrm>
          <a:prstGeom prst="rect">
            <a:avLst/>
          </a:prstGeom>
          <a:noFill/>
          <a:ln/>
        </p:spPr>
        <p:txBody>
          <a:bodyPr wrap="square" lIns="0" tIns="0" rIns="0" bIns="0" rtlCol="0" anchor="ctr"/>
          <a:lstStyle/>
          <a:p>
            <a:pPr indent="0" marL="0">
              <a:lnSpc>
                <a:spcPts val="1900"/>
              </a:lnSpc>
              <a:buNone/>
            </a:pPr>
            <a:r>
              <a:rPr lang="en-US" sz="1400" dirty="0">
                <a:solidFill>
                  <a:srgbClr val="E8EEF5"/>
                </a:solidFill>
                <a:latin typeface="Calibri" pitchFamily="34" charset="0"/>
                <a:ea typeface="Calibri" pitchFamily="34" charset="-122"/>
                <a:cs typeface="Calibri" pitchFamily="34" charset="-120"/>
              </a:rPr>
              <a:t>The tooling role can INSERT and SELECT — nothing else. Audit rows cannot be edited or deleted, even by accident.</a:t>
            </a:r>
            <a:endParaRPr lang="en-US" sz="1400" dirty="0"/>
          </a:p>
          <a:p>
            <a:pPr indent="0" marL="0">
              <a:lnSpc>
                <a:spcPts val="1900"/>
              </a:lnSpc>
              <a:buNone/>
            </a:pPr>
            <a:endParaRPr lang="en-US" sz="1400" dirty="0"/>
          </a:p>
          <a:p>
            <a:pPr indent="0" marL="0">
              <a:lnSpc>
                <a:spcPts val="1900"/>
              </a:lnSpc>
              <a:buNone/>
            </a:pPr>
            <a:r>
              <a:rPr lang="en-US" sz="1400" dirty="0">
                <a:solidFill>
                  <a:srgbClr val="E8EEF5"/>
                </a:solidFill>
                <a:latin typeface="Calibri" pitchFamily="34" charset="0"/>
                <a:ea typeface="Calibri" pitchFamily="34" charset="-122"/>
                <a:cs typeface="Calibri" pitchFamily="34" charset="-120"/>
              </a:rPr>
              <a:t>Kept forever. This table is the compliance trail.</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300" kern="0" dirty="0">
                <a:solidFill>
                  <a:srgbClr val="FFC72C"/>
                </a:solidFill>
                <a:latin typeface="Calibri" pitchFamily="34" charset="0"/>
                <a:ea typeface="Calibri" pitchFamily="34" charset="-122"/>
                <a:cs typeface="Calibri" pitchFamily="34" charset="-120"/>
              </a:rPr>
              <a:t>PROVE</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E8EEF5"/>
                </a:solidFill>
                <a:latin typeface="Calibri" pitchFamily="34" charset="0"/>
                <a:ea typeface="Calibri" pitchFamily="34" charset="-122"/>
                <a:cs typeface="Calibri" pitchFamily="34" charset="-120"/>
              </a:rPr>
              <a:t>CCAT_HISTORY: what the data was, at every point</a:t>
            </a:r>
            <a:endParaRPr lang="en-US" sz="3200" dirty="0"/>
          </a:p>
        </p:txBody>
      </p:sp>
      <p:sp>
        <p:nvSpPr>
          <p:cNvPr id="5" name="Shape 2"/>
          <p:cNvSpPr/>
          <p:nvPr/>
        </p:nvSpPr>
        <p:spPr>
          <a:xfrm>
            <a:off x="548640" y="1554480"/>
            <a:ext cx="7040880" cy="4480560"/>
          </a:xfrm>
          <a:prstGeom prst="roundRect">
            <a:avLst>
              <a:gd name="adj" fmla="val 1633"/>
            </a:avLst>
          </a:prstGeom>
          <a:solidFill>
            <a:srgbClr val="16283F"/>
          </a:solidFill>
          <a:ln w="12700">
            <a:solidFill>
              <a:srgbClr val="223650"/>
            </a:solidFill>
            <a:prstDash val="solid"/>
          </a:ln>
        </p:spPr>
      </p:sp>
      <p:sp>
        <p:nvSpPr>
          <p:cNvPr id="6" name="Text 3"/>
          <p:cNvSpPr/>
          <p:nvPr/>
        </p:nvSpPr>
        <p:spPr>
          <a:xfrm>
            <a:off x="868680" y="1828800"/>
            <a:ext cx="6400800" cy="4023360"/>
          </a:xfrm>
          <a:prstGeom prst="rect">
            <a:avLst/>
          </a:prstGeom>
          <a:noFill/>
          <a:ln/>
        </p:spPr>
        <p:txBody>
          <a:bodyPr wrap="square" lIns="0" tIns="0" rIns="0" bIns="0" rtlCol="0" anchor="ctr"/>
          <a:lstStyle/>
          <a:p>
            <a:pPr indent="0" marL="0">
              <a:lnSpc>
                <a:spcPts val="1900"/>
              </a:lnSpc>
              <a:buNone/>
            </a:pPr>
            <a:r>
              <a:rPr lang="en-US" sz="1450" b="1" dirty="0">
                <a:solidFill>
                  <a:srgbClr val="2EC4B6"/>
                </a:solidFill>
                <a:latin typeface="Calibri" pitchFamily="34" charset="0"/>
                <a:ea typeface="Calibri" pitchFamily="34" charset="-122"/>
                <a:cs typeface="Calibri" pitchFamily="34" charset="-120"/>
              </a:rPr>
              <a:t>Every distinct version, any author</a:t>
            </a:r>
            <a:endParaRPr lang="en-US" sz="1450" dirty="0"/>
          </a:p>
          <a:p>
            <a:pPr indent="0" marL="0">
              <a:lnSpc>
                <a:spcPts val="1900"/>
              </a:lnSpc>
              <a:spcAft>
                <a:spcPts val="1000"/>
              </a:spcAft>
              <a:buNone/>
            </a:pPr>
            <a:r>
              <a:rPr lang="en-US" sz="1450" dirty="0">
                <a:solidFill>
                  <a:srgbClr val="E8EEF5"/>
                </a:solidFill>
                <a:latin typeface="Calibri" pitchFamily="34" charset="0"/>
                <a:ea typeface="Calibri" pitchFamily="34" charset="-122"/>
                <a:cs typeface="Calibri" pitchFamily="34" charset="-120"/>
              </a:rPr>
              <a:t>Each check fingerprints Caterpillar's full answer for the machine. New fingerprint = the full snapshot is stored. Same fingerprint = nothing.</a:t>
            </a:r>
            <a:endParaRPr lang="en-US" sz="1450" dirty="0"/>
          </a:p>
          <a:p>
            <a:pPr indent="0" marL="0">
              <a:lnSpc>
                <a:spcPts val="1900"/>
              </a:lnSpc>
              <a:buNone/>
            </a:pPr>
            <a:r>
              <a:rPr lang="en-US" sz="1450" b="1" dirty="0">
                <a:solidFill>
                  <a:srgbClr val="2EC4B6"/>
                </a:solidFill>
                <a:latin typeface="Calibri" pitchFamily="34" charset="0"/>
                <a:ea typeface="Calibri" pitchFamily="34" charset="-122"/>
                <a:cs typeface="Calibri" pitchFamily="34" charset="-120"/>
              </a:rPr>
              <a:t>Cheap by design</a:t>
            </a:r>
            <a:endParaRPr lang="en-US" sz="1450" dirty="0"/>
          </a:p>
          <a:p>
            <a:pPr indent="0" marL="0">
              <a:lnSpc>
                <a:spcPts val="1900"/>
              </a:lnSpc>
              <a:spcAft>
                <a:spcPts val="1000"/>
              </a:spcAft>
              <a:buNone/>
            </a:pPr>
            <a:r>
              <a:rPr lang="en-US" sz="1450" dirty="0">
                <a:solidFill>
                  <a:srgbClr val="E8EEF5"/>
                </a:solidFill>
                <a:latin typeface="Calibri" pitchFamily="34" charset="0"/>
                <a:ea typeface="Calibri" pitchFamily="34" charset="-122"/>
                <a:cs typeface="Calibri" pitchFamily="34" charset="-120"/>
              </a:rPr>
              <a:t>A machine checked fifty times with no change stores one row, not fifty. Built entirely from data the sweep already fetches — zero extra API calls.</a:t>
            </a:r>
            <a:endParaRPr lang="en-US" sz="1450" dirty="0"/>
          </a:p>
          <a:p>
            <a:pPr indent="0" marL="0">
              <a:lnSpc>
                <a:spcPts val="1900"/>
              </a:lnSpc>
              <a:buNone/>
            </a:pPr>
            <a:r>
              <a:rPr lang="en-US" sz="1450" b="1" dirty="0">
                <a:solidFill>
                  <a:srgbClr val="2EC4B6"/>
                </a:solidFill>
                <a:latin typeface="Calibri" pitchFamily="34" charset="0"/>
                <a:ea typeface="Calibri" pitchFamily="34" charset="-122"/>
                <a:cs typeface="Calibri" pitchFamily="34" charset="-120"/>
              </a:rPr>
              <a:t>Absence counts too</a:t>
            </a:r>
            <a:endParaRPr lang="en-US" sz="1450" dirty="0"/>
          </a:p>
          <a:p>
            <a:pPr indent="0" marL="0">
              <a:lnSpc>
                <a:spcPts val="1900"/>
              </a:lnSpc>
              <a:buNone/>
            </a:pPr>
            <a:r>
              <a:rPr lang="en-US" sz="1450" dirty="0">
                <a:solidFill>
                  <a:srgbClr val="E8EEF5"/>
                </a:solidFill>
                <a:latin typeface="Calibri" pitchFamily="34" charset="0"/>
                <a:ea typeface="Calibri" pitchFamily="34" charset="-122"/>
                <a:cs typeface="Calibri" pitchFamily="34" charset="-120"/>
              </a:rPr>
              <a:t>“No records at all” is itself a version — a machine appearing in, or vanishing from, CCAT leaves a trail.</a:t>
            </a:r>
            <a:endParaRPr lang="en-US" sz="1450" dirty="0"/>
          </a:p>
        </p:txBody>
      </p:sp>
      <p:sp>
        <p:nvSpPr>
          <p:cNvPr id="7" name="Shape 4"/>
          <p:cNvSpPr/>
          <p:nvPr/>
        </p:nvSpPr>
        <p:spPr>
          <a:xfrm>
            <a:off x="7863840" y="1554480"/>
            <a:ext cx="3749040" cy="4480560"/>
          </a:xfrm>
          <a:prstGeom prst="roundRect">
            <a:avLst>
              <a:gd name="adj" fmla="val 1951"/>
            </a:avLst>
          </a:prstGeom>
          <a:solidFill>
            <a:srgbClr val="12314A"/>
          </a:solidFill>
          <a:ln w="12700">
            <a:solidFill>
              <a:srgbClr val="223650"/>
            </a:solidFill>
            <a:prstDash val="solid"/>
          </a:ln>
        </p:spPr>
      </p:sp>
      <p:sp>
        <p:nvSpPr>
          <p:cNvPr id="8" name="Text 5"/>
          <p:cNvSpPr/>
          <p:nvPr/>
        </p:nvSpPr>
        <p:spPr>
          <a:xfrm>
            <a:off x="8138160" y="1920240"/>
            <a:ext cx="3200400" cy="822960"/>
          </a:xfrm>
          <a:prstGeom prst="rect">
            <a:avLst/>
          </a:prstGeom>
          <a:noFill/>
          <a:ln/>
        </p:spPr>
        <p:txBody>
          <a:bodyPr wrap="square" lIns="0" tIns="0" rIns="0" bIns="0" rtlCol="0" anchor="ctr"/>
          <a:lstStyle/>
          <a:p>
            <a:pPr indent="0" marL="0">
              <a:buNone/>
            </a:pPr>
            <a:r>
              <a:rPr lang="en-US" sz="4800" b="1" dirty="0">
                <a:solidFill>
                  <a:srgbClr val="FFC72C"/>
                </a:solidFill>
                <a:latin typeface="Calibri" pitchFamily="34" charset="0"/>
                <a:ea typeface="Calibri" pitchFamily="34" charset="-122"/>
                <a:cs typeface="Calibri" pitchFamily="34" charset="-120"/>
              </a:rPr>
              <a:t>1 row</a:t>
            </a:r>
            <a:endParaRPr lang="en-US" sz="4800" dirty="0"/>
          </a:p>
        </p:txBody>
      </p:sp>
      <p:sp>
        <p:nvSpPr>
          <p:cNvPr id="9" name="Text 6"/>
          <p:cNvSpPr/>
          <p:nvPr/>
        </p:nvSpPr>
        <p:spPr>
          <a:xfrm>
            <a:off x="8138160" y="2834640"/>
            <a:ext cx="3200400" cy="2377440"/>
          </a:xfrm>
          <a:prstGeom prst="rect">
            <a:avLst/>
          </a:prstGeom>
          <a:noFill/>
          <a:ln/>
        </p:spPr>
        <p:txBody>
          <a:bodyPr wrap="square" lIns="0" tIns="0" rIns="0" bIns="0" rtlCol="0" anchor="ctr"/>
          <a:lstStyle/>
          <a:p>
            <a:pPr indent="0" marL="0">
              <a:lnSpc>
                <a:spcPts val="1900"/>
              </a:lnSpc>
              <a:buNone/>
            </a:pPr>
            <a:r>
              <a:rPr lang="en-US" sz="1400" dirty="0">
                <a:solidFill>
                  <a:srgbClr val="E8EEF5"/>
                </a:solidFill>
                <a:latin typeface="Calibri" pitchFamily="34" charset="0"/>
                <a:ea typeface="Calibri" pitchFamily="34" charset="-122"/>
                <a:cs typeface="Calibri" pitchFamily="34" charset="-120"/>
              </a:rPr>
              <a:t>per real change in Caterpillar's data, no matter how many times we look.</a:t>
            </a:r>
            <a:endParaRPr lang="en-US" sz="1400" dirty="0"/>
          </a:p>
          <a:p>
            <a:pPr indent="0" marL="0">
              <a:lnSpc>
                <a:spcPts val="1900"/>
              </a:lnSpc>
              <a:buNone/>
            </a:pPr>
            <a:endParaRPr lang="en-US" sz="1400" dirty="0"/>
          </a:p>
          <a:p>
            <a:pPr indent="0" marL="0">
              <a:lnSpc>
                <a:spcPts val="1900"/>
              </a:lnSpc>
              <a:buNone/>
            </a:pPr>
            <a:r>
              <a:rPr lang="en-US" sz="1400" dirty="0">
                <a:solidFill>
                  <a:srgbClr val="E8EEF5"/>
                </a:solidFill>
                <a:latin typeface="Calibri" pitchFamily="34" charset="0"/>
                <a:ea typeface="Calibri" pitchFamily="34" charset="-122"/>
                <a:cs typeface="Calibri" pitchFamily="34" charset="-120"/>
              </a:rPr>
              <a:t>Append-only and kept forever, same as audit.</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300" kern="0" dirty="0">
                <a:solidFill>
                  <a:srgbClr val="FFC72C"/>
                </a:solidFill>
                <a:latin typeface="Calibri" pitchFamily="34" charset="0"/>
                <a:ea typeface="Calibri" pitchFamily="34" charset="-122"/>
                <a:cs typeface="Calibri" pitchFamily="34" charset="-120"/>
              </a:rPr>
              <a:t>PROVE</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E8EEF5"/>
                </a:solidFill>
                <a:latin typeface="Calibri" pitchFamily="34" charset="0"/>
                <a:ea typeface="Calibri" pitchFamily="34" charset="-122"/>
                <a:cs typeface="Calibri" pitchFamily="34" charset="-120"/>
              </a:rPr>
              <a:t>Two tables, one powerful difference</a:t>
            </a:r>
            <a:endParaRPr lang="en-US" sz="3200" dirty="0"/>
          </a:p>
        </p:txBody>
      </p:sp>
      <p:sp>
        <p:nvSpPr>
          <p:cNvPr id="5" name="Shape 2"/>
          <p:cNvSpPr/>
          <p:nvPr/>
        </p:nvSpPr>
        <p:spPr>
          <a:xfrm>
            <a:off x="548640" y="1600200"/>
            <a:ext cx="5394960" cy="3017520"/>
          </a:xfrm>
          <a:prstGeom prst="roundRect">
            <a:avLst>
              <a:gd name="adj" fmla="val 2424"/>
            </a:avLst>
          </a:prstGeom>
          <a:solidFill>
            <a:srgbClr val="16283F"/>
          </a:solidFill>
          <a:ln w="12700">
            <a:solidFill>
              <a:srgbClr val="223650"/>
            </a:solidFill>
            <a:prstDash val="solid"/>
          </a:ln>
        </p:spPr>
      </p:sp>
      <p:sp>
        <p:nvSpPr>
          <p:cNvPr id="6" name="Text 3"/>
          <p:cNvSpPr/>
          <p:nvPr/>
        </p:nvSpPr>
        <p:spPr>
          <a:xfrm>
            <a:off x="822960" y="1874520"/>
            <a:ext cx="4754880" cy="411480"/>
          </a:xfrm>
          <a:prstGeom prst="rect">
            <a:avLst/>
          </a:prstGeom>
          <a:noFill/>
          <a:ln/>
        </p:spPr>
        <p:txBody>
          <a:bodyPr wrap="square" lIns="0" tIns="0" rIns="0" bIns="0" rtlCol="0" anchor="ctr"/>
          <a:lstStyle/>
          <a:p>
            <a:pPr indent="0" marL="0">
              <a:buNone/>
            </a:pPr>
            <a:r>
              <a:rPr lang="en-US" sz="2000" b="1" dirty="0">
                <a:solidFill>
                  <a:srgbClr val="FFC72C"/>
                </a:solidFill>
                <a:latin typeface="Calibri" pitchFamily="34" charset="0"/>
                <a:ea typeface="Calibri" pitchFamily="34" charset="-122"/>
                <a:cs typeface="Calibri" pitchFamily="34" charset="-120"/>
              </a:rPr>
              <a:t>AUDIT</a:t>
            </a:r>
            <a:endParaRPr lang="en-US" sz="2000" dirty="0"/>
          </a:p>
        </p:txBody>
      </p:sp>
      <p:sp>
        <p:nvSpPr>
          <p:cNvPr id="7" name="Text 4"/>
          <p:cNvSpPr/>
          <p:nvPr/>
        </p:nvSpPr>
        <p:spPr>
          <a:xfrm>
            <a:off x="822960" y="2377440"/>
            <a:ext cx="4846320" cy="2011680"/>
          </a:xfrm>
          <a:prstGeom prst="rect">
            <a:avLst/>
          </a:prstGeom>
          <a:noFill/>
          <a:ln/>
        </p:spPr>
        <p:txBody>
          <a:bodyPr wrap="square" lIns="0" tIns="0" rIns="0" bIns="0" rtlCol="0" anchor="ctr"/>
          <a:lstStyle/>
          <a:p>
            <a:pPr indent="0" marL="0">
              <a:lnSpc>
                <a:spcPts val="2100"/>
              </a:lnSpc>
              <a:buNone/>
            </a:pPr>
            <a:r>
              <a:rPr lang="en-US" sz="1500" dirty="0">
                <a:solidFill>
                  <a:srgbClr val="E8EEF5"/>
                </a:solidFill>
                <a:latin typeface="Calibri" pitchFamily="34" charset="0"/>
                <a:ea typeface="Calibri" pitchFamily="34" charset="-122"/>
                <a:cs typeface="Calibri" pitchFamily="34" charset="-120"/>
              </a:rPr>
              <a:t>What WE did.</a:t>
            </a:r>
            <a:endParaRPr lang="en-US" sz="1500" dirty="0"/>
          </a:p>
          <a:p>
            <a:pPr indent="0" marL="0">
              <a:lnSpc>
                <a:spcPts val="2100"/>
              </a:lnSpc>
              <a:buNone/>
            </a:pPr>
            <a:r>
              <a:rPr lang="en-US" sz="1500" dirty="0">
                <a:solidFill>
                  <a:srgbClr val="E8EEF5"/>
                </a:solidFill>
                <a:latin typeface="Calibri" pitchFamily="34" charset="0"/>
                <a:ea typeface="Calibri" pitchFamily="34" charset="-122"/>
                <a:cs typeface="Calibri" pitchFamily="34" charset="-120"/>
              </a:rPr>
              <a:t>Actions, payloads, outcomes, tracking IDs — signed, dated, attributable.</a:t>
            </a:r>
            <a:endParaRPr lang="en-US" sz="1500" dirty="0"/>
          </a:p>
        </p:txBody>
      </p:sp>
      <p:sp>
        <p:nvSpPr>
          <p:cNvPr id="8" name="Shape 5"/>
          <p:cNvSpPr/>
          <p:nvPr/>
        </p:nvSpPr>
        <p:spPr>
          <a:xfrm>
            <a:off x="6217920" y="1600200"/>
            <a:ext cx="5394960" cy="3017520"/>
          </a:xfrm>
          <a:prstGeom prst="roundRect">
            <a:avLst>
              <a:gd name="adj" fmla="val 2424"/>
            </a:avLst>
          </a:prstGeom>
          <a:solidFill>
            <a:srgbClr val="16283F"/>
          </a:solidFill>
          <a:ln w="12700">
            <a:solidFill>
              <a:srgbClr val="223650"/>
            </a:solidFill>
            <a:prstDash val="solid"/>
          </a:ln>
        </p:spPr>
      </p:sp>
      <p:sp>
        <p:nvSpPr>
          <p:cNvPr id="9" name="Text 6"/>
          <p:cNvSpPr/>
          <p:nvPr/>
        </p:nvSpPr>
        <p:spPr>
          <a:xfrm>
            <a:off x="6492240" y="1874520"/>
            <a:ext cx="4754880" cy="411480"/>
          </a:xfrm>
          <a:prstGeom prst="rect">
            <a:avLst/>
          </a:prstGeom>
          <a:noFill/>
          <a:ln/>
        </p:spPr>
        <p:txBody>
          <a:bodyPr wrap="square" lIns="0" tIns="0" rIns="0" bIns="0" rtlCol="0" anchor="ctr"/>
          <a:lstStyle/>
          <a:p>
            <a:pPr indent="0" marL="0">
              <a:buNone/>
            </a:pPr>
            <a:r>
              <a:rPr lang="en-US" sz="2000" b="1" dirty="0">
                <a:solidFill>
                  <a:srgbClr val="2EC4B6"/>
                </a:solidFill>
                <a:latin typeface="Calibri" pitchFamily="34" charset="0"/>
                <a:ea typeface="Calibri" pitchFamily="34" charset="-122"/>
                <a:cs typeface="Calibri" pitchFamily="34" charset="-120"/>
              </a:rPr>
              <a:t>HISTORY</a:t>
            </a:r>
            <a:endParaRPr lang="en-US" sz="2000" dirty="0"/>
          </a:p>
        </p:txBody>
      </p:sp>
      <p:sp>
        <p:nvSpPr>
          <p:cNvPr id="10" name="Text 7"/>
          <p:cNvSpPr/>
          <p:nvPr/>
        </p:nvSpPr>
        <p:spPr>
          <a:xfrm>
            <a:off x="6492240" y="2377440"/>
            <a:ext cx="4846320" cy="2011680"/>
          </a:xfrm>
          <a:prstGeom prst="rect">
            <a:avLst/>
          </a:prstGeom>
          <a:noFill/>
          <a:ln/>
        </p:spPr>
        <p:txBody>
          <a:bodyPr wrap="square" lIns="0" tIns="0" rIns="0" bIns="0" rtlCol="0" anchor="ctr"/>
          <a:lstStyle/>
          <a:p>
            <a:pPr indent="0" marL="0">
              <a:lnSpc>
                <a:spcPts val="2100"/>
              </a:lnSpc>
              <a:buNone/>
            </a:pPr>
            <a:r>
              <a:rPr lang="en-US" sz="1500" dirty="0">
                <a:solidFill>
                  <a:srgbClr val="E8EEF5"/>
                </a:solidFill>
                <a:latin typeface="Calibri" pitchFamily="34" charset="0"/>
                <a:ea typeface="Calibri" pitchFamily="34" charset="-122"/>
                <a:cs typeface="Calibri" pitchFamily="34" charset="-120"/>
              </a:rPr>
              <a:t>What the data WAS.</a:t>
            </a:r>
            <a:endParaRPr lang="en-US" sz="1500" dirty="0"/>
          </a:p>
          <a:p>
            <a:pPr indent="0" marL="0">
              <a:lnSpc>
                <a:spcPts val="2100"/>
              </a:lnSpc>
              <a:buNone/>
            </a:pPr>
            <a:r>
              <a:rPr lang="en-US" sz="1500" dirty="0">
                <a:solidFill>
                  <a:srgbClr val="E8EEF5"/>
                </a:solidFill>
                <a:latin typeface="Calibri" pitchFamily="34" charset="0"/>
                <a:ea typeface="Calibri" pitchFamily="34" charset="-122"/>
                <a:cs typeface="Calibri" pitchFamily="34" charset="-120"/>
              </a:rPr>
              <a:t>Every observed version of every machine's CCAT picture, whoever changed it.</a:t>
            </a:r>
            <a:endParaRPr lang="en-US" sz="1500" dirty="0"/>
          </a:p>
        </p:txBody>
      </p:sp>
      <p:sp>
        <p:nvSpPr>
          <p:cNvPr id="11" name="Shape 8"/>
          <p:cNvSpPr/>
          <p:nvPr/>
        </p:nvSpPr>
        <p:spPr>
          <a:xfrm>
            <a:off x="548640" y="4892040"/>
            <a:ext cx="11064240" cy="1188720"/>
          </a:xfrm>
          <a:prstGeom prst="roundRect">
            <a:avLst>
              <a:gd name="adj" fmla="val 6154"/>
            </a:avLst>
          </a:prstGeom>
          <a:solidFill>
            <a:srgbClr val="12314A"/>
          </a:solidFill>
          <a:ln w="12700">
            <a:solidFill>
              <a:srgbClr val="223650"/>
            </a:solidFill>
            <a:prstDash val="solid"/>
          </a:ln>
        </p:spPr>
      </p:sp>
      <p:sp>
        <p:nvSpPr>
          <p:cNvPr id="12" name="Text 9"/>
          <p:cNvSpPr/>
          <p:nvPr/>
        </p:nvSpPr>
        <p:spPr>
          <a:xfrm>
            <a:off x="822960" y="5074920"/>
            <a:ext cx="10561320" cy="868680"/>
          </a:xfrm>
          <a:prstGeom prst="rect">
            <a:avLst/>
          </a:prstGeom>
          <a:noFill/>
          <a:ln/>
        </p:spPr>
        <p:txBody>
          <a:bodyPr wrap="square" lIns="0" tIns="0" rIns="0" bIns="0" rtlCol="0" anchor="ctr"/>
          <a:lstStyle/>
          <a:p>
            <a:pPr indent="0" marL="0">
              <a:lnSpc>
                <a:spcPts val="2100"/>
              </a:lnSpc>
              <a:buNone/>
            </a:pPr>
            <a:r>
              <a:rPr lang="en-US" sz="1550" b="1" dirty="0">
                <a:solidFill>
                  <a:srgbClr val="FFC72C"/>
                </a:solidFill>
                <a:latin typeface="Calibri" pitchFamily="34" charset="0"/>
                <a:ea typeface="Calibri" pitchFamily="34" charset="-122"/>
                <a:cs typeface="Calibri" pitchFamily="34" charset="-120"/>
              </a:rPr>
              <a:t>History minus audit = external changes.  </a:t>
            </a:r>
            <a:pPr indent="0" marL="0">
              <a:lnSpc>
                <a:spcPts val="2100"/>
              </a:lnSpc>
              <a:buNone/>
            </a:pPr>
            <a:r>
              <a:rPr lang="en-US" sz="1550" dirty="0">
                <a:solidFill>
                  <a:srgbClr val="E8EEF5"/>
                </a:solidFill>
                <a:latin typeface="Calibri" pitchFamily="34" charset="0"/>
                <a:ea typeface="Calibri" pitchFamily="34" charset="-122"/>
                <a:cs typeface="Calibri" pitchFamily="34" charset="-120"/>
              </a:rPr>
              <a:t>A version change with no audit row nearby means Caterpillar, another dealer, or a portal edit changed the data — the class of change that used to be invisible.</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300" kern="0" dirty="0">
                <a:solidFill>
                  <a:srgbClr val="FFC72C"/>
                </a:solidFill>
                <a:latin typeface="Calibri" pitchFamily="34" charset="0"/>
                <a:ea typeface="Calibri" pitchFamily="34" charset="-122"/>
                <a:cs typeface="Calibri" pitchFamily="34" charset="-120"/>
              </a:rPr>
              <a:t>RUN IT</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E8EEF5"/>
                </a:solidFill>
                <a:latin typeface="Calibri" pitchFamily="34" charset="0"/>
                <a:ea typeface="Calibri" pitchFamily="34" charset="-122"/>
                <a:cs typeface="Calibri" pitchFamily="34" charset="-120"/>
              </a:rPr>
              <a:t>The operating rhythm</a:t>
            </a:r>
            <a:endParaRPr lang="en-US" sz="3200" dirty="0"/>
          </a:p>
        </p:txBody>
      </p:sp>
      <p:sp>
        <p:nvSpPr>
          <p:cNvPr id="5" name="Shape 2"/>
          <p:cNvSpPr/>
          <p:nvPr/>
        </p:nvSpPr>
        <p:spPr>
          <a:xfrm>
            <a:off x="548640" y="1600200"/>
            <a:ext cx="3520440" cy="2286000"/>
          </a:xfrm>
          <a:prstGeom prst="roundRect">
            <a:avLst>
              <a:gd name="adj" fmla="val 3200"/>
            </a:avLst>
          </a:prstGeom>
          <a:solidFill>
            <a:srgbClr val="16283F"/>
          </a:solidFill>
          <a:ln w="12700">
            <a:solidFill>
              <a:srgbClr val="223650"/>
            </a:solidFill>
            <a:prstDash val="solid"/>
          </a:ln>
        </p:spPr>
      </p:sp>
      <p:sp>
        <p:nvSpPr>
          <p:cNvPr id="6" name="Text 3"/>
          <p:cNvSpPr/>
          <p:nvPr/>
        </p:nvSpPr>
        <p:spPr>
          <a:xfrm>
            <a:off x="822960" y="1828800"/>
            <a:ext cx="2926080" cy="365760"/>
          </a:xfrm>
          <a:prstGeom prst="rect">
            <a:avLst/>
          </a:prstGeom>
          <a:noFill/>
          <a:ln/>
        </p:spPr>
        <p:txBody>
          <a:bodyPr wrap="square" lIns="0" tIns="0" rIns="0" bIns="0" rtlCol="0" anchor="ctr"/>
          <a:lstStyle/>
          <a:p>
            <a:pPr indent="0" marL="0">
              <a:buNone/>
            </a:pPr>
            <a:r>
              <a:rPr lang="en-US" sz="1800" b="1" dirty="0">
                <a:solidFill>
                  <a:srgbClr val="4DA3FF"/>
                </a:solidFill>
                <a:latin typeface="Calibri" pitchFamily="34" charset="0"/>
                <a:ea typeface="Calibri" pitchFamily="34" charset="-122"/>
                <a:cs typeface="Calibri" pitchFamily="34" charset="-120"/>
              </a:rPr>
              <a:t>Nightly</a:t>
            </a:r>
            <a:endParaRPr lang="en-US" sz="1800" dirty="0"/>
          </a:p>
        </p:txBody>
      </p:sp>
      <p:sp>
        <p:nvSpPr>
          <p:cNvPr id="7" name="Text 4"/>
          <p:cNvSpPr/>
          <p:nvPr/>
        </p:nvSpPr>
        <p:spPr>
          <a:xfrm>
            <a:off x="822960" y="2286000"/>
            <a:ext cx="2971800" cy="1463040"/>
          </a:xfrm>
          <a:prstGeom prst="rect">
            <a:avLst/>
          </a:prstGeom>
          <a:noFill/>
          <a:ln/>
        </p:spPr>
        <p:txBody>
          <a:bodyPr wrap="square" lIns="0" tIns="0" rIns="0" bIns="0" rtlCol="0" anchor="ctr"/>
          <a:lstStyle/>
          <a:p>
            <a:pPr indent="0" marL="0">
              <a:lnSpc>
                <a:spcPts val="1800"/>
              </a:lnSpc>
              <a:buNone/>
            </a:pPr>
            <a:r>
              <a:rPr lang="en-US" sz="1350" dirty="0">
                <a:solidFill>
                  <a:srgbClr val="E8EEF5"/>
                </a:solidFill>
                <a:latin typeface="Calibri" pitchFamily="34" charset="0"/>
                <a:ea typeface="Calibri" pitchFamily="34" charset="-122"/>
                <a:cs typeface="Calibri" pitchFamily="34" charset="-120"/>
              </a:rPr>
              <a:t>The sweep checks its batch, refreshes verdicts, and grows coverage. Read-only, automatic.</a:t>
            </a:r>
            <a:endParaRPr lang="en-US" sz="1350" dirty="0"/>
          </a:p>
        </p:txBody>
      </p:sp>
      <p:sp>
        <p:nvSpPr>
          <p:cNvPr id="8" name="Shape 5"/>
          <p:cNvSpPr/>
          <p:nvPr/>
        </p:nvSpPr>
        <p:spPr>
          <a:xfrm>
            <a:off x="4343400" y="1600200"/>
            <a:ext cx="3520440" cy="2286000"/>
          </a:xfrm>
          <a:prstGeom prst="roundRect">
            <a:avLst>
              <a:gd name="adj" fmla="val 3200"/>
            </a:avLst>
          </a:prstGeom>
          <a:solidFill>
            <a:srgbClr val="16283F"/>
          </a:solidFill>
          <a:ln w="12700">
            <a:solidFill>
              <a:srgbClr val="223650"/>
            </a:solidFill>
            <a:prstDash val="solid"/>
          </a:ln>
        </p:spPr>
      </p:sp>
      <p:sp>
        <p:nvSpPr>
          <p:cNvPr id="9" name="Text 6"/>
          <p:cNvSpPr/>
          <p:nvPr/>
        </p:nvSpPr>
        <p:spPr>
          <a:xfrm>
            <a:off x="4617720" y="1828800"/>
            <a:ext cx="2926080" cy="365760"/>
          </a:xfrm>
          <a:prstGeom prst="rect">
            <a:avLst/>
          </a:prstGeom>
          <a:noFill/>
          <a:ln/>
        </p:spPr>
        <p:txBody>
          <a:bodyPr wrap="square" lIns="0" tIns="0" rIns="0" bIns="0" rtlCol="0" anchor="ctr"/>
          <a:lstStyle/>
          <a:p>
            <a:pPr indent="0" marL="0">
              <a:buNone/>
            </a:pPr>
            <a:r>
              <a:rPr lang="en-US" sz="1800" b="1" dirty="0">
                <a:solidFill>
                  <a:srgbClr val="2EC4B6"/>
                </a:solidFill>
                <a:latin typeface="Calibri" pitchFamily="34" charset="0"/>
                <a:ea typeface="Calibri" pitchFamily="34" charset="-122"/>
                <a:cs typeface="Calibri" pitchFamily="34" charset="-120"/>
              </a:rPr>
              <a:t>Weekly</a:t>
            </a:r>
            <a:endParaRPr lang="en-US" sz="1800" dirty="0"/>
          </a:p>
        </p:txBody>
      </p:sp>
      <p:sp>
        <p:nvSpPr>
          <p:cNvPr id="10" name="Text 7"/>
          <p:cNvSpPr/>
          <p:nvPr/>
        </p:nvSpPr>
        <p:spPr>
          <a:xfrm>
            <a:off x="4617720" y="2286000"/>
            <a:ext cx="2971800" cy="1463040"/>
          </a:xfrm>
          <a:prstGeom prst="rect">
            <a:avLst/>
          </a:prstGeom>
          <a:noFill/>
          <a:ln/>
        </p:spPr>
        <p:txBody>
          <a:bodyPr wrap="square" lIns="0" tIns="0" rIns="0" bIns="0" rtlCol="0" anchor="ctr"/>
          <a:lstStyle/>
          <a:p>
            <a:pPr indent="0" marL="0">
              <a:lnSpc>
                <a:spcPts val="1800"/>
              </a:lnSpc>
              <a:buNone/>
            </a:pPr>
            <a:r>
              <a:rPr lang="en-US" sz="1350" dirty="0">
                <a:solidFill>
                  <a:srgbClr val="E8EEF5"/>
                </a:solidFill>
                <a:latin typeface="Calibri" pitchFamily="34" charset="0"/>
                <a:ea typeface="Calibri" pitchFamily="34" charset="-122"/>
                <a:cs typeface="Calibri" pitchFamily="34" charset="-120"/>
              </a:rPr>
              <a:t>Batched safe adds and quiet fixes run under volume caps. A scoreboard snapshot tracks the backlog shrinking.</a:t>
            </a:r>
            <a:endParaRPr lang="en-US" sz="1350" dirty="0"/>
          </a:p>
        </p:txBody>
      </p:sp>
      <p:sp>
        <p:nvSpPr>
          <p:cNvPr id="11" name="Shape 8"/>
          <p:cNvSpPr/>
          <p:nvPr/>
        </p:nvSpPr>
        <p:spPr>
          <a:xfrm>
            <a:off x="8138160" y="1600200"/>
            <a:ext cx="3520440" cy="2286000"/>
          </a:xfrm>
          <a:prstGeom prst="roundRect">
            <a:avLst>
              <a:gd name="adj" fmla="val 3200"/>
            </a:avLst>
          </a:prstGeom>
          <a:solidFill>
            <a:srgbClr val="16283F"/>
          </a:solidFill>
          <a:ln w="12700">
            <a:solidFill>
              <a:srgbClr val="223650"/>
            </a:solidFill>
            <a:prstDash val="solid"/>
          </a:ln>
        </p:spPr>
      </p:sp>
      <p:sp>
        <p:nvSpPr>
          <p:cNvPr id="12" name="Text 9"/>
          <p:cNvSpPr/>
          <p:nvPr/>
        </p:nvSpPr>
        <p:spPr>
          <a:xfrm>
            <a:off x="8412480" y="1828800"/>
            <a:ext cx="2926080" cy="365760"/>
          </a:xfrm>
          <a:prstGeom prst="rect">
            <a:avLst/>
          </a:prstGeom>
          <a:noFill/>
          <a:ln/>
        </p:spPr>
        <p:txBody>
          <a:bodyPr wrap="square" lIns="0" tIns="0" rIns="0" bIns="0" rtlCol="0" anchor="ctr"/>
          <a:lstStyle/>
          <a:p>
            <a:pPr indent="0" marL="0">
              <a:buNone/>
            </a:pPr>
            <a:r>
              <a:rPr lang="en-US" sz="1800" b="1" dirty="0">
                <a:solidFill>
                  <a:srgbClr val="FF5A5F"/>
                </a:solidFill>
                <a:latin typeface="Calibri" pitchFamily="34" charset="0"/>
                <a:ea typeface="Calibri" pitchFamily="34" charset="-122"/>
                <a:cs typeface="Calibri" pitchFamily="34" charset="-120"/>
              </a:rPr>
              <a:t>Every shift</a:t>
            </a:r>
            <a:endParaRPr lang="en-US" sz="1800" dirty="0"/>
          </a:p>
        </p:txBody>
      </p:sp>
      <p:sp>
        <p:nvSpPr>
          <p:cNvPr id="13" name="Text 10"/>
          <p:cNvSpPr/>
          <p:nvPr/>
        </p:nvSpPr>
        <p:spPr>
          <a:xfrm>
            <a:off x="8412480" y="2286000"/>
            <a:ext cx="2971800" cy="1463040"/>
          </a:xfrm>
          <a:prstGeom prst="rect">
            <a:avLst/>
          </a:prstGeom>
          <a:noFill/>
          <a:ln/>
        </p:spPr>
        <p:txBody>
          <a:bodyPr wrap="square" lIns="0" tIns="0" rIns="0" bIns="0" rtlCol="0" anchor="ctr"/>
          <a:lstStyle/>
          <a:p>
            <a:pPr indent="0" marL="0">
              <a:lnSpc>
                <a:spcPts val="1800"/>
              </a:lnSpc>
              <a:buNone/>
            </a:pPr>
            <a:r>
              <a:rPr lang="en-US" sz="1350" dirty="0">
                <a:solidFill>
                  <a:srgbClr val="E8EEF5"/>
                </a:solidFill>
                <a:latin typeface="Calibri" pitchFamily="34" charset="0"/>
                <a:ea typeface="Calibri" pitchFamily="34" charset="-122"/>
                <a:cs typeface="Calibri" pitchFamily="34" charset="-120"/>
              </a:rPr>
              <a:t>About ten reviewed decisions: transfers, inbound claims, judgment calls — audited as they happen.</a:t>
            </a:r>
            <a:endParaRPr lang="en-US" sz="1350" dirty="0"/>
          </a:p>
        </p:txBody>
      </p:sp>
      <p:sp>
        <p:nvSpPr>
          <p:cNvPr id="14" name="Shape 11"/>
          <p:cNvSpPr/>
          <p:nvPr/>
        </p:nvSpPr>
        <p:spPr>
          <a:xfrm>
            <a:off x="548640" y="4160520"/>
            <a:ext cx="11064240" cy="1920240"/>
          </a:xfrm>
          <a:prstGeom prst="roundRect">
            <a:avLst>
              <a:gd name="adj" fmla="val 3810"/>
            </a:avLst>
          </a:prstGeom>
          <a:solidFill>
            <a:srgbClr val="12314A"/>
          </a:solidFill>
          <a:ln w="12700">
            <a:solidFill>
              <a:srgbClr val="223650"/>
            </a:solidFill>
            <a:prstDash val="solid"/>
          </a:ln>
        </p:spPr>
      </p:sp>
      <p:sp>
        <p:nvSpPr>
          <p:cNvPr id="15" name="Text 12"/>
          <p:cNvSpPr/>
          <p:nvPr/>
        </p:nvSpPr>
        <p:spPr>
          <a:xfrm>
            <a:off x="822960" y="4389120"/>
            <a:ext cx="10058400" cy="365760"/>
          </a:xfrm>
          <a:prstGeom prst="rect">
            <a:avLst/>
          </a:prstGeom>
          <a:noFill/>
          <a:ln/>
        </p:spPr>
        <p:txBody>
          <a:bodyPr wrap="square" lIns="0" tIns="0" rIns="0" bIns="0" rtlCol="0" anchor="ctr"/>
          <a:lstStyle/>
          <a:p>
            <a:pPr indent="0" marL="0">
              <a:buNone/>
            </a:pPr>
            <a:r>
              <a:rPr lang="en-US" sz="1500" b="1" dirty="0">
                <a:solidFill>
                  <a:srgbClr val="FFC72C"/>
                </a:solidFill>
                <a:latin typeface="Calibri" pitchFamily="34" charset="0"/>
                <a:ea typeface="Calibri" pitchFamily="34" charset="-122"/>
                <a:cs typeface="Calibri" pitchFamily="34" charset="-120"/>
              </a:rPr>
              <a:t>What leadership sees, weekly:</a:t>
            </a:r>
            <a:endParaRPr lang="en-US" sz="1500" dirty="0"/>
          </a:p>
        </p:txBody>
      </p:sp>
      <p:sp>
        <p:nvSpPr>
          <p:cNvPr id="16" name="Text 13"/>
          <p:cNvSpPr/>
          <p:nvPr/>
        </p:nvSpPr>
        <p:spPr>
          <a:xfrm>
            <a:off x="822960" y="4846320"/>
            <a:ext cx="10424160" cy="1188720"/>
          </a:xfrm>
          <a:prstGeom prst="rect">
            <a:avLst/>
          </a:prstGeom>
          <a:noFill/>
          <a:ln/>
        </p:spPr>
        <p:txBody>
          <a:bodyPr wrap="square" lIns="0" tIns="0" rIns="0" bIns="0" rtlCol="0" anchor="ctr"/>
          <a:lstStyle/>
          <a:p>
            <a:pPr marL="342900" indent="-342900">
              <a:lnSpc>
                <a:spcPts val="1800"/>
              </a:lnSpc>
              <a:spcAft>
                <a:spcPts val="500"/>
              </a:spcAft>
              <a:buSzPct val="100000"/>
              <a:buChar char="•"/>
            </a:pPr>
            <a:r>
              <a:rPr lang="en-US" sz="1350" dirty="0">
                <a:solidFill>
                  <a:srgbClr val="E8EEF5"/>
                </a:solidFill>
                <a:latin typeface="Calibri" pitchFamily="34" charset="0"/>
                <a:ea typeface="Calibri" pitchFamily="34" charset="-122"/>
                <a:cs typeface="Calibri" pitchFamily="34" charset="-120"/>
              </a:rPr>
              <a:t>Customer assignment rate — the headline: % of machines on the correct customer in CCAT</a:t>
            </a:r>
            <a:endParaRPr lang="en-US" sz="1350" dirty="0"/>
          </a:p>
          <a:p>
            <a:pPr marL="342900" indent="-342900">
              <a:lnSpc>
                <a:spcPts val="1800"/>
              </a:lnSpc>
              <a:spcAft>
                <a:spcPts val="500"/>
              </a:spcAft>
              <a:buSzPct val="100000"/>
              <a:buChar char="•"/>
            </a:pPr>
            <a:r>
              <a:rPr lang="en-US" sz="1350" dirty="0">
                <a:solidFill>
                  <a:srgbClr val="E8EEF5"/>
                </a:solidFill>
                <a:latin typeface="Calibri" pitchFamily="34" charset="0"/>
                <a:ea typeface="Calibri" pitchFamily="34" charset="-122"/>
                <a:cs typeface="Calibri" pitchFamily="34" charset="-120"/>
              </a:rPr>
              <a:t>Coverage and match rate — how much of the fleet is verified, and how much agrees</a:t>
            </a:r>
            <a:endParaRPr lang="en-US" sz="1350" dirty="0"/>
          </a:p>
          <a:p>
            <a:pPr marL="342900" indent="-342900">
              <a:lnSpc>
                <a:spcPts val="1800"/>
              </a:lnSpc>
              <a:buSzPct val="100000"/>
              <a:buChar char="•"/>
            </a:pPr>
            <a:r>
              <a:rPr lang="en-US" sz="1350" dirty="0">
                <a:solidFill>
                  <a:srgbClr val="E8EEF5"/>
                </a:solidFill>
                <a:latin typeface="Calibri" pitchFamily="34" charset="0"/>
                <a:ea typeface="Calibri" pitchFamily="34" charset="-122"/>
                <a:cs typeface="Calibri" pitchFamily="34" charset="-120"/>
              </a:rPr>
              <a:t>Backlog by phase, resolutions per shift, and transfers in flight</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300" kern="0" dirty="0">
                <a:solidFill>
                  <a:srgbClr val="FFC72C"/>
                </a:solidFill>
                <a:latin typeface="Calibri" pitchFamily="34" charset="0"/>
                <a:ea typeface="Calibri" pitchFamily="34" charset="-122"/>
                <a:cs typeface="Calibri" pitchFamily="34" charset="-120"/>
              </a:rPr>
              <a:t>GUARDRAILS</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E8EEF5"/>
                </a:solidFill>
                <a:latin typeface="Calibri" pitchFamily="34" charset="0"/>
                <a:ea typeface="Calibri" pitchFamily="34" charset="-122"/>
                <a:cs typeface="Calibri" pitchFamily="34" charset="-120"/>
              </a:rPr>
              <a:t>The rules that keep it safe</a:t>
            </a:r>
            <a:endParaRPr lang="en-US" sz="3200" dirty="0"/>
          </a:p>
        </p:txBody>
      </p:sp>
      <p:sp>
        <p:nvSpPr>
          <p:cNvPr id="5" name="Shape 2"/>
          <p:cNvSpPr/>
          <p:nvPr/>
        </p:nvSpPr>
        <p:spPr>
          <a:xfrm>
            <a:off x="548640" y="1600200"/>
            <a:ext cx="3520440" cy="2057400"/>
          </a:xfrm>
          <a:prstGeom prst="roundRect">
            <a:avLst>
              <a:gd name="adj" fmla="val 3556"/>
            </a:avLst>
          </a:prstGeom>
          <a:solidFill>
            <a:srgbClr val="16283F"/>
          </a:solidFill>
          <a:ln w="12700">
            <a:solidFill>
              <a:srgbClr val="223650"/>
            </a:solidFill>
            <a:prstDash val="solid"/>
          </a:ln>
        </p:spPr>
      </p:sp>
      <p:sp>
        <p:nvSpPr>
          <p:cNvPr id="6" name="Shape 3"/>
          <p:cNvSpPr/>
          <p:nvPr/>
        </p:nvSpPr>
        <p:spPr>
          <a:xfrm>
            <a:off x="822960" y="1892808"/>
            <a:ext cx="146304" cy="146304"/>
          </a:xfrm>
          <a:prstGeom prst="ellipse">
            <a:avLst/>
          </a:prstGeom>
          <a:solidFill>
            <a:srgbClr val="34C759"/>
          </a:solidFill>
          <a:ln/>
        </p:spPr>
      </p:sp>
      <p:sp>
        <p:nvSpPr>
          <p:cNvPr id="7" name="Text 4"/>
          <p:cNvSpPr/>
          <p:nvPr/>
        </p:nvSpPr>
        <p:spPr>
          <a:xfrm>
            <a:off x="1078992" y="1783080"/>
            <a:ext cx="2834640" cy="594360"/>
          </a:xfrm>
          <a:prstGeom prst="rect">
            <a:avLst/>
          </a:prstGeom>
          <a:noFill/>
          <a:ln/>
        </p:spPr>
        <p:txBody>
          <a:bodyPr wrap="square" lIns="0" tIns="0" rIns="0" bIns="0" rtlCol="0" anchor="ctr"/>
          <a:lstStyle/>
          <a:p>
            <a:pPr indent="0" marL="0">
              <a:buNone/>
            </a:pPr>
            <a:r>
              <a:rPr lang="en-US" sz="1450" b="1" dirty="0">
                <a:solidFill>
                  <a:srgbClr val="34C759"/>
                </a:solidFill>
                <a:latin typeface="Calibri" pitchFamily="34" charset="0"/>
                <a:ea typeface="Calibri" pitchFamily="34" charset="-122"/>
                <a:cs typeface="Calibri" pitchFamily="34" charset="-120"/>
              </a:rPr>
              <a:t>Dry-run first, always</a:t>
            </a:r>
            <a:endParaRPr lang="en-US" sz="1450" dirty="0"/>
          </a:p>
        </p:txBody>
      </p:sp>
      <p:sp>
        <p:nvSpPr>
          <p:cNvPr id="8" name="Text 5"/>
          <p:cNvSpPr/>
          <p:nvPr/>
        </p:nvSpPr>
        <p:spPr>
          <a:xfrm>
            <a:off x="822960" y="2377440"/>
            <a:ext cx="3017520" cy="1188720"/>
          </a:xfrm>
          <a:prstGeom prst="rect">
            <a:avLst/>
          </a:prstGeom>
          <a:noFill/>
          <a:ln/>
        </p:spPr>
        <p:txBody>
          <a:bodyPr wrap="square" lIns="0" tIns="0" rIns="0" bIns="0" rtlCol="0" anchor="ctr"/>
          <a:lstStyle/>
          <a:p>
            <a:pPr indent="0" marL="0">
              <a:lnSpc>
                <a:spcPts val="1600"/>
              </a:lnSpc>
              <a:buNone/>
            </a:pPr>
            <a:r>
              <a:rPr lang="en-US" sz="1200" dirty="0">
                <a:solidFill>
                  <a:srgbClr val="E8EEF5"/>
                </a:solidFill>
                <a:latin typeface="Calibri" pitchFamily="34" charset="0"/>
                <a:ea typeface="Calibri" pitchFamily="34" charset="-122"/>
                <a:cs typeface="Calibri" pitchFamily="34" charset="-120"/>
              </a:rPr>
              <a:t>Every write shows its exact payload and sends nothing until deliberately executed.</a:t>
            </a:r>
            <a:endParaRPr lang="en-US" sz="1200" dirty="0"/>
          </a:p>
        </p:txBody>
      </p:sp>
      <p:sp>
        <p:nvSpPr>
          <p:cNvPr id="9" name="Shape 6"/>
          <p:cNvSpPr/>
          <p:nvPr/>
        </p:nvSpPr>
        <p:spPr>
          <a:xfrm>
            <a:off x="4343400" y="1600200"/>
            <a:ext cx="3520440" cy="2057400"/>
          </a:xfrm>
          <a:prstGeom prst="roundRect">
            <a:avLst>
              <a:gd name="adj" fmla="val 3556"/>
            </a:avLst>
          </a:prstGeom>
          <a:solidFill>
            <a:srgbClr val="16283F"/>
          </a:solidFill>
          <a:ln w="12700">
            <a:solidFill>
              <a:srgbClr val="223650"/>
            </a:solidFill>
            <a:prstDash val="solid"/>
          </a:ln>
        </p:spPr>
      </p:sp>
      <p:sp>
        <p:nvSpPr>
          <p:cNvPr id="10" name="Shape 7"/>
          <p:cNvSpPr/>
          <p:nvPr/>
        </p:nvSpPr>
        <p:spPr>
          <a:xfrm>
            <a:off x="4617720" y="1892808"/>
            <a:ext cx="146304" cy="146304"/>
          </a:xfrm>
          <a:prstGeom prst="ellipse">
            <a:avLst/>
          </a:prstGeom>
          <a:solidFill>
            <a:srgbClr val="FF5A5F"/>
          </a:solidFill>
          <a:ln/>
        </p:spPr>
      </p:sp>
      <p:sp>
        <p:nvSpPr>
          <p:cNvPr id="11" name="Text 8"/>
          <p:cNvSpPr/>
          <p:nvPr/>
        </p:nvSpPr>
        <p:spPr>
          <a:xfrm>
            <a:off x="4873752" y="1783080"/>
            <a:ext cx="2834640" cy="594360"/>
          </a:xfrm>
          <a:prstGeom prst="rect">
            <a:avLst/>
          </a:prstGeom>
          <a:noFill/>
          <a:ln/>
        </p:spPr>
        <p:txBody>
          <a:bodyPr wrap="square" lIns="0" tIns="0" rIns="0" bIns="0" rtlCol="0" anchor="ctr"/>
          <a:lstStyle/>
          <a:p>
            <a:pPr indent="0" marL="0">
              <a:buNone/>
            </a:pPr>
            <a:r>
              <a:rPr lang="en-US" sz="1450" b="1" dirty="0">
                <a:solidFill>
                  <a:srgbClr val="FF5A5F"/>
                </a:solidFill>
                <a:latin typeface="Calibri" pitchFamily="34" charset="0"/>
                <a:ea typeface="Calibri" pitchFamily="34" charset="-122"/>
                <a:cs typeface="Calibri" pitchFamily="34" charset="-120"/>
              </a:rPr>
              <a:t>No bulk claims, ever</a:t>
            </a:r>
            <a:endParaRPr lang="en-US" sz="1450" dirty="0"/>
          </a:p>
        </p:txBody>
      </p:sp>
      <p:sp>
        <p:nvSpPr>
          <p:cNvPr id="12" name="Text 9"/>
          <p:cNvSpPr/>
          <p:nvPr/>
        </p:nvSpPr>
        <p:spPr>
          <a:xfrm>
            <a:off x="4617720" y="2377440"/>
            <a:ext cx="3017520" cy="1188720"/>
          </a:xfrm>
          <a:prstGeom prst="rect">
            <a:avLst/>
          </a:prstGeom>
          <a:noFill/>
          <a:ln/>
        </p:spPr>
        <p:txBody>
          <a:bodyPr wrap="square" lIns="0" tIns="0" rIns="0" bIns="0" rtlCol="0" anchor="ctr"/>
          <a:lstStyle/>
          <a:p>
            <a:pPr indent="0" marL="0">
              <a:lnSpc>
                <a:spcPts val="1600"/>
              </a:lnSpc>
              <a:buNone/>
            </a:pPr>
            <a:r>
              <a:rPr lang="en-US" sz="1200" dirty="0">
                <a:solidFill>
                  <a:srgbClr val="E8EEF5"/>
                </a:solidFill>
                <a:latin typeface="Calibri" pitchFamily="34" charset="0"/>
                <a:ea typeface="Calibri" pitchFamily="34" charset="-122"/>
                <a:cs typeface="Calibri" pitchFamily="34" charset="-120"/>
              </a:rPr>
              <a:t>Blanket adds would fire transfer requests at real dealers and can silently overwrite our own records.</a:t>
            </a:r>
            <a:endParaRPr lang="en-US" sz="1200" dirty="0"/>
          </a:p>
        </p:txBody>
      </p:sp>
      <p:sp>
        <p:nvSpPr>
          <p:cNvPr id="13" name="Shape 10"/>
          <p:cNvSpPr/>
          <p:nvPr/>
        </p:nvSpPr>
        <p:spPr>
          <a:xfrm>
            <a:off x="8138160" y="1600200"/>
            <a:ext cx="3520440" cy="2057400"/>
          </a:xfrm>
          <a:prstGeom prst="roundRect">
            <a:avLst>
              <a:gd name="adj" fmla="val 3556"/>
            </a:avLst>
          </a:prstGeom>
          <a:solidFill>
            <a:srgbClr val="16283F"/>
          </a:solidFill>
          <a:ln w="12700">
            <a:solidFill>
              <a:srgbClr val="223650"/>
            </a:solidFill>
            <a:prstDash val="solid"/>
          </a:ln>
        </p:spPr>
      </p:sp>
      <p:sp>
        <p:nvSpPr>
          <p:cNvPr id="14" name="Shape 11"/>
          <p:cNvSpPr/>
          <p:nvPr/>
        </p:nvSpPr>
        <p:spPr>
          <a:xfrm>
            <a:off x="8412480" y="1892808"/>
            <a:ext cx="146304" cy="146304"/>
          </a:xfrm>
          <a:prstGeom prst="ellipse">
            <a:avLst/>
          </a:prstGeom>
          <a:solidFill>
            <a:srgbClr val="2EC4B6"/>
          </a:solidFill>
          <a:ln/>
        </p:spPr>
      </p:sp>
      <p:sp>
        <p:nvSpPr>
          <p:cNvPr id="15" name="Text 12"/>
          <p:cNvSpPr/>
          <p:nvPr/>
        </p:nvSpPr>
        <p:spPr>
          <a:xfrm>
            <a:off x="8668512" y="1783080"/>
            <a:ext cx="2834640" cy="594360"/>
          </a:xfrm>
          <a:prstGeom prst="rect">
            <a:avLst/>
          </a:prstGeom>
          <a:noFill/>
          <a:ln/>
        </p:spPr>
        <p:txBody>
          <a:bodyPr wrap="square" lIns="0" tIns="0" rIns="0" bIns="0" rtlCol="0" anchor="ctr"/>
          <a:lstStyle/>
          <a:p>
            <a:pPr indent="0" marL="0">
              <a:buNone/>
            </a:pPr>
            <a:r>
              <a:rPr lang="en-US" sz="1450" b="1" dirty="0">
                <a:solidFill>
                  <a:srgbClr val="2EC4B6"/>
                </a:solidFill>
                <a:latin typeface="Calibri" pitchFamily="34" charset="0"/>
                <a:ea typeface="Calibri" pitchFamily="34" charset="-122"/>
                <a:cs typeface="Calibri" pitchFamily="34" charset="-120"/>
              </a:rPr>
              <a:t>Shared customers excluded</a:t>
            </a:r>
            <a:endParaRPr lang="en-US" sz="1450" dirty="0"/>
          </a:p>
        </p:txBody>
      </p:sp>
      <p:sp>
        <p:nvSpPr>
          <p:cNvPr id="16" name="Text 13"/>
          <p:cNvSpPr/>
          <p:nvPr/>
        </p:nvSpPr>
        <p:spPr>
          <a:xfrm>
            <a:off x="8412480" y="2377440"/>
            <a:ext cx="3017520" cy="1188720"/>
          </a:xfrm>
          <a:prstGeom prst="rect">
            <a:avLst/>
          </a:prstGeom>
          <a:noFill/>
          <a:ln/>
        </p:spPr>
        <p:txBody>
          <a:bodyPr wrap="square" lIns="0" tIns="0" rIns="0" bIns="0" rtlCol="0" anchor="ctr"/>
          <a:lstStyle/>
          <a:p>
            <a:pPr indent="0" marL="0">
              <a:lnSpc>
                <a:spcPts val="1600"/>
              </a:lnSpc>
              <a:buNone/>
            </a:pPr>
            <a:r>
              <a:rPr lang="en-US" sz="1200" dirty="0">
                <a:solidFill>
                  <a:srgbClr val="E8EEF5"/>
                </a:solidFill>
                <a:latin typeface="Calibri" pitchFamily="34" charset="0"/>
                <a:ea typeface="Calibri" pitchFamily="34" charset="-122"/>
                <a:cs typeface="Calibri" pitchFamily="34" charset="-120"/>
              </a:rPr>
              <a:t>When another dealer serves the same customer, the machine routes to coordination — never a claim.</a:t>
            </a:r>
            <a:endParaRPr lang="en-US" sz="1200" dirty="0"/>
          </a:p>
        </p:txBody>
      </p:sp>
      <p:sp>
        <p:nvSpPr>
          <p:cNvPr id="17" name="Shape 14"/>
          <p:cNvSpPr/>
          <p:nvPr/>
        </p:nvSpPr>
        <p:spPr>
          <a:xfrm>
            <a:off x="548640" y="3886200"/>
            <a:ext cx="3520440" cy="2057400"/>
          </a:xfrm>
          <a:prstGeom prst="roundRect">
            <a:avLst>
              <a:gd name="adj" fmla="val 3556"/>
            </a:avLst>
          </a:prstGeom>
          <a:solidFill>
            <a:srgbClr val="16283F"/>
          </a:solidFill>
          <a:ln w="12700">
            <a:solidFill>
              <a:srgbClr val="223650"/>
            </a:solidFill>
            <a:prstDash val="solid"/>
          </a:ln>
        </p:spPr>
      </p:sp>
      <p:sp>
        <p:nvSpPr>
          <p:cNvPr id="18" name="Shape 15"/>
          <p:cNvSpPr/>
          <p:nvPr/>
        </p:nvSpPr>
        <p:spPr>
          <a:xfrm>
            <a:off x="822960" y="4178808"/>
            <a:ext cx="146304" cy="146304"/>
          </a:xfrm>
          <a:prstGeom prst="ellipse">
            <a:avLst/>
          </a:prstGeom>
          <a:solidFill>
            <a:srgbClr val="FFC72C"/>
          </a:solidFill>
          <a:ln/>
        </p:spPr>
      </p:sp>
      <p:sp>
        <p:nvSpPr>
          <p:cNvPr id="19" name="Text 16"/>
          <p:cNvSpPr/>
          <p:nvPr/>
        </p:nvSpPr>
        <p:spPr>
          <a:xfrm>
            <a:off x="1078992" y="4069080"/>
            <a:ext cx="2834640" cy="594360"/>
          </a:xfrm>
          <a:prstGeom prst="rect">
            <a:avLst/>
          </a:prstGeom>
          <a:noFill/>
          <a:ln/>
        </p:spPr>
        <p:txBody>
          <a:bodyPr wrap="square" lIns="0" tIns="0" rIns="0" bIns="0" rtlCol="0" anchor="ctr"/>
          <a:lstStyle/>
          <a:p>
            <a:pPr indent="0" marL="0">
              <a:buNone/>
            </a:pPr>
            <a:r>
              <a:rPr lang="en-US" sz="1450" b="1" dirty="0">
                <a:solidFill>
                  <a:srgbClr val="FFC72C"/>
                </a:solidFill>
                <a:latin typeface="Calibri" pitchFamily="34" charset="0"/>
                <a:ea typeface="Calibri" pitchFamily="34" charset="-122"/>
                <a:cs typeface="Calibri" pitchFamily="34" charset="-120"/>
              </a:rPr>
              <a:t>CCAT owns the model</a:t>
            </a:r>
            <a:endParaRPr lang="en-US" sz="1450" dirty="0"/>
          </a:p>
        </p:txBody>
      </p:sp>
      <p:sp>
        <p:nvSpPr>
          <p:cNvPr id="20" name="Text 17"/>
          <p:cNvSpPr/>
          <p:nvPr/>
        </p:nvSpPr>
        <p:spPr>
          <a:xfrm>
            <a:off x="822960" y="4663440"/>
            <a:ext cx="3017520" cy="1188720"/>
          </a:xfrm>
          <a:prstGeom prst="rect">
            <a:avLst/>
          </a:prstGeom>
          <a:noFill/>
          <a:ln/>
        </p:spPr>
        <p:txBody>
          <a:bodyPr wrap="square" lIns="0" tIns="0" rIns="0" bIns="0" rtlCol="0" anchor="ctr"/>
          <a:lstStyle/>
          <a:p>
            <a:pPr indent="0" marL="0">
              <a:lnSpc>
                <a:spcPts val="1600"/>
              </a:lnSpc>
              <a:buNone/>
            </a:pPr>
            <a:r>
              <a:rPr lang="en-US" sz="1200" dirty="0">
                <a:solidFill>
                  <a:srgbClr val="E8EEF5"/>
                </a:solidFill>
                <a:latin typeface="Calibri" pitchFamily="34" charset="0"/>
                <a:ea typeface="Calibri" pitchFamily="34" charset="-122"/>
                <a:cs typeface="Calibri" pitchFamily="34" charset="-120"/>
              </a:rPr>
              <a:t>We never push our model names over Caterpillar's — their versions are what Cat systems recognize.</a:t>
            </a:r>
            <a:endParaRPr lang="en-US" sz="1200" dirty="0"/>
          </a:p>
        </p:txBody>
      </p:sp>
      <p:sp>
        <p:nvSpPr>
          <p:cNvPr id="21" name="Shape 18"/>
          <p:cNvSpPr/>
          <p:nvPr/>
        </p:nvSpPr>
        <p:spPr>
          <a:xfrm>
            <a:off x="4343400" y="3886200"/>
            <a:ext cx="3520440" cy="2057400"/>
          </a:xfrm>
          <a:prstGeom prst="roundRect">
            <a:avLst>
              <a:gd name="adj" fmla="val 3556"/>
            </a:avLst>
          </a:prstGeom>
          <a:solidFill>
            <a:srgbClr val="16283F"/>
          </a:solidFill>
          <a:ln w="12700">
            <a:solidFill>
              <a:srgbClr val="223650"/>
            </a:solidFill>
            <a:prstDash val="solid"/>
          </a:ln>
        </p:spPr>
      </p:sp>
      <p:sp>
        <p:nvSpPr>
          <p:cNvPr id="22" name="Shape 19"/>
          <p:cNvSpPr/>
          <p:nvPr/>
        </p:nvSpPr>
        <p:spPr>
          <a:xfrm>
            <a:off x="4617720" y="4178808"/>
            <a:ext cx="146304" cy="146304"/>
          </a:xfrm>
          <a:prstGeom prst="ellipse">
            <a:avLst/>
          </a:prstGeom>
          <a:solidFill>
            <a:srgbClr val="FF9F1C"/>
          </a:solidFill>
          <a:ln/>
        </p:spPr>
      </p:sp>
      <p:sp>
        <p:nvSpPr>
          <p:cNvPr id="23" name="Text 20"/>
          <p:cNvSpPr/>
          <p:nvPr/>
        </p:nvSpPr>
        <p:spPr>
          <a:xfrm>
            <a:off x="4873752" y="4069080"/>
            <a:ext cx="2834640" cy="594360"/>
          </a:xfrm>
          <a:prstGeom prst="rect">
            <a:avLst/>
          </a:prstGeom>
          <a:noFill/>
          <a:ln/>
        </p:spPr>
        <p:txBody>
          <a:bodyPr wrap="square" lIns="0" tIns="0" rIns="0" bIns="0" rtlCol="0" anchor="ctr"/>
          <a:lstStyle/>
          <a:p>
            <a:pPr indent="0" marL="0">
              <a:buNone/>
            </a:pPr>
            <a:r>
              <a:rPr lang="en-US" sz="1450" b="1" dirty="0">
                <a:solidFill>
                  <a:srgbClr val="FF9F1C"/>
                </a:solidFill>
                <a:latin typeface="Calibri" pitchFamily="34" charset="0"/>
                <a:ea typeface="Calibri" pitchFamily="34" charset="-122"/>
                <a:cs typeface="Calibri" pitchFamily="34" charset="-120"/>
              </a:rPr>
              <a:t>Production awareness</a:t>
            </a:r>
            <a:endParaRPr lang="en-US" sz="1450" dirty="0"/>
          </a:p>
        </p:txBody>
      </p:sp>
      <p:sp>
        <p:nvSpPr>
          <p:cNvPr id="24" name="Text 21"/>
          <p:cNvSpPr/>
          <p:nvPr/>
        </p:nvSpPr>
        <p:spPr>
          <a:xfrm>
            <a:off x="4617720" y="4663440"/>
            <a:ext cx="3017520" cy="1188720"/>
          </a:xfrm>
          <a:prstGeom prst="rect">
            <a:avLst/>
          </a:prstGeom>
          <a:noFill/>
          <a:ln/>
        </p:spPr>
        <p:txBody>
          <a:bodyPr wrap="square" lIns="0" tIns="0" rIns="0" bIns="0" rtlCol="0" anchor="ctr"/>
          <a:lstStyle/>
          <a:p>
            <a:pPr indent="0" marL="0">
              <a:lnSpc>
                <a:spcPts val="1600"/>
              </a:lnSpc>
              <a:buNone/>
            </a:pPr>
            <a:r>
              <a:rPr lang="en-US" sz="1200" dirty="0">
                <a:solidFill>
                  <a:srgbClr val="E8EEF5"/>
                </a:solidFill>
                <a:latin typeface="Calibri" pitchFamily="34" charset="0"/>
                <a:ea typeface="Calibri" pitchFamily="34" charset="-122"/>
                <a:cs typeface="Calibri" pitchFamily="34" charset="-120"/>
              </a:rPr>
              <a:t>Caterpillar has no test environment. Every write is treated as real, because it is.</a:t>
            </a:r>
            <a:endParaRPr lang="en-US" sz="1200" dirty="0"/>
          </a:p>
        </p:txBody>
      </p:sp>
      <p:sp>
        <p:nvSpPr>
          <p:cNvPr id="25" name="Shape 22"/>
          <p:cNvSpPr/>
          <p:nvPr/>
        </p:nvSpPr>
        <p:spPr>
          <a:xfrm>
            <a:off x="8138160" y="3886200"/>
            <a:ext cx="3520440" cy="2057400"/>
          </a:xfrm>
          <a:prstGeom prst="roundRect">
            <a:avLst>
              <a:gd name="adj" fmla="val 3556"/>
            </a:avLst>
          </a:prstGeom>
          <a:solidFill>
            <a:srgbClr val="16283F"/>
          </a:solidFill>
          <a:ln w="12700">
            <a:solidFill>
              <a:srgbClr val="223650"/>
            </a:solidFill>
            <a:prstDash val="solid"/>
          </a:ln>
        </p:spPr>
      </p:sp>
      <p:sp>
        <p:nvSpPr>
          <p:cNvPr id="26" name="Shape 23"/>
          <p:cNvSpPr/>
          <p:nvPr/>
        </p:nvSpPr>
        <p:spPr>
          <a:xfrm>
            <a:off x="8412480" y="4178808"/>
            <a:ext cx="146304" cy="146304"/>
          </a:xfrm>
          <a:prstGeom prst="ellipse">
            <a:avLst/>
          </a:prstGeom>
          <a:solidFill>
            <a:srgbClr val="4DA3FF"/>
          </a:solidFill>
          <a:ln/>
        </p:spPr>
      </p:sp>
      <p:sp>
        <p:nvSpPr>
          <p:cNvPr id="27" name="Text 24"/>
          <p:cNvSpPr/>
          <p:nvPr/>
        </p:nvSpPr>
        <p:spPr>
          <a:xfrm>
            <a:off x="8668512" y="4069080"/>
            <a:ext cx="2834640" cy="594360"/>
          </a:xfrm>
          <a:prstGeom prst="rect">
            <a:avLst/>
          </a:prstGeom>
          <a:noFill/>
          <a:ln/>
        </p:spPr>
        <p:txBody>
          <a:bodyPr wrap="square" lIns="0" tIns="0" rIns="0" bIns="0" rtlCol="0" anchor="ctr"/>
          <a:lstStyle/>
          <a:p>
            <a:pPr indent="0" marL="0">
              <a:buNone/>
            </a:pPr>
            <a:r>
              <a:rPr lang="en-US" sz="1450" b="1" dirty="0">
                <a:solidFill>
                  <a:srgbClr val="4DA3FF"/>
                </a:solidFill>
                <a:latin typeface="Calibri" pitchFamily="34" charset="0"/>
                <a:ea typeface="Calibri" pitchFamily="34" charset="-122"/>
                <a:cs typeface="Calibri" pitchFamily="34" charset="-120"/>
              </a:rPr>
              <a:t>Compliance tables are sacred</a:t>
            </a:r>
            <a:endParaRPr lang="en-US" sz="1450" dirty="0"/>
          </a:p>
        </p:txBody>
      </p:sp>
      <p:sp>
        <p:nvSpPr>
          <p:cNvPr id="28" name="Text 25"/>
          <p:cNvSpPr/>
          <p:nvPr/>
        </p:nvSpPr>
        <p:spPr>
          <a:xfrm>
            <a:off x="8412480" y="4663440"/>
            <a:ext cx="3017520" cy="1188720"/>
          </a:xfrm>
          <a:prstGeom prst="rect">
            <a:avLst/>
          </a:prstGeom>
          <a:noFill/>
          <a:ln/>
        </p:spPr>
        <p:txBody>
          <a:bodyPr wrap="square" lIns="0" tIns="0" rIns="0" bIns="0" rtlCol="0" anchor="ctr"/>
          <a:lstStyle/>
          <a:p>
            <a:pPr indent="0" marL="0">
              <a:lnSpc>
                <a:spcPts val="1600"/>
              </a:lnSpc>
              <a:buNone/>
            </a:pPr>
            <a:r>
              <a:rPr lang="en-US" sz="1200" dirty="0">
                <a:solidFill>
                  <a:srgbClr val="E8EEF5"/>
                </a:solidFill>
                <a:latin typeface="Calibri" pitchFamily="34" charset="0"/>
                <a:ea typeface="Calibri" pitchFamily="34" charset="-122"/>
                <a:cs typeface="Calibri" pitchFamily="34" charset="-120"/>
              </a:rPr>
              <a:t>Audit and history are append-only by permission and kept forever — off the reset list permanently.</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548640" y="292608"/>
            <a:ext cx="11064240" cy="274320"/>
          </a:xfrm>
          <a:prstGeom prst="rect">
            <a:avLst/>
          </a:prstGeom>
          <a:noFill/>
          <a:ln/>
        </p:spPr>
        <p:txBody>
          <a:bodyPr wrap="square" lIns="0" tIns="0" rIns="0" bIns="0" rtlCol="0" anchor="ctr"/>
          <a:lstStyle/>
          <a:p>
            <a:pPr indent="0" marL="0">
              <a:buNone/>
            </a:pPr>
            <a:r>
              <a:rPr lang="en-US" sz="1200" b="1" spc="300" kern="0" dirty="0">
                <a:solidFill>
                  <a:srgbClr val="FFC72C"/>
                </a:solidFill>
                <a:latin typeface="Calibri" pitchFamily="34" charset="0"/>
                <a:ea typeface="Calibri" pitchFamily="34" charset="-122"/>
                <a:cs typeface="Calibri" pitchFamily="34" charset="-120"/>
              </a:rPr>
              <a:t>STATUS</a:t>
            </a:r>
            <a:endParaRPr lang="en-US" sz="1200" dirty="0"/>
          </a:p>
        </p:txBody>
      </p:sp>
      <p:sp>
        <p:nvSpPr>
          <p:cNvPr id="3" name="Text 1"/>
          <p:cNvSpPr/>
          <p:nvPr/>
        </p:nvSpPr>
        <p:spPr>
          <a:xfrm>
            <a:off x="548640" y="530352"/>
            <a:ext cx="11064240" cy="685800"/>
          </a:xfrm>
          <a:prstGeom prst="rect">
            <a:avLst/>
          </a:prstGeom>
          <a:noFill/>
          <a:ln/>
        </p:spPr>
        <p:txBody>
          <a:bodyPr wrap="square" lIns="0" tIns="0" rIns="0" bIns="0" rtlCol="0" anchor="ctr"/>
          <a:lstStyle/>
          <a:p>
            <a:pPr indent="0" marL="0">
              <a:buNone/>
            </a:pPr>
            <a:r>
              <a:rPr lang="en-US" sz="3200" b="1" dirty="0">
                <a:solidFill>
                  <a:srgbClr val="E8EEF5"/>
                </a:solidFill>
                <a:latin typeface="Calibri" pitchFamily="34" charset="0"/>
                <a:ea typeface="Calibri" pitchFamily="34" charset="-122"/>
                <a:cs typeface="Calibri" pitchFamily="34" charset="-120"/>
              </a:rPr>
              <a:t>Where it stands</a:t>
            </a:r>
            <a:endParaRPr lang="en-US" sz="3200" dirty="0"/>
          </a:p>
        </p:txBody>
      </p:sp>
      <p:sp>
        <p:nvSpPr>
          <p:cNvPr id="5" name="Shape 2"/>
          <p:cNvSpPr/>
          <p:nvPr/>
        </p:nvSpPr>
        <p:spPr>
          <a:xfrm>
            <a:off x="548640" y="1600200"/>
            <a:ext cx="5394960" cy="4480560"/>
          </a:xfrm>
          <a:prstGeom prst="roundRect">
            <a:avLst>
              <a:gd name="adj" fmla="val 1633"/>
            </a:avLst>
          </a:prstGeom>
          <a:solidFill>
            <a:srgbClr val="16283F"/>
          </a:solidFill>
          <a:ln w="12700">
            <a:solidFill>
              <a:srgbClr val="223650"/>
            </a:solidFill>
            <a:prstDash val="solid"/>
          </a:ln>
        </p:spPr>
      </p:sp>
      <p:sp>
        <p:nvSpPr>
          <p:cNvPr id="6" name="Text 3"/>
          <p:cNvSpPr/>
          <p:nvPr/>
        </p:nvSpPr>
        <p:spPr>
          <a:xfrm>
            <a:off x="822960" y="1874520"/>
            <a:ext cx="4754880" cy="411480"/>
          </a:xfrm>
          <a:prstGeom prst="rect">
            <a:avLst/>
          </a:prstGeom>
          <a:noFill/>
          <a:ln/>
        </p:spPr>
        <p:txBody>
          <a:bodyPr wrap="square" lIns="0" tIns="0" rIns="0" bIns="0" rtlCol="0" anchor="ctr"/>
          <a:lstStyle/>
          <a:p>
            <a:pPr indent="0" marL="0">
              <a:buNone/>
            </a:pPr>
            <a:r>
              <a:rPr lang="en-US" sz="1900" b="1" dirty="0">
                <a:solidFill>
                  <a:srgbClr val="34C759"/>
                </a:solidFill>
                <a:latin typeface="Calibri" pitchFamily="34" charset="0"/>
                <a:ea typeface="Calibri" pitchFamily="34" charset="-122"/>
                <a:cs typeface="Calibri" pitchFamily="34" charset="-120"/>
              </a:rPr>
              <a:t>Working today</a:t>
            </a:r>
            <a:endParaRPr lang="en-US" sz="1900" dirty="0"/>
          </a:p>
        </p:txBody>
      </p:sp>
      <p:sp>
        <p:nvSpPr>
          <p:cNvPr id="7" name="Text 4"/>
          <p:cNvSpPr/>
          <p:nvPr/>
        </p:nvSpPr>
        <p:spPr>
          <a:xfrm>
            <a:off x="822960" y="2423160"/>
            <a:ext cx="4846320" cy="347472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400" dirty="0">
                <a:solidFill>
                  <a:srgbClr val="E8EEF5"/>
                </a:solidFill>
                <a:latin typeface="Calibri" pitchFamily="34" charset="0"/>
                <a:ea typeface="Calibri" pitchFamily="34" charset="-122"/>
                <a:cs typeface="Calibri" pitchFamily="34" charset="-120"/>
              </a:rPr>
              <a:t>Detection sweep, proven at thousand-machine scale</a:t>
            </a:r>
            <a:endParaRPr lang="en-US" sz="1400" dirty="0"/>
          </a:p>
          <a:p>
            <a:pPr marL="342900" indent="-342900">
              <a:lnSpc>
                <a:spcPts val="1900"/>
              </a:lnSpc>
              <a:spcAft>
                <a:spcPts val="600"/>
              </a:spcAft>
              <a:buSzPct val="100000"/>
              <a:buChar char="•"/>
            </a:pPr>
            <a:r>
              <a:rPr lang="en-US" sz="1400" dirty="0">
                <a:solidFill>
                  <a:srgbClr val="E8EEF5"/>
                </a:solidFill>
                <a:latin typeface="Calibri" pitchFamily="34" charset="0"/>
                <a:ea typeface="Calibri" pitchFamily="34" charset="-122"/>
                <a:cs typeface="Calibri" pitchFamily="34" charset="-120"/>
              </a:rPr>
              <a:t>Phase dashboard: phase, action, and why per machine</a:t>
            </a:r>
            <a:endParaRPr lang="en-US" sz="1400" dirty="0"/>
          </a:p>
          <a:p>
            <a:pPr marL="342900" indent="-342900">
              <a:lnSpc>
                <a:spcPts val="1900"/>
              </a:lnSpc>
              <a:spcAft>
                <a:spcPts val="600"/>
              </a:spcAft>
              <a:buSzPct val="100000"/>
              <a:buChar char="•"/>
            </a:pPr>
            <a:r>
              <a:rPr lang="en-US" sz="1400" dirty="0">
                <a:solidFill>
                  <a:srgbClr val="E8EEF5"/>
                </a:solidFill>
                <a:latin typeface="Calibri" pitchFamily="34" charset="0"/>
                <a:ea typeface="Calibri" pitchFamily="34" charset="-122"/>
                <a:cs typeface="Calibri" pitchFamily="34" charset="-120"/>
              </a:rPr>
              <a:t>Audited procedures for adds, inventory adds, and customer reassignment — real adds executed in production</a:t>
            </a:r>
            <a:endParaRPr lang="en-US" sz="1400" dirty="0"/>
          </a:p>
          <a:p>
            <a:pPr marL="342900" indent="-342900">
              <a:lnSpc>
                <a:spcPts val="1900"/>
              </a:lnSpc>
              <a:spcAft>
                <a:spcPts val="600"/>
              </a:spcAft>
              <a:buSzPct val="100000"/>
              <a:buChar char="•"/>
            </a:pPr>
            <a:r>
              <a:rPr lang="en-US" sz="1400" dirty="0">
                <a:solidFill>
                  <a:srgbClr val="E8EEF5"/>
                </a:solidFill>
                <a:latin typeface="Calibri" pitchFamily="34" charset="0"/>
                <a:ea typeface="Calibri" pitchFamily="34" charset="-122"/>
                <a:cs typeface="Calibri" pitchFamily="34" charset="-120"/>
              </a:rPr>
              <a:t>Audit + history compliance layer</a:t>
            </a:r>
            <a:endParaRPr lang="en-US" sz="1400" dirty="0"/>
          </a:p>
          <a:p>
            <a:pPr marL="342900" indent="-342900">
              <a:lnSpc>
                <a:spcPts val="1900"/>
              </a:lnSpc>
              <a:buSzPct val="100000"/>
              <a:buChar char="•"/>
            </a:pPr>
            <a:r>
              <a:rPr lang="en-US" sz="1400" dirty="0">
                <a:solidFill>
                  <a:srgbClr val="E8EEF5"/>
                </a:solidFill>
                <a:latin typeface="Calibri" pitchFamily="34" charset="0"/>
                <a:ea typeface="Calibri" pitchFamily="34" charset="-122"/>
                <a:cs typeface="Calibri" pitchFamily="34" charset="-120"/>
              </a:rPr>
              <a:t>Full documentation and a versioned SQL reference</a:t>
            </a:r>
            <a:endParaRPr lang="en-US" sz="1400" dirty="0"/>
          </a:p>
        </p:txBody>
      </p:sp>
      <p:sp>
        <p:nvSpPr>
          <p:cNvPr id="8" name="Shape 5"/>
          <p:cNvSpPr/>
          <p:nvPr/>
        </p:nvSpPr>
        <p:spPr>
          <a:xfrm>
            <a:off x="6217920" y="1600200"/>
            <a:ext cx="5394960" cy="4480560"/>
          </a:xfrm>
          <a:prstGeom prst="roundRect">
            <a:avLst>
              <a:gd name="adj" fmla="val 1633"/>
            </a:avLst>
          </a:prstGeom>
          <a:solidFill>
            <a:srgbClr val="16283F"/>
          </a:solidFill>
          <a:ln w="12700">
            <a:solidFill>
              <a:srgbClr val="223650"/>
            </a:solidFill>
            <a:prstDash val="solid"/>
          </a:ln>
        </p:spPr>
      </p:sp>
      <p:sp>
        <p:nvSpPr>
          <p:cNvPr id="9" name="Text 6"/>
          <p:cNvSpPr/>
          <p:nvPr/>
        </p:nvSpPr>
        <p:spPr>
          <a:xfrm>
            <a:off x="6492240" y="1874520"/>
            <a:ext cx="4754880" cy="411480"/>
          </a:xfrm>
          <a:prstGeom prst="rect">
            <a:avLst/>
          </a:prstGeom>
          <a:noFill/>
          <a:ln/>
        </p:spPr>
        <p:txBody>
          <a:bodyPr wrap="square" lIns="0" tIns="0" rIns="0" bIns="0" rtlCol="0" anchor="ctr"/>
          <a:lstStyle/>
          <a:p>
            <a:pPr indent="0" marL="0">
              <a:buNone/>
            </a:pPr>
            <a:r>
              <a:rPr lang="en-US" sz="1900" b="1" dirty="0">
                <a:solidFill>
                  <a:srgbClr val="FFC72C"/>
                </a:solidFill>
                <a:latin typeface="Calibri" pitchFamily="34" charset="0"/>
                <a:ea typeface="Calibri" pitchFamily="34" charset="-122"/>
                <a:cs typeface="Calibri" pitchFamily="34" charset="-120"/>
              </a:rPr>
              <a:t>Next</a:t>
            </a:r>
            <a:endParaRPr lang="en-US" sz="1900" dirty="0"/>
          </a:p>
        </p:txBody>
      </p:sp>
      <p:sp>
        <p:nvSpPr>
          <p:cNvPr id="10" name="Text 7"/>
          <p:cNvSpPr/>
          <p:nvPr/>
        </p:nvSpPr>
        <p:spPr>
          <a:xfrm>
            <a:off x="6492240" y="2423160"/>
            <a:ext cx="4846320" cy="3474720"/>
          </a:xfrm>
          <a:prstGeom prst="rect">
            <a:avLst/>
          </a:prstGeom>
          <a:noFill/>
          <a:ln/>
        </p:spPr>
        <p:txBody>
          <a:bodyPr wrap="square" lIns="0" tIns="0" rIns="0" bIns="0" rtlCol="0" anchor="ctr"/>
          <a:lstStyle/>
          <a:p>
            <a:pPr marL="342900" indent="-342900">
              <a:lnSpc>
                <a:spcPts val="1900"/>
              </a:lnSpc>
              <a:spcAft>
                <a:spcPts val="600"/>
              </a:spcAft>
              <a:buSzPct val="100000"/>
              <a:buChar char="•"/>
            </a:pPr>
            <a:r>
              <a:rPr lang="en-US" sz="1400" dirty="0">
                <a:solidFill>
                  <a:srgbClr val="E8EEF5"/>
                </a:solidFill>
                <a:latin typeface="Calibri" pitchFamily="34" charset="0"/>
                <a:ea typeface="Calibri" pitchFamily="34" charset="-122"/>
                <a:cs typeface="Calibri" pitchFamily="34" charset="-120"/>
              </a:rPr>
              <a:t>Schedule the sweep as a nightly Snowflake task</a:t>
            </a:r>
            <a:endParaRPr lang="en-US" sz="1400" dirty="0"/>
          </a:p>
          <a:p>
            <a:pPr marL="342900" indent="-342900">
              <a:lnSpc>
                <a:spcPts val="1900"/>
              </a:lnSpc>
              <a:spcAft>
                <a:spcPts val="600"/>
              </a:spcAft>
              <a:buSzPct val="100000"/>
              <a:buChar char="•"/>
            </a:pPr>
            <a:r>
              <a:rPr lang="en-US" sz="1400" dirty="0">
                <a:solidFill>
                  <a:srgbClr val="E8EEF5"/>
                </a:solidFill>
                <a:latin typeface="Calibri" pitchFamily="34" charset="0"/>
                <a:ea typeface="Calibri" pitchFamily="34" charset="-122"/>
                <a:cs typeface="Calibri" pitchFamily="34" charset="-120"/>
              </a:rPr>
              <a:t>Batch runner for the safe-add pile, with volume caps</a:t>
            </a:r>
            <a:endParaRPr lang="en-US" sz="1400" dirty="0"/>
          </a:p>
          <a:p>
            <a:pPr marL="342900" indent="-342900">
              <a:lnSpc>
                <a:spcPts val="1900"/>
              </a:lnSpc>
              <a:spcAft>
                <a:spcPts val="600"/>
              </a:spcAft>
              <a:buSzPct val="100000"/>
              <a:buChar char="•"/>
            </a:pPr>
            <a:r>
              <a:rPr lang="en-US" sz="1400" dirty="0">
                <a:solidFill>
                  <a:srgbClr val="E8EEF5"/>
                </a:solidFill>
                <a:latin typeface="Calibri" pitchFamily="34" charset="0"/>
                <a:ea typeface="Calibri" pitchFamily="34" charset="-122"/>
                <a:cs typeface="Calibri" pitchFamily="34" charset="-120"/>
              </a:rPr>
              <a:t>Backfill and transfer wrappers (same audited pattern)</a:t>
            </a:r>
            <a:endParaRPr lang="en-US" sz="1400" dirty="0"/>
          </a:p>
          <a:p>
            <a:pPr marL="342900" indent="-342900">
              <a:lnSpc>
                <a:spcPts val="1900"/>
              </a:lnSpc>
              <a:spcAft>
                <a:spcPts val="600"/>
              </a:spcAft>
              <a:buSzPct val="100000"/>
              <a:buChar char="•"/>
            </a:pPr>
            <a:r>
              <a:rPr lang="en-US" sz="1400" dirty="0">
                <a:solidFill>
                  <a:srgbClr val="E8EEF5"/>
                </a:solidFill>
                <a:latin typeface="Calibri" pitchFamily="34" charset="0"/>
                <a:ea typeface="Calibri" pitchFamily="34" charset="-122"/>
                <a:cs typeface="Calibri" pitchFamily="34" charset="-120"/>
              </a:rPr>
              <a:t>Reader/writer access roles once rollout is approved</a:t>
            </a:r>
            <a:endParaRPr lang="en-US" sz="1400" dirty="0"/>
          </a:p>
          <a:p>
            <a:pPr marL="342900" indent="-342900">
              <a:lnSpc>
                <a:spcPts val="1900"/>
              </a:lnSpc>
              <a:buSzPct val="100000"/>
              <a:buChar char="•"/>
            </a:pPr>
            <a:r>
              <a:rPr lang="en-US" sz="1400" dirty="0">
                <a:solidFill>
                  <a:srgbClr val="E8EEF5"/>
                </a:solidFill>
                <a:latin typeface="Calibri" pitchFamily="34" charset="0"/>
                <a:ea typeface="Calibri" pitchFamily="34" charset="-122"/>
                <a:cs typeface="Calibri" pitchFamily="34" charset="-120"/>
              </a:rPr>
              <a:t>Review workflow at ~10 resolutions per shift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B2A"/>
        </a:solidFill>
      </p:bgPr>
    </p:bg>
    <p:spTree>
      <p:nvGrpSpPr>
        <p:cNvPr id="1" name=""/>
        <p:cNvGrpSpPr/>
        <p:nvPr/>
      </p:nvGrpSpPr>
      <p:grpSpPr>
        <a:xfrm>
          <a:off x="0" y="0"/>
          <a:ext cx="0" cy="0"/>
          <a:chOff x="0" y="0"/>
          <a:chExt cx="0" cy="0"/>
        </a:xfrm>
      </p:grpSpPr>
      <p:sp>
        <p:nvSpPr>
          <p:cNvPr id="2" name="Text 0"/>
          <p:cNvSpPr/>
          <p:nvPr/>
        </p:nvSpPr>
        <p:spPr>
          <a:xfrm>
            <a:off x="822960" y="2286000"/>
            <a:ext cx="10515600" cy="731520"/>
          </a:xfrm>
          <a:prstGeom prst="rect">
            <a:avLst/>
          </a:prstGeom>
          <a:noFill/>
          <a:ln/>
        </p:spPr>
        <p:txBody>
          <a:bodyPr wrap="square" lIns="0" tIns="0" rIns="0" bIns="0" rtlCol="0" anchor="ctr"/>
          <a:lstStyle/>
          <a:p>
            <a:pPr indent="0" marL="0">
              <a:buNone/>
            </a:pPr>
            <a:r>
              <a:rPr lang="en-US" sz="4000" b="1" dirty="0">
                <a:solidFill>
                  <a:srgbClr val="E8EEF5"/>
                </a:solidFill>
                <a:latin typeface="Calibri" pitchFamily="34" charset="0"/>
                <a:ea typeface="Calibri" pitchFamily="34" charset="-122"/>
                <a:cs typeface="Calibri" pitchFamily="34" charset="-120"/>
              </a:rPr>
              <a:t>The system sorts every machine.</a:t>
            </a:r>
            <a:endParaRPr lang="en-US" sz="4000" dirty="0"/>
          </a:p>
        </p:txBody>
      </p:sp>
      <p:sp>
        <p:nvSpPr>
          <p:cNvPr id="3" name="Text 1"/>
          <p:cNvSpPr/>
          <p:nvPr/>
        </p:nvSpPr>
        <p:spPr>
          <a:xfrm>
            <a:off x="822960" y="3154680"/>
            <a:ext cx="10515600" cy="640080"/>
          </a:xfrm>
          <a:prstGeom prst="rect">
            <a:avLst/>
          </a:prstGeom>
          <a:noFill/>
          <a:ln/>
        </p:spPr>
        <p:txBody>
          <a:bodyPr wrap="square" lIns="0" tIns="0" rIns="0" bIns="0" rtlCol="0" anchor="ctr"/>
          <a:lstStyle/>
          <a:p>
            <a:pPr indent="0" marL="0">
              <a:buNone/>
            </a:pPr>
            <a:r>
              <a:rPr lang="en-US" sz="2800" dirty="0">
                <a:solidFill>
                  <a:srgbClr val="FFC72C"/>
                </a:solidFill>
                <a:latin typeface="Calibri" pitchFamily="34" charset="0"/>
                <a:ea typeface="Calibri" pitchFamily="34" charset="-122"/>
                <a:cs typeface="Calibri" pitchFamily="34" charset="-120"/>
              </a:rPr>
              <a:t>People decide only the ones that need judgment.</a:t>
            </a:r>
            <a:endParaRPr lang="en-US" sz="2800" dirty="0"/>
          </a:p>
        </p:txBody>
      </p:sp>
      <p:sp>
        <p:nvSpPr>
          <p:cNvPr id="4" name="Text 2"/>
          <p:cNvSpPr/>
          <p:nvPr/>
        </p:nvSpPr>
        <p:spPr>
          <a:xfrm>
            <a:off x="822960" y="5943600"/>
            <a:ext cx="10515600" cy="365760"/>
          </a:xfrm>
          <a:prstGeom prst="rect">
            <a:avLst/>
          </a:prstGeom>
          <a:noFill/>
          <a:ln/>
        </p:spPr>
        <p:txBody>
          <a:bodyPr wrap="square" lIns="0" tIns="0" rIns="0" bIns="0" rtlCol="0" anchor="ctr"/>
          <a:lstStyle/>
          <a:p>
            <a:pPr indent="0" marL="0">
              <a:buNone/>
            </a:pPr>
            <a:r>
              <a:rPr lang="en-US" sz="1300" dirty="0">
                <a:solidFill>
                  <a:srgbClr val="9FB3C8"/>
                </a:solidFill>
                <a:latin typeface="Calibri" pitchFamily="34" charset="0"/>
                <a:ea typeface="Calibri" pitchFamily="34" charset="-122"/>
                <a:cs typeface="Calibri" pitchFamily="34" charset="-120"/>
              </a:rPr>
              <a:t>Code: SQL Reference folder (files 40–49)   ·   Docs: 10–14   ·   Dashboard: V_CCAT_PHASE_DASHBOARD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2026-08-14T14:37:27Z</dcterms:created>
  <dcterms:modified xsi:type="dcterms:W3CDTF">2026-08-14T14:37:27Z</dcterms:modified>
</cp:coreProperties>
</file>